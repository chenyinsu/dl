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64" r:id="rId5"/>
    <p:sldId id="270" r:id="rId6"/>
    <p:sldId id="271" r:id="rId7"/>
    <p:sldId id="272" r:id="rId8"/>
    <p:sldId id="257" r:id="rId9"/>
    <p:sldId id="258" r:id="rId10"/>
    <p:sldId id="259" r:id="rId11"/>
    <p:sldId id="260" r:id="rId12"/>
    <p:sldId id="261" r:id="rId13"/>
    <p:sldId id="265" r:id="rId14"/>
    <p:sldId id="267" r:id="rId15"/>
    <p:sldId id="269"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2"/>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image" Target="../media/image1.png"/><Relationship Id="rId2" Type="http://schemas.openxmlformats.org/officeDocument/2006/relationships/tags" Target="../tags/tag6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image" Target="../media/image1.png"/><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image" Target="../media/image1.png"/><Relationship Id="rId2" Type="http://schemas.openxmlformats.org/officeDocument/2006/relationships/tags" Target="../tags/tag85.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image" Target="../media/image1.png"/><Relationship Id="rId2" Type="http://schemas.openxmlformats.org/officeDocument/2006/relationships/tags" Target="../tags/tag124.xml"/><Relationship Id="rId12" Type="http://schemas.openxmlformats.org/officeDocument/2006/relationships/tags" Target="../tags/tag133.xml"/><Relationship Id="rId11" Type="http://schemas.openxmlformats.org/officeDocument/2006/relationships/tags" Target="../tags/tag132.xml"/><Relationship Id="rId10" Type="http://schemas.openxmlformats.org/officeDocument/2006/relationships/tags" Target="../tags/tag13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13" name="矩形 12"/>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43" name="椭圆 42"/>
          <p:cNvSpPr/>
          <p:nvPr userDrawn="1">
            <p:custDataLst>
              <p:tags r:id="rId8"/>
            </p:custDataLst>
          </p:nvPr>
        </p:nvSpPr>
        <p:spPr>
          <a:xfrm rot="900000">
            <a:off x="5811677" y="952529"/>
            <a:ext cx="4952943" cy="4952943"/>
          </a:xfrm>
          <a:prstGeom prst="ellipse">
            <a:avLst/>
          </a:prstGeom>
          <a:gradFill flip="none" rotWithShape="1">
            <a:gsLst>
              <a:gs pos="34000">
                <a:schemeClr val="accent1">
                  <a:lumMod val="45000"/>
                  <a:lumOff val="55000"/>
                  <a:alpha val="0"/>
                </a:schemeClr>
              </a:gs>
              <a:gs pos="100000">
                <a:schemeClr val="accent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custDataLst>
              <p:tags r:id="rId9"/>
            </p:custDataLst>
          </p:nvPr>
        </p:nvSpPr>
        <p:spPr>
          <a:xfrm>
            <a:off x="1023853" y="3063673"/>
            <a:ext cx="10515600" cy="1800000"/>
          </a:xfrm>
        </p:spPr>
        <p:txBody>
          <a:bodyPr wrap="square" anchor="t">
            <a:normAutofit/>
          </a:bodyPr>
          <a:lstStyle>
            <a:lvl1pPr algn="l">
              <a:lnSpc>
                <a:spcPct val="100000"/>
              </a:lnSpc>
              <a:defRPr sz="5400" b="1">
                <a:solidFill>
                  <a:srgbClr val="3C3C3C"/>
                </a:solidFill>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custDataLst>
              <p:tags r:id="rId10"/>
            </p:custDataLst>
          </p:nvPr>
        </p:nvSpPr>
        <p:spPr>
          <a:xfrm>
            <a:off x="1023853" y="1513966"/>
            <a:ext cx="10515600" cy="1457452"/>
          </a:xfrm>
        </p:spPr>
        <p:txBody>
          <a:bodyPr wrap="square" anchor="b">
            <a:normAutofit/>
          </a:bodyPr>
          <a:lstStyle>
            <a:lvl1pPr marL="0" indent="0" algn="l">
              <a:lnSpc>
                <a:spcPct val="100000"/>
              </a:lnSpc>
              <a:buNone/>
              <a:defRPr sz="40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 name="公司名占位符 6"/>
          <p:cNvSpPr>
            <a:spLocks noGrp="1"/>
          </p:cNvSpPr>
          <p:nvPr>
            <p:ph type="body" sz="quarter" idx="13" hasCustomPrompt="1"/>
            <p:custDataLst>
              <p:tags r:id="rId11"/>
            </p:custDataLst>
          </p:nvPr>
        </p:nvSpPr>
        <p:spPr>
          <a:xfrm>
            <a:off x="1023618" y="504000"/>
            <a:ext cx="2880000" cy="504000"/>
          </a:xfrm>
        </p:spPr>
        <p:txBody>
          <a:bodyPr wrap="square" anchor="ctr">
            <a:normAutofit/>
          </a:bodyPr>
          <a:lstStyle>
            <a:lvl1pPr marL="0" indent="0">
              <a:lnSpc>
                <a:spcPct val="100000"/>
              </a:lnSpc>
              <a:buNone/>
              <a:defRPr sz="1800" b="1">
                <a:solidFill>
                  <a:schemeClr val="accent1"/>
                </a:solidFill>
              </a:defRPr>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2"/>
            </p:custDataLst>
          </p:nvPr>
        </p:nvSpPr>
        <p:spPr>
          <a:xfrm>
            <a:off x="1023853" y="4925628"/>
            <a:ext cx="2303547"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3" name="图片 2"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5" name="矩形 4"/>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6"/>
            </p:custDataLst>
          </p:nvPr>
        </p:nvSpPr>
        <p:spPr/>
        <p:txBody>
          <a:bodyPr/>
          <a:lstStyle/>
          <a:p>
            <a:endParaRPr lang="zh-CN" altLang="en-US"/>
          </a:p>
        </p:txBody>
      </p:sp>
      <p:sp>
        <p:nvSpPr>
          <p:cNvPr id="9" name="灯片编号占位符 5"/>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10" name="椭圆 9"/>
          <p:cNvSpPr/>
          <p:nvPr userDrawn="1">
            <p:custDataLst>
              <p:tags r:id="rId8"/>
            </p:custDataLst>
          </p:nvPr>
        </p:nvSpPr>
        <p:spPr>
          <a:xfrm>
            <a:off x="75048" y="1292920"/>
            <a:ext cx="4272161" cy="4272161"/>
          </a:xfrm>
          <a:prstGeom prst="ellipse">
            <a:avLst/>
          </a:prstGeom>
          <a:gradFill flip="none" rotWithShape="1">
            <a:gsLst>
              <a:gs pos="34000">
                <a:schemeClr val="accent1">
                  <a:lumMod val="45000"/>
                  <a:lumOff val="55000"/>
                  <a:alpha val="0"/>
                </a:schemeClr>
              </a:gs>
              <a:gs pos="100000">
                <a:schemeClr val="accent1"/>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9"/>
            </p:custDataLst>
          </p:nvPr>
        </p:nvSpPr>
        <p:spPr>
          <a:xfrm>
            <a:off x="1467485" y="2386012"/>
            <a:ext cx="2880000" cy="1081088"/>
          </a:xfrm>
        </p:spPr>
        <p:txBody>
          <a:bodyPr wrap="square" anchor="b">
            <a:normAutofit/>
          </a:bodyPr>
          <a:lstStyle>
            <a:lvl1pPr>
              <a:defRPr sz="6000">
                <a:solidFill>
                  <a:srgbClr val="3C3C3C"/>
                </a:solidFill>
              </a:defRPr>
            </a:lvl1pPr>
          </a:lstStyle>
          <a:p>
            <a:r>
              <a:rPr lang="zh-CN" altLang="en-US" dirty="0"/>
              <a:t>标题</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a:off x="0" y="0"/>
            <a:ext cx="12192000" cy="6858000"/>
          </a:xfrm>
          <a:prstGeom prst="rect">
            <a:avLst/>
          </a:prstGeom>
        </p:spPr>
      </p:pic>
      <p:sp>
        <p:nvSpPr>
          <p:cNvPr id="11" name="矩形 10"/>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6"/>
            </p:custDataLst>
          </p:nvPr>
        </p:nvSpPr>
        <p:spPr/>
        <p:txBody>
          <a:bodyPr/>
          <a:lstStyle/>
          <a:p>
            <a:endParaRPr lang="zh-CN" altLang="en-US"/>
          </a:p>
        </p:txBody>
      </p:sp>
      <p:sp>
        <p:nvSpPr>
          <p:cNvPr id="6"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
        <p:nvSpPr>
          <p:cNvPr id="9" name="椭圆 8"/>
          <p:cNvSpPr/>
          <p:nvPr userDrawn="1">
            <p:custDataLst>
              <p:tags r:id="rId8"/>
            </p:custDataLst>
          </p:nvPr>
        </p:nvSpPr>
        <p:spPr>
          <a:xfrm>
            <a:off x="6411944" y="931202"/>
            <a:ext cx="4399471" cy="4399471"/>
          </a:xfrm>
          <a:prstGeom prst="ellipse">
            <a:avLst/>
          </a:prstGeom>
          <a:gradFill flip="none" rotWithShape="1">
            <a:gsLst>
              <a:gs pos="34000">
                <a:schemeClr val="accent1">
                  <a:lumMod val="45000"/>
                  <a:lumOff val="55000"/>
                  <a:alpha val="0"/>
                </a:schemeClr>
              </a:gs>
              <a:gs pos="100000">
                <a:schemeClr val="accent1"/>
              </a:gs>
            </a:gsLst>
            <a:lin ang="19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9"/>
            </p:custDataLst>
          </p:nvPr>
        </p:nvSpPr>
        <p:spPr>
          <a:xfrm>
            <a:off x="4300792" y="3016638"/>
            <a:ext cx="6252908" cy="2513584"/>
          </a:xfrm>
        </p:spPr>
        <p:txBody>
          <a:bodyPr wrap="square" anchor="t">
            <a:normAutofit/>
          </a:bodyPr>
          <a:lstStyle>
            <a:lvl1pPr algn="l">
              <a:defRPr sz="6000">
                <a:solidFill>
                  <a:srgbClr val="3C3C3C"/>
                </a:solidFill>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10"/>
            </p:custDataLst>
          </p:nvPr>
        </p:nvSpPr>
        <p:spPr>
          <a:xfrm>
            <a:off x="4300855" y="1257935"/>
            <a:ext cx="6252845" cy="1671320"/>
          </a:xfrm>
        </p:spPr>
        <p:txBody>
          <a:bodyPr wrap="square" anchor="b">
            <a:normAutofit/>
          </a:bodyPr>
          <a:lstStyle>
            <a:lvl1pPr marL="0" indent="0" algn="l">
              <a:buNone/>
              <a:defRPr sz="2400" b="1">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8" name="节编号 3"/>
          <p:cNvSpPr>
            <a:spLocks noGrp="1"/>
          </p:cNvSpPr>
          <p:nvPr>
            <p:ph type="body" sz="quarter" idx="13" hasCustomPrompt="1"/>
            <p:custDataLst>
              <p:tags r:id="rId11"/>
            </p:custDataLst>
          </p:nvPr>
        </p:nvSpPr>
        <p:spPr>
          <a:xfrm>
            <a:off x="1149382" y="1866277"/>
            <a:ext cx="3043199" cy="2587225"/>
          </a:xfrm>
        </p:spPr>
        <p:txBody>
          <a:bodyPr wrap="none" anchor="ctr">
            <a:normAutofit/>
          </a:bodyPr>
          <a:lstStyle>
            <a:lvl1pPr marL="0" indent="0" algn="r">
              <a:buNone/>
              <a:defRPr sz="11500" b="1">
                <a:solidFill>
                  <a:schemeClr val="accent1"/>
                </a:solidFill>
                <a:latin typeface="+mn-ea"/>
                <a:ea typeface="+mn-ea"/>
              </a:defRPr>
            </a:lvl1pPr>
          </a:lstStyle>
          <a:p>
            <a:pPr lvl="0"/>
            <a:r>
              <a:rPr lang="zh-CN" altLang="en-US" dirty="0"/>
              <a:t>编号</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custDataLst>
              <p:tags r:id="rId2"/>
            </p:custDataLst>
          </p:nvPr>
        </p:nvPicPr>
        <p:blipFill>
          <a:blip r:embed="rId3"/>
          <a:stretch>
            <a:fillRect/>
          </a:stretch>
        </p:blipFill>
        <p:spPr>
          <a:xfrm flipH="1">
            <a:off x="0" y="0"/>
            <a:ext cx="12192000" cy="6858000"/>
          </a:xfrm>
          <a:prstGeom prst="rect">
            <a:avLst/>
          </a:prstGeom>
        </p:spPr>
      </p:pic>
      <p:sp>
        <p:nvSpPr>
          <p:cNvPr id="11" name="矩形 10"/>
          <p:cNvSpPr/>
          <p:nvPr userDrawn="1">
            <p:custDataLst>
              <p:tags r:id="rId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8" name="椭圆 7"/>
          <p:cNvSpPr/>
          <p:nvPr userDrawn="1">
            <p:custDataLst>
              <p:tags r:id="rId8"/>
            </p:custDataLst>
          </p:nvPr>
        </p:nvSpPr>
        <p:spPr>
          <a:xfrm flipH="1">
            <a:off x="1427380" y="952529"/>
            <a:ext cx="4952943" cy="4952943"/>
          </a:xfrm>
          <a:prstGeom prst="ellipse">
            <a:avLst/>
          </a:prstGeom>
          <a:gradFill flip="none" rotWithShape="1">
            <a:gsLst>
              <a:gs pos="30000">
                <a:schemeClr val="accent1">
                  <a:lumMod val="45000"/>
                  <a:lumOff val="55000"/>
                  <a:alpha val="0"/>
                </a:schemeClr>
              </a:gs>
              <a:gs pos="100000">
                <a:schemeClr val="accent1"/>
              </a:gs>
            </a:gsLst>
            <a:lin ang="19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9"/>
            </p:custDataLst>
          </p:nvPr>
        </p:nvSpPr>
        <p:spPr>
          <a:xfrm>
            <a:off x="2133601" y="2849163"/>
            <a:ext cx="9126462" cy="1800000"/>
          </a:xfrm>
        </p:spPr>
        <p:txBody>
          <a:bodyPr wrap="square" anchor="t">
            <a:normAutofit/>
          </a:bodyPr>
          <a:lstStyle>
            <a:lvl1pPr algn="r">
              <a:lnSpc>
                <a:spcPct val="100000"/>
              </a:lnSpc>
              <a:defRPr sz="6600">
                <a:solidFill>
                  <a:srgbClr val="3C3C3C"/>
                </a:solidFill>
              </a:defRPr>
            </a:lvl1pPr>
          </a:lstStyle>
          <a:p>
            <a:r>
              <a:rPr lang="zh-CN" altLang="en-US" dirty="0"/>
              <a:t>单击编辑母版标题</a:t>
            </a:r>
            <a:endParaRPr lang="zh-CN" altLang="en-US" dirty="0"/>
          </a:p>
        </p:txBody>
      </p:sp>
      <p:sp>
        <p:nvSpPr>
          <p:cNvPr id="3" name="副标题 2"/>
          <p:cNvSpPr>
            <a:spLocks noGrp="1"/>
          </p:cNvSpPr>
          <p:nvPr>
            <p:ph type="subTitle" idx="1" hasCustomPrompt="1"/>
            <p:custDataLst>
              <p:tags r:id="rId10"/>
            </p:custDataLst>
          </p:nvPr>
        </p:nvSpPr>
        <p:spPr>
          <a:xfrm>
            <a:off x="2133600" y="1400810"/>
            <a:ext cx="9126220" cy="1368425"/>
          </a:xfrm>
        </p:spPr>
        <p:txBody>
          <a:bodyPr wrap="square" anchor="b">
            <a:normAutofit/>
          </a:bodyPr>
          <a:lstStyle>
            <a:lvl1pPr marL="0" indent="0" algn="r">
              <a:lnSpc>
                <a:spcPct val="100000"/>
              </a:lnSpc>
              <a:buNone/>
              <a:defRPr sz="44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 name="公司名占位符 6"/>
          <p:cNvSpPr>
            <a:spLocks noGrp="1"/>
          </p:cNvSpPr>
          <p:nvPr>
            <p:ph type="body" sz="quarter" idx="13" hasCustomPrompt="1"/>
            <p:custDataLst>
              <p:tags r:id="rId11"/>
            </p:custDataLst>
          </p:nvPr>
        </p:nvSpPr>
        <p:spPr>
          <a:xfrm>
            <a:off x="8380490" y="558000"/>
            <a:ext cx="2880000" cy="504000"/>
          </a:xfrm>
        </p:spPr>
        <p:txBody>
          <a:bodyPr wrap="square" anchor="ctr">
            <a:normAutofit/>
          </a:bodyPr>
          <a:lstStyle>
            <a:lvl1pPr marL="0" indent="0" algn="r">
              <a:lnSpc>
                <a:spcPct val="100000"/>
              </a:lnSpc>
              <a:buNone/>
              <a:defRPr sz="1800" b="1">
                <a:solidFill>
                  <a:schemeClr val="accent1"/>
                </a:solidFill>
              </a:defRPr>
            </a:lvl1pPr>
          </a:lstStyle>
          <a:p>
            <a:pPr lvl="0"/>
            <a:r>
              <a:rPr lang="zh-CN" altLang="en-US" dirty="0"/>
              <a:t>公司名</a:t>
            </a:r>
            <a:endParaRPr lang="zh-CN" altLang="en-US" dirty="0"/>
          </a:p>
        </p:txBody>
      </p:sp>
      <p:sp>
        <p:nvSpPr>
          <p:cNvPr id="24" name="署名占位符 10"/>
          <p:cNvSpPr>
            <a:spLocks noGrp="1"/>
          </p:cNvSpPr>
          <p:nvPr>
            <p:ph type="body" sz="quarter" idx="17" hasCustomPrompt="1"/>
            <p:custDataLst>
              <p:tags r:id="rId12"/>
            </p:custDataLst>
          </p:nvPr>
        </p:nvSpPr>
        <p:spPr>
          <a:xfrm>
            <a:off x="8956063" y="4849527"/>
            <a:ext cx="2304000" cy="504000"/>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00" b="1">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141.xml"/><Relationship Id="rId2" Type="http://schemas.openxmlformats.org/officeDocument/2006/relationships/slideLayout" Target="../slideLayouts/slideLayout13.xml"/><Relationship Id="rId19" Type="http://schemas.openxmlformats.org/officeDocument/2006/relationships/tags" Target="../tags/tag140.xml"/><Relationship Id="rId18" Type="http://schemas.openxmlformats.org/officeDocument/2006/relationships/tags" Target="../tags/tag139.xml"/><Relationship Id="rId17" Type="http://schemas.openxmlformats.org/officeDocument/2006/relationships/tags" Target="../tags/tag138.xml"/><Relationship Id="rId16" Type="http://schemas.openxmlformats.org/officeDocument/2006/relationships/tags" Target="../tags/tag137.xml"/><Relationship Id="rId15" Type="http://schemas.openxmlformats.org/officeDocument/2006/relationships/tags" Target="../tags/tag136.xml"/><Relationship Id="rId14" Type="http://schemas.openxmlformats.org/officeDocument/2006/relationships/tags" Target="../tags/tag135.xml"/><Relationship Id="rId13" Type="http://schemas.openxmlformats.org/officeDocument/2006/relationships/image" Target="../media/image1.png"/><Relationship Id="rId12" Type="http://schemas.openxmlformats.org/officeDocument/2006/relationships/tags" Target="../tags/tag134.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图片 7" descr="背景图案&#10;&#10;描述已自动生成"/>
          <p:cNvPicPr>
            <a:picLocks noChangeAspect="1"/>
          </p:cNvPicPr>
          <p:nvPr userDrawn="1">
            <p:custDataLst>
              <p:tags r:id="rId12"/>
            </p:custDataLst>
          </p:nvPr>
        </p:nvPicPr>
        <p:blipFill>
          <a:blip r:embed="rId13"/>
          <a:stretch>
            <a:fillRect/>
          </a:stretch>
        </p:blipFill>
        <p:spPr>
          <a:xfrm>
            <a:off x="0" y="0"/>
            <a:ext cx="12192000" cy="6858000"/>
          </a:xfrm>
          <a:prstGeom prst="rect">
            <a:avLst/>
          </a:prstGeom>
        </p:spPr>
      </p:pic>
      <p:sp>
        <p:nvSpPr>
          <p:cNvPr id="9" name="矩形 8"/>
          <p:cNvSpPr/>
          <p:nvPr userDrawn="1">
            <p:custDataLst>
              <p:tags r:id="rId14"/>
            </p:custDataLst>
          </p:nvPr>
        </p:nvSpPr>
        <p:spPr>
          <a:xfrm>
            <a:off x="0" y="0"/>
            <a:ext cx="12192000" cy="6858000"/>
          </a:xfrm>
          <a:prstGeom prst="rect">
            <a:avLst/>
          </a:prstGeom>
          <a:solidFill>
            <a:srgbClr val="FFFFFF">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10"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rgbClr val="3C3C3C"/>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rgbClr val="3C3C3C"/>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rgbClr val="3C3C3C"/>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rgbClr val="3C3C3C"/>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rgbClr val="3C3C3C"/>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rgbClr val="3C3C3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148.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tags" Target="../tags/tag147.xml"/><Relationship Id="rId1" Type="http://schemas.openxmlformats.org/officeDocument/2006/relationships/tags" Target="../tags/tag14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50.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14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5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15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tags" Target="../tags/tag154.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153.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56.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155.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58.xml"/><Relationship Id="rId2" Type="http://schemas.openxmlformats.org/officeDocument/2006/relationships/image" Target="../media/image13.png"/><Relationship Id="rId1" Type="http://schemas.openxmlformats.org/officeDocument/2006/relationships/tags" Target="../tags/tag15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0.xml"/><Relationship Id="rId1" Type="http://schemas.openxmlformats.org/officeDocument/2006/relationships/tags" Target="../tags/tag15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2.xml"/><Relationship Id="rId1" Type="http://schemas.openxmlformats.org/officeDocument/2006/relationships/tags" Target="../tags/tag16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4.xml"/><Relationship Id="rId1" Type="http://schemas.openxmlformats.org/officeDocument/2006/relationships/tags" Target="../tags/tag16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6.xml"/><Relationship Id="rId1" Type="http://schemas.openxmlformats.org/officeDocument/2006/relationships/tags" Target="../tags/tag165.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68.xml"/><Relationship Id="rId1" Type="http://schemas.openxmlformats.org/officeDocument/2006/relationships/tags" Target="../tags/tag16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70.xml"/><Relationship Id="rId1" Type="http://schemas.openxmlformats.org/officeDocument/2006/relationships/tags" Target="../tags/tag1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p:cNvSpPr>
            <a:spLocks noGrp="1"/>
          </p:cNvSpPr>
          <p:nvPr>
            <p:ph type="ctrTitle"/>
            <p:custDataLst>
              <p:tags r:id="rId1"/>
            </p:custDataLst>
          </p:nvPr>
        </p:nvSpPr>
        <p:spPr/>
        <p:txBody>
          <a:bodyPr/>
          <a:p>
            <a:r>
              <a:rPr lang="en-US" altLang="zh-CN"/>
              <a:t>20251020</a:t>
            </a:r>
            <a:r>
              <a:rPr lang="zh-CN" altLang="en-US"/>
              <a:t>汇报</a:t>
            </a:r>
            <a:endParaRPr lang="zh-CN" altLang="en-US"/>
          </a:p>
        </p:txBody>
      </p:sp>
      <p:sp>
        <p:nvSpPr>
          <p:cNvPr id="7" name="副标题"/>
          <p:cNvSpPr>
            <a:spLocks noGrp="1"/>
          </p:cNvSpPr>
          <p:nvPr>
            <p:ph type="subTitle" idx="1"/>
            <p:custDataLst>
              <p:tags r:id="rId2"/>
            </p:custDataLst>
          </p:nvPr>
        </p:nvSpPr>
        <p:spPr/>
        <p:txBody>
          <a:bodyPr/>
          <a:p>
            <a:r>
              <a:rPr lang="zh-CN" altLang="en-US"/>
              <a:t>深度学习</a:t>
            </a:r>
            <a:r>
              <a:rPr lang="en-US" altLang="zh-CN"/>
              <a:t>-ISP</a:t>
            </a:r>
            <a:r>
              <a:rPr lang="zh-CN" altLang="en-US"/>
              <a:t>论文</a:t>
            </a:r>
            <a:r>
              <a:rPr lang="zh-CN" altLang="en-US"/>
              <a:t>阅读</a:t>
            </a:r>
            <a:endParaRPr lang="zh-CN" altLang="en-US"/>
          </a:p>
        </p:txBody>
      </p:sp>
      <p:sp>
        <p:nvSpPr>
          <p:cNvPr id="10" name="署名"/>
          <p:cNvSpPr>
            <a:spLocks noGrp="1"/>
          </p:cNvSpPr>
          <p:nvPr>
            <p:custDataLst>
              <p:tags r:id="rId3"/>
            </p:custDataLst>
          </p:nvPr>
        </p:nvSpPr>
        <p:spPr>
          <a:xfrm>
            <a:off x="1023853" y="4925628"/>
            <a:ext cx="2303547" cy="504000"/>
          </a:xfrm>
          <a:prstGeom prst="roundRect">
            <a:avLst>
              <a:gd name="adj" fmla="val 50000"/>
            </a:avLst>
          </a:prstGeom>
          <a:solidFill>
            <a:schemeClr val="accent1"/>
          </a:solidFill>
        </p:spPr>
        <p:txBody>
          <a:bodyPr vert="horz" wrap="square" lIns="0" tIns="0" rIns="0" bIns="0" rtlCol="0" anchor="ctr">
            <a:normAutofit/>
          </a:bodyPr>
          <a:lstStyle>
            <a:lvl1pPr marL="0" indent="0" algn="ctr" defTabSz="914400" rtl="0" eaLnBrk="1" latinLnBrk="0" hangingPunct="1">
              <a:lnSpc>
                <a:spcPct val="100000"/>
              </a:lnSpc>
              <a:spcBef>
                <a:spcPts val="1000"/>
              </a:spcBef>
              <a:buFont typeface="Arial" panose="020B0604020202020204" pitchFamily="34" charset="0"/>
              <a:buNone/>
              <a:defRPr sz="1800" b="1" kern="1200">
                <a:solidFill>
                  <a:srgbClr val="FFFFF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rgbClr val="3C3C3C"/>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rgbClr val="3C3C3C"/>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rgbClr val="3C3C3C"/>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rgbClr val="3C3C3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tx1"/>
                </a:solidFill>
              </a:rPr>
              <a:t>汇报人：</a:t>
            </a:r>
            <a:r>
              <a:rPr lang="zh-CN" altLang="en-US">
                <a:solidFill>
                  <a:schemeClr val="tx1"/>
                </a:solidFill>
              </a:rPr>
              <a:t>陈银素</a:t>
            </a:r>
            <a:endParaRPr lang="zh-CN" altLang="en-US">
              <a:solidFill>
                <a:schemeClr val="tx1"/>
              </a:solidFill>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完成</a:t>
            </a:r>
            <a:r>
              <a:rPr lang="zh-CN" altLang="en-US"/>
              <a:t>任务</a:t>
            </a:r>
            <a:endParaRPr lang="zh-CN" altLang="en-US"/>
          </a:p>
        </p:txBody>
      </p:sp>
      <p:sp>
        <p:nvSpPr>
          <p:cNvPr id="3" name="内容占位符 2"/>
          <p:cNvSpPr>
            <a:spLocks noGrp="1"/>
          </p:cNvSpPr>
          <p:nvPr>
            <p:ph idx="1"/>
            <p:custDataLst>
              <p:tags r:id="rId2"/>
            </p:custDataLst>
          </p:nvPr>
        </p:nvSpPr>
        <p:spPr>
          <a:xfrm>
            <a:off x="695960" y="1169669"/>
            <a:ext cx="10800000" cy="4873625"/>
          </a:xfrm>
        </p:spPr>
        <p:txBody>
          <a:bodyPr/>
          <a:p>
            <a:r>
              <a:rPr lang="zh-CN" altLang="en-US"/>
              <a:t>泛读</a:t>
            </a:r>
            <a:r>
              <a:rPr lang="zh-CN" altLang="en-US"/>
              <a:t>论文：</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阅读</a:t>
            </a:r>
            <a:r>
              <a:rPr lang="en-US" altLang="zh-CN"/>
              <a:t>+</a:t>
            </a:r>
            <a:r>
              <a:rPr lang="zh-CN" altLang="en-US"/>
              <a:t>梳理</a:t>
            </a:r>
            <a:r>
              <a:rPr lang="en-US" altLang="zh-CN"/>
              <a:t>T</a:t>
            </a:r>
            <a:r>
              <a:rPr lang="en-US" altLang="zh-CN"/>
              <a:t>utorial</a:t>
            </a:r>
            <a:r>
              <a:rPr lang="zh-CN" altLang="en-US"/>
              <a:t>内容</a:t>
            </a:r>
            <a:endParaRPr lang="zh-CN" altLang="en-US"/>
          </a:p>
        </p:txBody>
      </p:sp>
      <p:pic>
        <p:nvPicPr>
          <p:cNvPr id="5" name="图片 4"/>
          <p:cNvPicPr>
            <a:picLocks noChangeAspect="1"/>
          </p:cNvPicPr>
          <p:nvPr/>
        </p:nvPicPr>
        <p:blipFill>
          <a:blip r:embed="rId3"/>
          <a:stretch>
            <a:fillRect/>
          </a:stretch>
        </p:blipFill>
        <p:spPr>
          <a:xfrm>
            <a:off x="887730" y="1851025"/>
            <a:ext cx="5531485" cy="2064385"/>
          </a:xfrm>
          <a:prstGeom prst="rect">
            <a:avLst/>
          </a:prstGeom>
        </p:spPr>
      </p:pic>
      <p:pic>
        <p:nvPicPr>
          <p:cNvPr id="4" name="图片 3"/>
          <p:cNvPicPr>
            <a:picLocks noChangeAspect="1"/>
          </p:cNvPicPr>
          <p:nvPr/>
        </p:nvPicPr>
        <p:blipFill>
          <a:blip r:embed="rId4"/>
          <a:stretch>
            <a:fillRect/>
          </a:stretch>
        </p:blipFill>
        <p:spPr>
          <a:xfrm>
            <a:off x="5644515" y="2629535"/>
            <a:ext cx="5975350" cy="3524250"/>
          </a:xfrm>
          <a:prstGeom prst="rect">
            <a:avLst/>
          </a:prstGeom>
        </p:spPr>
      </p:pic>
    </p:spTree>
    <p:custDataLst>
      <p:tags r:id="rId5"/>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a:t>Tutorial</a:t>
            </a:r>
            <a:r>
              <a:rPr lang="zh-CN" altLang="en-US"/>
              <a:t>：探讨在消费级相机上常见的处理步骤</a:t>
            </a:r>
            <a:endParaRPr lang="zh-CN" altLang="en-US"/>
          </a:p>
        </p:txBody>
      </p:sp>
      <p:sp>
        <p:nvSpPr>
          <p:cNvPr id="3" name="文本框 2"/>
          <p:cNvSpPr txBox="1"/>
          <p:nvPr/>
        </p:nvSpPr>
        <p:spPr>
          <a:xfrm>
            <a:off x="695960" y="1138555"/>
            <a:ext cx="3997960" cy="2656205"/>
          </a:xfrm>
          <a:prstGeom prst="rect">
            <a:avLst/>
          </a:prstGeom>
          <a:noFill/>
        </p:spPr>
        <p:txBody>
          <a:bodyPr wrap="square" rtlCol="0">
            <a:noAutofit/>
          </a:bodyPr>
          <a:p>
            <a:r>
              <a:rPr lang="zh-CN" altLang="en-US" sz="2400"/>
              <a:t>图像处理的主要工作：</a:t>
            </a:r>
            <a:endParaRPr lang="en-US" altLang="zh-CN" sz="2400"/>
          </a:p>
          <a:p>
            <a:r>
              <a:rPr lang="en-US" altLang="zh-CN" sz="2400"/>
              <a:t>• </a:t>
            </a:r>
            <a:r>
              <a:rPr lang="zh-CN" altLang="en-US" sz="2400"/>
              <a:t>从阴影中获取形状</a:t>
            </a:r>
            <a:endParaRPr lang="zh-CN" altLang="en-US" sz="2400"/>
          </a:p>
          <a:p>
            <a:r>
              <a:rPr lang="en-US" altLang="zh-CN" sz="2400"/>
              <a:t>• </a:t>
            </a:r>
            <a:r>
              <a:rPr lang="zh-CN" altLang="en-US" sz="2400"/>
              <a:t>高动态范围成像</a:t>
            </a:r>
            <a:endParaRPr lang="zh-CN" altLang="en-US" sz="2400"/>
          </a:p>
          <a:p>
            <a:r>
              <a:rPr lang="en-US" altLang="zh-CN" sz="2400"/>
              <a:t>• </a:t>
            </a:r>
            <a:r>
              <a:rPr lang="zh-CN" altLang="en-US" sz="2400"/>
              <a:t>图像匹配</a:t>
            </a:r>
            <a:endParaRPr lang="zh-CN" altLang="en-US" sz="2400"/>
          </a:p>
          <a:p>
            <a:r>
              <a:rPr lang="en-US" altLang="zh-CN" sz="2400"/>
              <a:t>• </a:t>
            </a:r>
            <a:r>
              <a:rPr lang="zh-CN" altLang="en-US" sz="2400"/>
              <a:t>颜色恒常性</a:t>
            </a:r>
            <a:endParaRPr lang="zh-CN" altLang="en-US" sz="2400"/>
          </a:p>
          <a:p>
            <a:r>
              <a:rPr lang="en-US" altLang="zh-CN" sz="2400"/>
              <a:t>• </a:t>
            </a:r>
            <a:r>
              <a:rPr lang="zh-CN" altLang="en-US" sz="2400"/>
              <a:t>依赖颜色的应用</a:t>
            </a:r>
            <a:endParaRPr lang="zh-CN" altLang="en-US" sz="2400"/>
          </a:p>
          <a:p>
            <a:r>
              <a:rPr lang="en-US" altLang="zh-CN" sz="2400"/>
              <a:t>• </a:t>
            </a:r>
            <a:r>
              <a:rPr lang="zh-CN" altLang="en-US" sz="2400"/>
              <a:t>图像去噪</a:t>
            </a:r>
            <a:endParaRPr lang="zh-CN" altLang="en-US" sz="2400"/>
          </a:p>
        </p:txBody>
      </p:sp>
      <p:sp>
        <p:nvSpPr>
          <p:cNvPr id="4" name="文本框 3"/>
          <p:cNvSpPr txBox="1"/>
          <p:nvPr/>
        </p:nvSpPr>
        <p:spPr>
          <a:xfrm>
            <a:off x="455930" y="3794760"/>
            <a:ext cx="5055870" cy="645160"/>
          </a:xfrm>
          <a:prstGeom prst="rect">
            <a:avLst/>
          </a:prstGeom>
          <a:noFill/>
        </p:spPr>
        <p:txBody>
          <a:bodyPr wrap="square" rtlCol="0" anchor="t">
            <a:spAutoFit/>
          </a:bodyPr>
          <a:p>
            <a:r>
              <a:rPr lang="en-US" altLang="zh-CN"/>
              <a:t>“</a:t>
            </a:r>
            <a:r>
              <a:rPr lang="zh-CN" altLang="en-US"/>
              <a:t>色彩</a:t>
            </a:r>
            <a:r>
              <a:rPr lang="en-US" altLang="zh-CN"/>
              <a:t>”</a:t>
            </a:r>
            <a:r>
              <a:rPr lang="zh-CN" altLang="en-US"/>
              <a:t>（名词）：指物体所具有的能够因自身反射或发射光线的方式而引起眼睛不同感受的特性。</a:t>
            </a:r>
            <a:endParaRPr lang="zh-CN" altLang="en-US"/>
          </a:p>
        </p:txBody>
      </p:sp>
      <p:sp>
        <p:nvSpPr>
          <p:cNvPr id="5" name="文本框 4"/>
          <p:cNvSpPr txBox="1"/>
          <p:nvPr/>
        </p:nvSpPr>
        <p:spPr>
          <a:xfrm>
            <a:off x="695960" y="4500880"/>
            <a:ext cx="1642110" cy="368300"/>
          </a:xfrm>
          <a:prstGeom prst="rect">
            <a:avLst/>
          </a:prstGeom>
          <a:noFill/>
        </p:spPr>
        <p:txBody>
          <a:bodyPr wrap="square" rtlCol="0" anchor="t">
            <a:spAutoFit/>
          </a:bodyPr>
          <a:p>
            <a:r>
              <a:rPr lang="zh-CN" altLang="en-US"/>
              <a:t>三刺激色理论</a:t>
            </a:r>
            <a:endParaRPr lang="zh-CN" altLang="en-US"/>
          </a:p>
        </p:txBody>
      </p:sp>
      <p:sp>
        <p:nvSpPr>
          <p:cNvPr id="6" name="文本框 5"/>
          <p:cNvSpPr txBox="1"/>
          <p:nvPr/>
        </p:nvSpPr>
        <p:spPr>
          <a:xfrm>
            <a:off x="6096000" y="1805940"/>
            <a:ext cx="6096000" cy="3817620"/>
          </a:xfrm>
          <a:prstGeom prst="rect">
            <a:avLst/>
          </a:prstGeom>
          <a:noFill/>
        </p:spPr>
        <p:txBody>
          <a:bodyPr wrap="square" rtlCol="0" anchor="t">
            <a:noAutofit/>
          </a:bodyPr>
          <a:p>
            <a:r>
              <a:rPr lang="zh-CN" altLang="en-US"/>
              <a:t>辐射测量与光度测量</a:t>
            </a:r>
            <a:endParaRPr lang="zh-CN" altLang="en-US"/>
          </a:p>
          <a:p>
            <a:r>
              <a:rPr lang="en-US" altLang="zh-CN"/>
              <a:t>• </a:t>
            </a:r>
            <a:r>
              <a:rPr lang="zh-CN" altLang="en-US"/>
              <a:t>辐射测量</a:t>
            </a:r>
            <a:endParaRPr lang="zh-CN" altLang="en-US"/>
          </a:p>
          <a:p>
            <a:r>
              <a:rPr lang="en-US" altLang="zh-CN"/>
              <a:t>• </a:t>
            </a:r>
            <a:r>
              <a:rPr lang="zh-CN" altLang="en-US"/>
              <a:t>对辐射能量的定量测量</a:t>
            </a:r>
            <a:endParaRPr lang="zh-CN" altLang="en-US"/>
          </a:p>
          <a:p>
            <a:r>
              <a:rPr lang="en-US" altLang="zh-CN"/>
              <a:t>• </a:t>
            </a:r>
            <a:r>
              <a:rPr lang="zh-CN" altLang="en-US"/>
              <a:t>常以光谱功率分布（</a:t>
            </a:r>
            <a:r>
              <a:rPr lang="en-US" altLang="zh-CN"/>
              <a:t>SPD</a:t>
            </a:r>
            <a:r>
              <a:rPr lang="zh-CN" altLang="en-US"/>
              <a:t>）的形式呈现</a:t>
            </a:r>
            <a:endParaRPr lang="zh-CN" altLang="en-US"/>
          </a:p>
          <a:p>
            <a:r>
              <a:rPr lang="en-US" altLang="zh-CN"/>
              <a:t>• </a:t>
            </a:r>
            <a:r>
              <a:rPr lang="zh-CN" altLang="en-US"/>
              <a:t>既测量来自光源的光线（辐射亮度），也测量照射在表面的光线（辐照度）</a:t>
            </a:r>
            <a:endParaRPr lang="zh-CN" altLang="en-US"/>
          </a:p>
          <a:p>
            <a:r>
              <a:rPr lang="en-US" altLang="zh-CN"/>
              <a:t>• </a:t>
            </a:r>
            <a:r>
              <a:rPr lang="zh-CN" altLang="en-US"/>
              <a:t>光度测量</a:t>
            </a:r>
            <a:r>
              <a:rPr lang="en-US" altLang="zh-CN"/>
              <a:t>/</a:t>
            </a:r>
            <a:r>
              <a:rPr lang="zh-CN" altLang="en-US"/>
              <a:t>色度测量</a:t>
            </a:r>
            <a:endParaRPr lang="zh-CN" altLang="en-US"/>
          </a:p>
          <a:p>
            <a:r>
              <a:rPr lang="en-US" altLang="zh-CN"/>
              <a:t>• </a:t>
            </a:r>
            <a:r>
              <a:rPr lang="zh-CN" altLang="en-US"/>
              <a:t>基于人类对辐射能量的感知灵敏度进行的定量测量光</a:t>
            </a:r>
            <a:endParaRPr lang="zh-CN" altLang="en-US"/>
          </a:p>
          <a:p>
            <a:r>
              <a:rPr lang="en-US" altLang="zh-CN"/>
              <a:t>• </a:t>
            </a:r>
            <a:r>
              <a:rPr lang="zh-CN" altLang="en-US"/>
              <a:t>从</a:t>
            </a:r>
            <a:r>
              <a:rPr lang="en-US" altLang="zh-CN"/>
              <a:t>“</a:t>
            </a:r>
            <a:r>
              <a:rPr lang="zh-CN" altLang="en-US"/>
              <a:t>亮度</a:t>
            </a:r>
            <a:r>
              <a:rPr lang="en-US" altLang="zh-CN"/>
              <a:t>”</a:t>
            </a:r>
            <a:r>
              <a:rPr lang="zh-CN" altLang="en-US"/>
              <a:t>（光度学）和颜色（色度学）的角度来理解</a:t>
            </a:r>
            <a:endParaRPr lang="zh-CN" altLang="en-US"/>
          </a:p>
          <a:p>
            <a:r>
              <a:rPr lang="zh-CN" altLang="en-US"/>
              <a:t>光适应亮度函数：可见光的波长</a:t>
            </a:r>
            <a:r>
              <a:rPr lang="zh-CN" altLang="en-US"/>
              <a:t>范围</a:t>
            </a:r>
            <a:endParaRPr lang="zh-CN" altLang="en-US"/>
          </a:p>
        </p:txBody>
      </p:sp>
      <p:pic>
        <p:nvPicPr>
          <p:cNvPr id="7" name="图片 6"/>
          <p:cNvPicPr>
            <a:picLocks noChangeAspect="1"/>
          </p:cNvPicPr>
          <p:nvPr/>
        </p:nvPicPr>
        <p:blipFill>
          <a:blip r:embed="rId2"/>
          <a:stretch>
            <a:fillRect/>
          </a:stretch>
        </p:blipFill>
        <p:spPr>
          <a:xfrm>
            <a:off x="551180" y="4869180"/>
            <a:ext cx="5039360" cy="1723390"/>
          </a:xfrm>
          <a:prstGeom prst="rect">
            <a:avLst/>
          </a:prstGeom>
        </p:spPr>
      </p:pic>
      <p:pic>
        <p:nvPicPr>
          <p:cNvPr id="8" name="图片 7"/>
          <p:cNvPicPr>
            <a:picLocks noChangeAspect="1"/>
          </p:cNvPicPr>
          <p:nvPr/>
        </p:nvPicPr>
        <p:blipFill>
          <a:blip r:embed="rId3"/>
          <a:stretch>
            <a:fillRect/>
          </a:stretch>
        </p:blipFill>
        <p:spPr>
          <a:xfrm>
            <a:off x="7251700" y="4767580"/>
            <a:ext cx="4700270" cy="1824990"/>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sym typeface="+mn-ea"/>
              </a:rPr>
              <a:t>Tutorial</a:t>
            </a:r>
            <a:r>
              <a:rPr lang="zh-CN" altLang="en-US">
                <a:sym typeface="+mn-ea"/>
              </a:rPr>
              <a:t>：</a:t>
            </a:r>
            <a:r>
              <a:rPr lang="en-US" altLang="zh-CN"/>
              <a:t>Overview of in-camera imaging pipeline</a:t>
            </a:r>
            <a:endParaRPr lang="en-US" altLang="zh-CN"/>
          </a:p>
        </p:txBody>
      </p:sp>
      <p:sp>
        <p:nvSpPr>
          <p:cNvPr id="3" name="文本框 2"/>
          <p:cNvSpPr txBox="1"/>
          <p:nvPr/>
        </p:nvSpPr>
        <p:spPr>
          <a:xfrm>
            <a:off x="695960" y="1362710"/>
            <a:ext cx="6096000" cy="645160"/>
          </a:xfrm>
          <a:prstGeom prst="rect">
            <a:avLst/>
          </a:prstGeom>
          <a:noFill/>
        </p:spPr>
        <p:txBody>
          <a:bodyPr wrap="square" rtlCol="0" anchor="t">
            <a:spAutoFit/>
          </a:bodyPr>
          <a:p>
            <a:r>
              <a:rPr lang="zh-CN" altLang="en-US"/>
              <a:t>图像处理管道：一种用于处理图像的自动化流程，通常包括图像采集、预处理、特征提取、分类等步骤。</a:t>
            </a:r>
            <a:endParaRPr lang="zh-CN" altLang="en-US"/>
          </a:p>
        </p:txBody>
      </p:sp>
      <p:sp>
        <p:nvSpPr>
          <p:cNvPr id="4" name="文本框 3"/>
          <p:cNvSpPr txBox="1"/>
          <p:nvPr/>
        </p:nvSpPr>
        <p:spPr>
          <a:xfrm>
            <a:off x="695960" y="2290445"/>
            <a:ext cx="6096000" cy="1198880"/>
          </a:xfrm>
          <a:prstGeom prst="rect">
            <a:avLst/>
          </a:prstGeom>
          <a:noFill/>
        </p:spPr>
        <p:txBody>
          <a:bodyPr wrap="square" rtlCol="0" anchor="t">
            <a:spAutoFit/>
          </a:bodyPr>
          <a:p>
            <a:r>
              <a:rPr lang="zh-CN" altLang="en-US"/>
              <a:t>像素的数字值取决于多个因素：</a:t>
            </a:r>
            <a:endParaRPr lang="zh-CN" altLang="en-US"/>
          </a:p>
          <a:p>
            <a:r>
              <a:rPr lang="en-US" altLang="zh-CN"/>
              <a:t>- </a:t>
            </a:r>
            <a:r>
              <a:rPr lang="zh-CN" altLang="en-US"/>
              <a:t>光照度（这取决于快门速度和曝光时间）</a:t>
            </a:r>
            <a:endParaRPr lang="zh-CN" altLang="en-US"/>
          </a:p>
          <a:p>
            <a:r>
              <a:rPr lang="en-US" altLang="zh-CN"/>
              <a:t>- </a:t>
            </a:r>
            <a:r>
              <a:rPr lang="zh-CN" altLang="en-US"/>
              <a:t>胶片增感系数（即相机上的感光度设置）</a:t>
            </a:r>
            <a:endParaRPr lang="zh-CN" altLang="en-US"/>
          </a:p>
          <a:p>
            <a:r>
              <a:rPr lang="en-US" altLang="zh-CN"/>
              <a:t>- </a:t>
            </a:r>
            <a:r>
              <a:rPr lang="zh-CN" altLang="en-US"/>
              <a:t>将信号数字化的相机硬件设备</a:t>
            </a:r>
            <a:endParaRPr lang="zh-CN" altLang="en-US"/>
          </a:p>
        </p:txBody>
      </p:sp>
      <p:sp>
        <p:nvSpPr>
          <p:cNvPr id="5" name="文本框 4"/>
          <p:cNvSpPr txBox="1"/>
          <p:nvPr/>
        </p:nvSpPr>
        <p:spPr>
          <a:xfrm>
            <a:off x="335280" y="3708400"/>
            <a:ext cx="5452110" cy="2473960"/>
          </a:xfrm>
          <a:prstGeom prst="rect">
            <a:avLst/>
          </a:prstGeom>
          <a:noFill/>
        </p:spPr>
        <p:txBody>
          <a:bodyPr wrap="square" rtlCol="0" anchor="t">
            <a:noAutofit/>
          </a:bodyPr>
          <a:p>
            <a:r>
              <a:rPr lang="en-US" altLang="zh-CN"/>
              <a:t>CMOS </a:t>
            </a:r>
            <a:r>
              <a:rPr lang="zh-CN" altLang="en-US"/>
              <a:t>中的像素存在缺陷</a:t>
            </a:r>
            <a:endParaRPr lang="zh-CN" altLang="en-US"/>
          </a:p>
          <a:p>
            <a:r>
              <a:rPr lang="en-US" altLang="zh-CN"/>
              <a:t>• </a:t>
            </a:r>
            <a:r>
              <a:rPr lang="zh-CN" altLang="en-US"/>
              <a:t>死像素掩码在工厂时就已经进行了预校准</a:t>
            </a:r>
            <a:endParaRPr lang="zh-CN" altLang="en-US"/>
          </a:p>
          <a:p>
            <a:r>
              <a:rPr lang="en-US" altLang="zh-CN"/>
              <a:t>• </a:t>
            </a:r>
            <a:r>
              <a:rPr lang="zh-CN" altLang="en-US"/>
              <a:t>采用</a:t>
            </a:r>
            <a:r>
              <a:rPr lang="en-US" altLang="zh-CN"/>
              <a:t>“</a:t>
            </a:r>
            <a:r>
              <a:rPr lang="zh-CN" altLang="en-US"/>
              <a:t>暗电流</a:t>
            </a:r>
            <a:r>
              <a:rPr lang="en-US" altLang="zh-CN"/>
              <a:t>”</a:t>
            </a:r>
            <a:r>
              <a:rPr lang="zh-CN" altLang="en-US"/>
              <a:t>校准方法</a:t>
            </a:r>
            <a:endParaRPr lang="zh-CN" altLang="en-US"/>
          </a:p>
          <a:p>
            <a:r>
              <a:rPr lang="en-US" altLang="zh-CN"/>
              <a:t>• </a:t>
            </a:r>
            <a:r>
              <a:rPr lang="zh-CN" altLang="en-US"/>
              <a:t>无需光线即可拍摄图像</a:t>
            </a:r>
            <a:endParaRPr lang="zh-CN" altLang="en-US"/>
          </a:p>
          <a:p>
            <a:r>
              <a:rPr lang="en-US" altLang="zh-CN"/>
              <a:t>• </a:t>
            </a:r>
            <a:r>
              <a:rPr lang="zh-CN" altLang="en-US"/>
              <a:t>记录未曝光区域的数值以生成</a:t>
            </a:r>
            <a:r>
              <a:rPr lang="en-US" altLang="zh-CN"/>
              <a:t>“</a:t>
            </a:r>
            <a:r>
              <a:rPr lang="zh-CN" altLang="en-US"/>
              <a:t>掩码</a:t>
            </a:r>
            <a:r>
              <a:rPr lang="en-US" altLang="zh-CN"/>
              <a:t>”</a:t>
            </a:r>
            <a:endParaRPr lang="en-US" altLang="zh-CN"/>
          </a:p>
          <a:p>
            <a:r>
              <a:rPr lang="en-US" altLang="zh-CN"/>
              <a:t>• </a:t>
            </a:r>
            <a:r>
              <a:rPr lang="zh-CN" altLang="en-US"/>
              <a:t>掩码中的不良像素会进行插值处理</a:t>
            </a:r>
            <a:endParaRPr lang="zh-CN" altLang="en-US"/>
          </a:p>
        </p:txBody>
      </p:sp>
      <p:sp>
        <p:nvSpPr>
          <p:cNvPr id="6" name="文本框 5"/>
          <p:cNvSpPr txBox="1"/>
          <p:nvPr/>
        </p:nvSpPr>
        <p:spPr>
          <a:xfrm>
            <a:off x="139700" y="5537200"/>
            <a:ext cx="6096000" cy="645160"/>
          </a:xfrm>
          <a:prstGeom prst="rect">
            <a:avLst/>
          </a:prstGeom>
          <a:noFill/>
        </p:spPr>
        <p:txBody>
          <a:bodyPr wrap="square" rtlCol="0" anchor="t">
            <a:spAutoFit/>
          </a:bodyPr>
          <a:p>
            <a:r>
              <a:rPr lang="zh-CN" altLang="en-US"/>
              <a:t>平场校正：消除探测器像素间灵敏度变化和光路扭曲引起的图像伪影的技术。</a:t>
            </a:r>
            <a:endParaRPr lang="zh-CN" altLang="en-US"/>
          </a:p>
        </p:txBody>
      </p:sp>
      <p:sp>
        <p:nvSpPr>
          <p:cNvPr id="7" name="文本框 6"/>
          <p:cNvSpPr txBox="1"/>
          <p:nvPr/>
        </p:nvSpPr>
        <p:spPr>
          <a:xfrm>
            <a:off x="5788025" y="1883410"/>
            <a:ext cx="6096000" cy="1753235"/>
          </a:xfrm>
          <a:prstGeom prst="rect">
            <a:avLst/>
          </a:prstGeom>
          <a:noFill/>
        </p:spPr>
        <p:txBody>
          <a:bodyPr wrap="square" rtlCol="0" anchor="t">
            <a:spAutoFit/>
          </a:bodyPr>
          <a:p>
            <a:r>
              <a:rPr lang="en-US" altLang="zh-CN"/>
              <a:t>• </a:t>
            </a:r>
            <a:r>
              <a:rPr lang="zh-CN" altLang="en-US"/>
              <a:t>相机的图像处理系统使用的是更为复杂且专有的算法。</a:t>
            </a:r>
            <a:endParaRPr lang="zh-CN" altLang="en-US"/>
          </a:p>
          <a:p>
            <a:r>
              <a:rPr lang="en-US" altLang="zh-CN"/>
              <a:t>• </a:t>
            </a:r>
            <a:r>
              <a:rPr lang="zh-CN" altLang="en-US"/>
              <a:t>色彩取样重建（</a:t>
            </a:r>
            <a:r>
              <a:rPr lang="en-US" altLang="zh-CN"/>
              <a:t>demosaicing</a:t>
            </a:r>
            <a:r>
              <a:rPr lang="zh-CN" altLang="en-US"/>
              <a:t>）可以与额外的处理过程相结合。</a:t>
            </a:r>
            <a:endParaRPr lang="zh-CN" altLang="en-US"/>
          </a:p>
          <a:p>
            <a:r>
              <a:rPr lang="en-US" altLang="zh-CN"/>
              <a:t>• </a:t>
            </a:r>
            <a:r>
              <a:rPr lang="zh-CN" altLang="en-US"/>
              <a:t>高光剪切</a:t>
            </a:r>
            <a:endParaRPr lang="zh-CN" altLang="en-US"/>
          </a:p>
          <a:p>
            <a:r>
              <a:rPr lang="en-US" altLang="zh-CN"/>
              <a:t>• </a:t>
            </a:r>
            <a:r>
              <a:rPr lang="zh-CN" altLang="en-US"/>
              <a:t>锐化</a:t>
            </a:r>
            <a:endParaRPr lang="zh-CN" altLang="en-US"/>
          </a:p>
          <a:p>
            <a:r>
              <a:rPr lang="en-US" altLang="zh-CN"/>
              <a:t>• </a:t>
            </a:r>
            <a:r>
              <a:rPr lang="zh-CN" altLang="en-US"/>
              <a:t>噪声减少</a:t>
            </a:r>
            <a:endParaRPr lang="zh-CN" altLang="en-US"/>
          </a:p>
        </p:txBody>
      </p:sp>
      <p:pic>
        <p:nvPicPr>
          <p:cNvPr id="8" name="图片 7"/>
          <p:cNvPicPr>
            <a:picLocks noChangeAspect="1"/>
          </p:cNvPicPr>
          <p:nvPr/>
        </p:nvPicPr>
        <p:blipFill>
          <a:blip r:embed="rId2"/>
          <a:stretch>
            <a:fillRect/>
          </a:stretch>
        </p:blipFill>
        <p:spPr>
          <a:xfrm>
            <a:off x="7637780" y="2737485"/>
            <a:ext cx="3858260" cy="1828800"/>
          </a:xfrm>
          <a:prstGeom prst="rect">
            <a:avLst/>
          </a:prstGeom>
        </p:spPr>
      </p:pic>
      <p:sp>
        <p:nvSpPr>
          <p:cNvPr id="9" name="文本框 8"/>
          <p:cNvSpPr txBox="1"/>
          <p:nvPr/>
        </p:nvSpPr>
        <p:spPr>
          <a:xfrm>
            <a:off x="6327140" y="4699635"/>
            <a:ext cx="5864860" cy="360045"/>
          </a:xfrm>
          <a:prstGeom prst="rect">
            <a:avLst/>
          </a:prstGeom>
          <a:noFill/>
        </p:spPr>
        <p:txBody>
          <a:bodyPr wrap="square" rtlCol="0" anchor="t">
            <a:noAutofit/>
          </a:bodyPr>
          <a:p>
            <a:r>
              <a:rPr lang="en-US" altLang="zh-CN"/>
              <a:t>​​</a:t>
            </a:r>
            <a:r>
              <a:rPr lang="zh-CN" altLang="en-US"/>
              <a:t>白平衡（对角矩阵乘法）、色彩空间转换（全矩阵乘法）</a:t>
            </a:r>
            <a:endParaRPr lang="zh-CN" altLang="en-US"/>
          </a:p>
        </p:txBody>
      </p:sp>
      <p:pic>
        <p:nvPicPr>
          <p:cNvPr id="10" name="图片 9"/>
          <p:cNvPicPr>
            <a:picLocks noChangeAspect="1"/>
          </p:cNvPicPr>
          <p:nvPr/>
        </p:nvPicPr>
        <p:blipFill>
          <a:blip r:embed="rId3"/>
          <a:stretch>
            <a:fillRect/>
          </a:stretch>
        </p:blipFill>
        <p:spPr>
          <a:xfrm>
            <a:off x="9488805" y="5059680"/>
            <a:ext cx="2501265" cy="1656715"/>
          </a:xfrm>
          <a:prstGeom prst="rect">
            <a:avLst/>
          </a:prstGeom>
        </p:spPr>
      </p:pic>
      <p:sp>
        <p:nvSpPr>
          <p:cNvPr id="11" name="文本框 10"/>
          <p:cNvSpPr txBox="1"/>
          <p:nvPr/>
        </p:nvSpPr>
        <p:spPr>
          <a:xfrm>
            <a:off x="5210175" y="6028372"/>
            <a:ext cx="5080000" cy="829945"/>
          </a:xfrm>
          <a:prstGeom prst="rect">
            <a:avLst/>
          </a:prstGeom>
        </p:spPr>
        <p:txBody>
          <a:bodyPr>
            <a:spAutoFit/>
          </a:bodyPr>
          <a:p>
            <a:pPr marL="0" indent="0" algn="l"/>
            <a:r>
              <a:rPr lang="zh-CN" altLang="en-US" sz="1600" b="0" i="0">
                <a:latin typeface="-apple-system"/>
                <a:ea typeface="-apple-system"/>
              </a:rPr>
              <a:t>是一种</a:t>
            </a:r>
            <a:r>
              <a:rPr lang="en-US" altLang="zh-CN" sz="1600" b="0" i="0">
                <a:latin typeface="-apple-system"/>
                <a:ea typeface="-apple-system"/>
              </a:rPr>
              <a:t>​​</a:t>
            </a:r>
            <a:r>
              <a:rPr lang="zh-CN" altLang="en-US" sz="1600" b="0" i="0">
                <a:latin typeface="-apple-system"/>
                <a:ea typeface="-apple-system"/>
              </a:rPr>
              <a:t>经过相机内部处理器完全处理并压缩后的成品图像文件格式</a:t>
            </a:r>
            <a:r>
              <a:rPr lang="en-US" altLang="zh-CN" sz="1600" b="0" i="0">
                <a:latin typeface="-apple-system"/>
                <a:ea typeface="-apple-system"/>
              </a:rPr>
              <a:t>​​</a:t>
            </a:r>
            <a:r>
              <a:rPr lang="zh-CN" altLang="en-US" sz="1600" b="0" i="0">
                <a:latin typeface="-apple-system"/>
                <a:ea typeface="-apple-system"/>
              </a:rPr>
              <a:t>。它遵循国际标准，可以直接被绝大多数软件和设备查看、分享。</a:t>
            </a:r>
            <a:endParaRPr lang="zh-CN" altLang="en-US" sz="1600" b="0" i="0">
              <a:latin typeface="-apple-system"/>
              <a:ea typeface="-apple-system"/>
            </a:endParaRPr>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109855" y="285115"/>
            <a:ext cx="11884025" cy="946150"/>
          </a:xfrm>
        </p:spPr>
        <p:txBody>
          <a:bodyPr>
            <a:normAutofit fontScale="90000"/>
          </a:bodyPr>
          <a:p>
            <a:r>
              <a:rPr lang="en-US" altLang="zh-CN"/>
              <a:t>Mistakes  in the computer vision community regarding color</a:t>
            </a:r>
            <a:endParaRPr lang="en-US" altLang="zh-CN"/>
          </a:p>
        </p:txBody>
      </p:sp>
      <p:sp>
        <p:nvSpPr>
          <p:cNvPr id="4" name="文本框 3"/>
          <p:cNvSpPr txBox="1"/>
          <p:nvPr/>
        </p:nvSpPr>
        <p:spPr>
          <a:xfrm>
            <a:off x="179705" y="1387793"/>
            <a:ext cx="5080000" cy="337185"/>
          </a:xfrm>
          <a:prstGeom prst="rect">
            <a:avLst/>
          </a:prstGeom>
        </p:spPr>
        <p:txBody>
          <a:bodyPr>
            <a:spAutoFit/>
          </a:bodyPr>
          <a:p>
            <a:r>
              <a:rPr lang="en-US" altLang="zh-CN" sz="1600">
                <a:solidFill>
                  <a:srgbClr val="000000"/>
                </a:solidFill>
                <a:latin typeface="Gill Sans MT" panose="020B0502020104020203"/>
                <a:ea typeface="Gill Sans MT" panose="020B0502020104020203"/>
              </a:rPr>
              <a:t>sRGB images</a:t>
            </a:r>
            <a:endParaRPr lang="en-US" altLang="zh-CN" sz="1600">
              <a:solidFill>
                <a:srgbClr val="000000"/>
              </a:solidFill>
              <a:latin typeface="Gill Sans MT" panose="020B0502020104020203"/>
              <a:ea typeface="Gill Sans MT" panose="020B0502020104020203"/>
            </a:endParaRPr>
          </a:p>
        </p:txBody>
      </p:sp>
      <p:pic>
        <p:nvPicPr>
          <p:cNvPr id="5" name="图片 4"/>
          <p:cNvPicPr>
            <a:picLocks noChangeAspect="1"/>
          </p:cNvPicPr>
          <p:nvPr/>
        </p:nvPicPr>
        <p:blipFill>
          <a:blip r:embed="rId2"/>
          <a:stretch>
            <a:fillRect/>
          </a:stretch>
        </p:blipFill>
        <p:spPr>
          <a:xfrm>
            <a:off x="109855" y="1725295"/>
            <a:ext cx="6161405" cy="1326515"/>
          </a:xfrm>
          <a:prstGeom prst="rect">
            <a:avLst/>
          </a:prstGeom>
        </p:spPr>
      </p:pic>
      <p:sp>
        <p:nvSpPr>
          <p:cNvPr id="6" name="文本框 5"/>
          <p:cNvSpPr txBox="1"/>
          <p:nvPr/>
        </p:nvSpPr>
        <p:spPr>
          <a:xfrm>
            <a:off x="175260" y="3166110"/>
            <a:ext cx="6096000" cy="922020"/>
          </a:xfrm>
          <a:prstGeom prst="rect">
            <a:avLst/>
          </a:prstGeom>
          <a:noFill/>
        </p:spPr>
        <p:txBody>
          <a:bodyPr wrap="square" rtlCol="0" anchor="t">
            <a:spAutoFit/>
          </a:bodyPr>
          <a:p>
            <a:r>
              <a:rPr lang="zh-CN" altLang="en-US"/>
              <a:t>拍摄后白平衡校正</a:t>
            </a:r>
            <a:endParaRPr lang="zh-CN" altLang="en-US"/>
          </a:p>
          <a:p>
            <a:r>
              <a:rPr lang="en-US" altLang="zh-CN"/>
              <a:t>• </a:t>
            </a:r>
            <a:r>
              <a:rPr lang="zh-CN" altLang="en-US"/>
              <a:t>由于白平衡操作是在非线性照片处理之前进行的，</a:t>
            </a:r>
            <a:endParaRPr lang="zh-CN" altLang="en-US"/>
          </a:p>
          <a:p>
            <a:r>
              <a:rPr lang="zh-CN" altLang="en-US"/>
              <a:t>因此应用对角线式的白平衡校正是无效的。</a:t>
            </a:r>
            <a:endParaRPr lang="zh-CN" altLang="en-US"/>
          </a:p>
        </p:txBody>
      </p:sp>
      <p:sp>
        <p:nvSpPr>
          <p:cNvPr id="7" name="文本框 6"/>
          <p:cNvSpPr txBox="1"/>
          <p:nvPr/>
        </p:nvSpPr>
        <p:spPr>
          <a:xfrm>
            <a:off x="109855" y="5034280"/>
            <a:ext cx="6096000" cy="1753235"/>
          </a:xfrm>
          <a:prstGeom prst="rect">
            <a:avLst/>
          </a:prstGeom>
          <a:noFill/>
        </p:spPr>
        <p:txBody>
          <a:bodyPr wrap="square" rtlCol="0" anchor="t">
            <a:spAutoFit/>
          </a:bodyPr>
          <a:p>
            <a:r>
              <a:rPr lang="zh-CN" altLang="en-US"/>
              <a:t>前半部分（</a:t>
            </a:r>
            <a:r>
              <a:rPr lang="en-US" altLang="zh-CN"/>
              <a:t>1-4</a:t>
            </a:r>
            <a:r>
              <a:rPr lang="zh-CN" altLang="en-US"/>
              <a:t>）是</a:t>
            </a:r>
            <a:r>
              <a:rPr lang="en-US" altLang="zh-CN"/>
              <a:t>“</a:t>
            </a:r>
            <a:r>
              <a:rPr lang="zh-CN" altLang="en-US"/>
              <a:t>修复和翻译</a:t>
            </a:r>
            <a:r>
              <a:rPr lang="en-US" altLang="zh-CN"/>
              <a:t>”​​</a:t>
            </a:r>
            <a:r>
              <a:rPr lang="zh-CN" altLang="en-US"/>
              <a:t>：</a:t>
            </a:r>
            <a:r>
              <a:rPr lang="en-US" altLang="zh-CN"/>
              <a:t> </a:t>
            </a:r>
            <a:r>
              <a:rPr lang="zh-CN" altLang="en-US"/>
              <a:t>解决硬件（传感器、镜头）的固有缺陷，将原始数据</a:t>
            </a:r>
            <a:r>
              <a:rPr lang="en-US" altLang="zh-CN"/>
              <a:t>“</a:t>
            </a:r>
            <a:r>
              <a:rPr lang="zh-CN" altLang="en-US"/>
              <a:t>解码</a:t>
            </a:r>
            <a:r>
              <a:rPr lang="en-US" altLang="zh-CN"/>
              <a:t>”</a:t>
            </a:r>
            <a:r>
              <a:rPr lang="zh-CN" altLang="en-US"/>
              <a:t>成可用的图像。</a:t>
            </a:r>
            <a:endParaRPr lang="zh-CN" altLang="en-US"/>
          </a:p>
          <a:p>
            <a:r>
              <a:rPr lang="en-US" altLang="zh-CN"/>
              <a:t>​​</a:t>
            </a:r>
            <a:r>
              <a:rPr lang="zh-CN" altLang="en-US"/>
              <a:t>中间部分（</a:t>
            </a:r>
            <a:r>
              <a:rPr lang="en-US" altLang="zh-CN"/>
              <a:t>5-9</a:t>
            </a:r>
            <a:r>
              <a:rPr lang="zh-CN" altLang="en-US"/>
              <a:t>）是</a:t>
            </a:r>
            <a:r>
              <a:rPr lang="en-US" altLang="zh-CN"/>
              <a:t>“</a:t>
            </a:r>
            <a:r>
              <a:rPr lang="zh-CN" altLang="en-US"/>
              <a:t>美化和风格化</a:t>
            </a:r>
            <a:r>
              <a:rPr lang="en-US" altLang="zh-CN"/>
              <a:t>”​​</a:t>
            </a:r>
            <a:r>
              <a:rPr lang="zh-CN" altLang="en-US"/>
              <a:t>：</a:t>
            </a:r>
            <a:r>
              <a:rPr lang="en-US" altLang="zh-CN"/>
              <a:t> </a:t>
            </a:r>
            <a:r>
              <a:rPr lang="zh-CN" altLang="en-US"/>
              <a:t>提升图像质量（降噪）并调整色彩、影调，使其更悦目或更具艺术风格。</a:t>
            </a:r>
            <a:endParaRPr lang="zh-CN" altLang="en-US"/>
          </a:p>
          <a:p>
            <a:r>
              <a:rPr lang="en-US" altLang="zh-CN"/>
              <a:t>​​</a:t>
            </a:r>
            <a:r>
              <a:rPr lang="zh-CN" altLang="en-US"/>
              <a:t>最后部分（</a:t>
            </a:r>
            <a:r>
              <a:rPr lang="en-US" altLang="zh-CN"/>
              <a:t>10-12</a:t>
            </a:r>
            <a:r>
              <a:rPr lang="zh-CN" altLang="en-US"/>
              <a:t>）是</a:t>
            </a:r>
            <a:r>
              <a:rPr lang="en-US" altLang="zh-CN"/>
              <a:t>“</a:t>
            </a:r>
            <a:r>
              <a:rPr lang="zh-CN" altLang="en-US"/>
              <a:t>定稿和输出</a:t>
            </a:r>
            <a:r>
              <a:rPr lang="en-US" altLang="zh-CN"/>
              <a:t>”​​</a:t>
            </a:r>
            <a:r>
              <a:rPr lang="zh-CN" altLang="en-US"/>
              <a:t>：</a:t>
            </a:r>
            <a:r>
              <a:rPr lang="en-US" altLang="zh-CN"/>
              <a:t> </a:t>
            </a:r>
            <a:r>
              <a:rPr lang="zh-CN" altLang="en-US"/>
              <a:t>最终确定图像的对比度和色彩标准，并编码成通用的文件格式。</a:t>
            </a:r>
            <a:endParaRPr lang="zh-CN" altLang="en-US"/>
          </a:p>
        </p:txBody>
      </p:sp>
      <p:pic>
        <p:nvPicPr>
          <p:cNvPr id="8" name="图片 7"/>
          <p:cNvPicPr>
            <a:picLocks noChangeAspect="1"/>
          </p:cNvPicPr>
          <p:nvPr/>
        </p:nvPicPr>
        <p:blipFill>
          <a:blip r:embed="rId3"/>
          <a:stretch>
            <a:fillRect/>
          </a:stretch>
        </p:blipFill>
        <p:spPr>
          <a:xfrm>
            <a:off x="6630670" y="1231265"/>
            <a:ext cx="4813300" cy="2850515"/>
          </a:xfrm>
          <a:prstGeom prst="rect">
            <a:avLst/>
          </a:prstGeom>
        </p:spPr>
      </p:pic>
      <p:pic>
        <p:nvPicPr>
          <p:cNvPr id="9" name="图片 8"/>
          <p:cNvPicPr>
            <a:picLocks noChangeAspect="1"/>
          </p:cNvPicPr>
          <p:nvPr/>
        </p:nvPicPr>
        <p:blipFill>
          <a:blip r:embed="rId4"/>
          <a:stretch>
            <a:fillRect/>
          </a:stretch>
        </p:blipFill>
        <p:spPr>
          <a:xfrm>
            <a:off x="6956425" y="4163695"/>
            <a:ext cx="4161790" cy="1499235"/>
          </a:xfrm>
          <a:prstGeom prst="rect">
            <a:avLst/>
          </a:prstGeom>
        </p:spPr>
      </p:pic>
      <p:sp>
        <p:nvSpPr>
          <p:cNvPr id="10" name="文本框 9"/>
          <p:cNvSpPr txBox="1"/>
          <p:nvPr/>
        </p:nvSpPr>
        <p:spPr>
          <a:xfrm>
            <a:off x="6315075" y="5744845"/>
            <a:ext cx="5502910" cy="743585"/>
          </a:xfrm>
          <a:prstGeom prst="rect">
            <a:avLst/>
          </a:prstGeom>
          <a:noFill/>
        </p:spPr>
        <p:txBody>
          <a:bodyPr wrap="square" rtlCol="0" anchor="t">
            <a:noAutofit/>
          </a:bodyPr>
          <a:p>
            <a:r>
              <a:rPr lang="zh-CN" altLang="en-US"/>
              <a:t>人工智能技术将取代</a:t>
            </a:r>
            <a:r>
              <a:rPr lang="en-US" altLang="zh-CN"/>
              <a:t> JPEG </a:t>
            </a:r>
            <a:r>
              <a:rPr lang="zh-CN" altLang="en-US"/>
              <a:t>格式，开发新的深度学习压缩方案，这些方案能够适应原始数据或线性数据的需求</a:t>
            </a:r>
            <a:endParaRPr lang="zh-CN" altLang="en-US"/>
          </a:p>
        </p:txBody>
      </p:sp>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custDataLst>
              <p:tags r:id="rId1"/>
            </p:custDataLst>
          </p:nvPr>
        </p:nvSpPr>
        <p:spPr>
          <a:xfrm>
            <a:off x="630555" y="283210"/>
            <a:ext cx="10293985" cy="928370"/>
          </a:xfrm>
        </p:spPr>
        <p:txBody>
          <a:bodyPr vert="horz" wrap="square" lIns="0" tIns="0" rIns="0" bIns="0" rtlCol="0" anchor="b">
            <a:normAutofit fontScale="90000"/>
          </a:bodyPr>
          <a:lstStyle/>
          <a:p>
            <a:pPr lvl="0" algn="l">
              <a:buClrTx/>
              <a:buSzTx/>
              <a:buFontTx/>
            </a:pPr>
            <a:r>
              <a:rPr lang="en-US" altLang="zh-CN" dirty="0">
                <a:sym typeface="+mn-ea"/>
              </a:rPr>
              <a:t>​​Hardware-in-the-loop End-to-end Optimization of Camera Image Processing Pipelines</a:t>
            </a:r>
            <a:endParaRPr lang="en-US" altLang="zh-CN" dirty="0">
              <a:sym typeface="+mn-ea"/>
            </a:endParaRPr>
          </a:p>
        </p:txBody>
      </p:sp>
      <p:sp>
        <p:nvSpPr>
          <p:cNvPr id="5" name="文本框 4"/>
          <p:cNvSpPr txBox="1"/>
          <p:nvPr/>
        </p:nvSpPr>
        <p:spPr>
          <a:xfrm>
            <a:off x="630555" y="1926590"/>
            <a:ext cx="6154420" cy="1995170"/>
          </a:xfrm>
          <a:prstGeom prst="rect">
            <a:avLst/>
          </a:prstGeom>
          <a:noFill/>
        </p:spPr>
        <p:txBody>
          <a:bodyPr wrap="square" rtlCol="0">
            <a:noAutofit/>
          </a:bodyPr>
          <a:p>
            <a:r>
              <a:rPr lang="zh-CN" altLang="en-US"/>
              <a:t>核心贡献</a:t>
            </a:r>
            <a:r>
              <a:rPr lang="en-US" altLang="zh-CN"/>
              <a:t>​​</a:t>
            </a:r>
            <a:r>
              <a:rPr lang="zh-CN" altLang="en-US"/>
              <a:t>：成功实现了</a:t>
            </a:r>
            <a:r>
              <a:rPr lang="en-US" altLang="zh-CN"/>
              <a:t>​​</a:t>
            </a:r>
            <a:r>
              <a:rPr lang="zh-CN" altLang="en-US"/>
              <a:t>绕过软件近似、直接对硬件</a:t>
            </a:r>
            <a:r>
              <a:rPr lang="en-US" altLang="zh-CN"/>
              <a:t>ISP</a:t>
            </a:r>
            <a:r>
              <a:rPr lang="zh-CN" altLang="en-US"/>
              <a:t>进行端到端优化</a:t>
            </a:r>
            <a:r>
              <a:rPr lang="en-US" altLang="zh-CN"/>
              <a:t>​​</a:t>
            </a:r>
            <a:r>
              <a:rPr lang="zh-CN" altLang="en-US"/>
              <a:t>，解决了传统方法存在的域差距和局部最优问题。</a:t>
            </a:r>
            <a:endParaRPr lang="zh-CN" altLang="en-US"/>
          </a:p>
          <a:p>
            <a:r>
              <a:rPr lang="en-US" altLang="zh-CN"/>
              <a:t>​​</a:t>
            </a:r>
            <a:r>
              <a:rPr lang="zh-CN" altLang="en-US"/>
              <a:t>方法论意义</a:t>
            </a:r>
            <a:r>
              <a:rPr lang="en-US" altLang="zh-CN"/>
              <a:t>​​</a:t>
            </a:r>
            <a:r>
              <a:rPr lang="zh-CN" altLang="en-US"/>
              <a:t>：为相机成像管路的自动优化提供了一个强大而通用的框架。</a:t>
            </a:r>
            <a:endParaRPr lang="zh-CN" altLang="en-US"/>
          </a:p>
          <a:p>
            <a:r>
              <a:rPr lang="en-US" altLang="zh-CN"/>
              <a:t>​​</a:t>
            </a:r>
            <a:r>
              <a:rPr lang="zh-CN" altLang="en-US"/>
              <a:t>未来方向</a:t>
            </a:r>
            <a:r>
              <a:rPr lang="en-US" altLang="zh-CN"/>
              <a:t>​​</a:t>
            </a:r>
            <a:r>
              <a:rPr lang="zh-CN" altLang="en-US"/>
              <a:t>：该方法为未来联合优化</a:t>
            </a:r>
            <a:r>
              <a:rPr lang="en-US" altLang="zh-CN"/>
              <a:t>​​</a:t>
            </a:r>
            <a:r>
              <a:rPr lang="zh-CN" altLang="en-US"/>
              <a:t>光学、传感器、</a:t>
            </a:r>
            <a:r>
              <a:rPr lang="en-US" altLang="zh-CN"/>
              <a:t>ISP</a:t>
            </a:r>
            <a:r>
              <a:rPr lang="zh-CN" altLang="en-US"/>
              <a:t>和下游神经网络</a:t>
            </a:r>
            <a:r>
              <a:rPr lang="en-US" altLang="zh-CN"/>
              <a:t>​​</a:t>
            </a:r>
            <a:r>
              <a:rPr lang="zh-CN" altLang="en-US"/>
              <a:t>的整个视觉系统奠定了基础。</a:t>
            </a:r>
            <a:endParaRPr lang="zh-CN" altLang="en-US"/>
          </a:p>
        </p:txBody>
      </p:sp>
      <p:pic>
        <p:nvPicPr>
          <p:cNvPr id="2" name="图片 1"/>
          <p:cNvPicPr/>
          <p:nvPr/>
        </p:nvPicPr>
        <p:blipFill>
          <a:blip r:embed="rId2"/>
          <a:stretch>
            <a:fillRect/>
          </a:stretch>
        </p:blipFill>
        <p:spPr>
          <a:xfrm>
            <a:off x="6976110" y="1842135"/>
            <a:ext cx="4862830" cy="1533525"/>
          </a:xfrm>
          <a:prstGeom prst="rect">
            <a:avLst/>
          </a:prstGeom>
        </p:spPr>
      </p:pic>
      <p:pic>
        <p:nvPicPr>
          <p:cNvPr id="3" name="图片 2"/>
          <p:cNvPicPr/>
          <p:nvPr/>
        </p:nvPicPr>
        <p:blipFill>
          <a:blip r:embed="rId3"/>
          <a:stretch>
            <a:fillRect/>
          </a:stretch>
        </p:blipFill>
        <p:spPr>
          <a:xfrm>
            <a:off x="5029835" y="3853180"/>
            <a:ext cx="6809105" cy="252857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6"/>
          <p:cNvSpPr>
            <a:spLocks noGrp="1"/>
          </p:cNvSpPr>
          <p:nvPr>
            <p:custDataLst>
              <p:tags r:id="rId1"/>
            </p:custDataLst>
          </p:nvPr>
        </p:nvSpPr>
        <p:spPr>
          <a:xfrm>
            <a:off x="334645" y="494030"/>
            <a:ext cx="11341735" cy="615315"/>
          </a:xfrm>
          <a:prstGeom prst="rect">
            <a:avLst/>
          </a:prstGeom>
        </p:spPr>
        <p:txBody>
          <a:bodyPr vert="horz" wrap="square" lIns="0" tIns="0" rIns="0" bIns="0" rtlCol="0" anchor="b">
            <a:noAutofit/>
          </a:bodyPr>
          <a:lstStyle>
            <a:lvl1pPr algn="l" defTabSz="914400" rtl="0" eaLnBrk="1" latinLnBrk="0" hangingPunct="1">
              <a:lnSpc>
                <a:spcPct val="100000"/>
              </a:lnSpc>
              <a:spcBef>
                <a:spcPct val="0"/>
              </a:spcBef>
              <a:buNone/>
              <a:defRPr sz="3200" b="1" kern="1200">
                <a:solidFill>
                  <a:srgbClr val="3C3C3C"/>
                </a:solidFill>
                <a:latin typeface="+mj-lt"/>
                <a:ea typeface="+mj-ea"/>
                <a:cs typeface="+mj-cs"/>
              </a:defRPr>
            </a:lvl1pPr>
          </a:lstStyle>
          <a:p>
            <a:pPr lvl="0" algn="l">
              <a:buClrTx/>
              <a:buSzTx/>
              <a:buFontTx/>
            </a:pPr>
            <a:r>
              <a:rPr lang="en-US" altLang="zh-CN" sz="2700" dirty="0">
                <a:sym typeface="+mn-ea"/>
              </a:rPr>
              <a:t>ReconfigISP: Reconfigurable Camera Image Processing Pipeline</a:t>
            </a:r>
            <a:endParaRPr lang="en-US" altLang="zh-CN" sz="2700" dirty="0">
              <a:sym typeface="+mn-ea"/>
            </a:endParaRPr>
          </a:p>
        </p:txBody>
      </p:sp>
      <p:sp>
        <p:nvSpPr>
          <p:cNvPr id="5" name="文本框 4"/>
          <p:cNvSpPr txBox="1"/>
          <p:nvPr/>
        </p:nvSpPr>
        <p:spPr>
          <a:xfrm>
            <a:off x="521970" y="1721485"/>
            <a:ext cx="5574665" cy="3415030"/>
          </a:xfrm>
          <a:prstGeom prst="rect">
            <a:avLst/>
          </a:prstGeom>
          <a:noFill/>
        </p:spPr>
        <p:txBody>
          <a:bodyPr wrap="square" rtlCol="0">
            <a:spAutoFit/>
          </a:bodyPr>
          <a:p>
            <a:r>
              <a:rPr lang="zh-CN" altLang="en-US"/>
              <a:t>核心贡献</a:t>
            </a:r>
            <a:r>
              <a:rPr lang="en-US" altLang="zh-CN"/>
              <a:t>​​</a:t>
            </a:r>
            <a:r>
              <a:rPr lang="zh-CN" altLang="en-US"/>
              <a:t>：提出了首个</a:t>
            </a:r>
            <a:r>
              <a:rPr lang="en-US" altLang="zh-CN"/>
              <a:t>​​</a:t>
            </a:r>
            <a:r>
              <a:rPr lang="zh-CN" altLang="en-US"/>
              <a:t>可自动搜索架构和参数的可重构</a:t>
            </a:r>
            <a:r>
              <a:rPr lang="en-US" altLang="zh-CN"/>
              <a:t>ISP</a:t>
            </a:r>
            <a:r>
              <a:rPr lang="zh-CN" altLang="en-US"/>
              <a:t>框架</a:t>
            </a:r>
            <a:r>
              <a:rPr lang="en-US" altLang="zh-CN"/>
              <a:t>​​</a:t>
            </a:r>
            <a:r>
              <a:rPr lang="zh-CN" altLang="en-US"/>
              <a:t>，成功地将神经架构搜索技术应用于低层图像处理管线设计。</a:t>
            </a:r>
            <a:endParaRPr lang="zh-CN" altLang="en-US"/>
          </a:p>
          <a:p>
            <a:r>
              <a:rPr lang="en-US" altLang="zh-CN"/>
              <a:t>​​</a:t>
            </a:r>
            <a:r>
              <a:rPr lang="zh-CN" altLang="en-US"/>
              <a:t>核心优势</a:t>
            </a:r>
            <a:r>
              <a:rPr lang="en-US" altLang="zh-CN"/>
              <a:t>​​</a:t>
            </a:r>
            <a:r>
              <a:rPr lang="zh-CN" altLang="en-US"/>
              <a:t>：</a:t>
            </a:r>
            <a:endParaRPr lang="zh-CN" altLang="en-US"/>
          </a:p>
          <a:p>
            <a:r>
              <a:rPr lang="en-US" altLang="zh-CN"/>
              <a:t>​​</a:t>
            </a:r>
            <a:r>
              <a:rPr lang="zh-CN" altLang="en-US"/>
              <a:t>高性能</a:t>
            </a:r>
            <a:r>
              <a:rPr lang="en-US" altLang="zh-CN"/>
              <a:t>​​</a:t>
            </a:r>
            <a:r>
              <a:rPr lang="zh-CN" altLang="en-US"/>
              <a:t>：在多种任务上超越固定管线</a:t>
            </a:r>
            <a:r>
              <a:rPr lang="en-US" altLang="zh-CN"/>
              <a:t>ISP</a:t>
            </a:r>
            <a:r>
              <a:rPr lang="zh-CN" altLang="en-US"/>
              <a:t>。</a:t>
            </a:r>
            <a:endParaRPr lang="zh-CN" altLang="en-US"/>
          </a:p>
          <a:p>
            <a:r>
              <a:rPr lang="en-US" altLang="zh-CN"/>
              <a:t>​​</a:t>
            </a:r>
            <a:r>
              <a:rPr lang="zh-CN" altLang="en-US"/>
              <a:t>高灵活性</a:t>
            </a:r>
            <a:r>
              <a:rPr lang="en-US" altLang="zh-CN"/>
              <a:t>​​</a:t>
            </a:r>
            <a:r>
              <a:rPr lang="zh-CN" altLang="en-US"/>
              <a:t>：可针对不同任务、传感器、效率约束自动定制。</a:t>
            </a:r>
            <a:endParaRPr lang="zh-CN" altLang="en-US"/>
          </a:p>
          <a:p>
            <a:r>
              <a:rPr lang="en-US" altLang="zh-CN"/>
              <a:t>​​</a:t>
            </a:r>
            <a:r>
              <a:rPr lang="zh-CN" altLang="en-US"/>
              <a:t>高效率</a:t>
            </a:r>
            <a:r>
              <a:rPr lang="en-US" altLang="zh-CN"/>
              <a:t>​​</a:t>
            </a:r>
            <a:r>
              <a:rPr lang="zh-CN" altLang="en-US"/>
              <a:t>：仅需优化数百个参数，数据需求低。</a:t>
            </a:r>
            <a:endParaRPr lang="zh-CN" altLang="en-US"/>
          </a:p>
          <a:p>
            <a:r>
              <a:rPr lang="en-US" altLang="zh-CN"/>
              <a:t>​​</a:t>
            </a:r>
            <a:r>
              <a:rPr lang="zh-CN" altLang="en-US"/>
              <a:t>可解释性</a:t>
            </a:r>
            <a:r>
              <a:rPr lang="en-US" altLang="zh-CN"/>
              <a:t>​​</a:t>
            </a:r>
            <a:r>
              <a:rPr lang="zh-CN" altLang="en-US"/>
              <a:t>：保留模块化设计，搜索出的架构为</a:t>
            </a:r>
            <a:r>
              <a:rPr lang="en-US" altLang="zh-CN"/>
              <a:t>ISP</a:t>
            </a:r>
            <a:r>
              <a:rPr lang="zh-CN" altLang="en-US"/>
              <a:t>设计提供了新见解（如目标检测不依赖白平衡）。</a:t>
            </a:r>
            <a:endParaRPr lang="zh-CN" altLang="en-US"/>
          </a:p>
          <a:p>
            <a:r>
              <a:rPr lang="en-US" altLang="zh-CN"/>
              <a:t>​​</a:t>
            </a:r>
            <a:r>
              <a:rPr lang="zh-CN" altLang="en-US"/>
              <a:t>未来影响</a:t>
            </a:r>
            <a:r>
              <a:rPr lang="en-US" altLang="zh-CN"/>
              <a:t>​​</a:t>
            </a:r>
            <a:r>
              <a:rPr lang="zh-CN" altLang="en-US"/>
              <a:t>：为计算摄影和嵌入式视觉系统提供了一种更智能、更自适应的新型</a:t>
            </a:r>
            <a:r>
              <a:rPr lang="en-US" altLang="zh-CN"/>
              <a:t>ISP</a:t>
            </a:r>
            <a:r>
              <a:rPr lang="zh-CN" altLang="en-US"/>
              <a:t>设计范式。</a:t>
            </a:r>
            <a:endParaRPr lang="zh-CN" altLang="en-US"/>
          </a:p>
        </p:txBody>
      </p:sp>
      <p:pic>
        <p:nvPicPr>
          <p:cNvPr id="2" name="图片 1"/>
          <p:cNvPicPr/>
          <p:nvPr/>
        </p:nvPicPr>
        <p:blipFill>
          <a:blip r:embed="rId2"/>
          <a:stretch>
            <a:fillRect/>
          </a:stretch>
        </p:blipFill>
        <p:spPr>
          <a:xfrm>
            <a:off x="6893560" y="1956435"/>
            <a:ext cx="4267200" cy="1524000"/>
          </a:xfrm>
          <a:prstGeom prst="rect">
            <a:avLst/>
          </a:prstGeom>
        </p:spPr>
      </p:pic>
      <p:sp>
        <p:nvSpPr>
          <p:cNvPr id="3" name="文本框 2"/>
          <p:cNvSpPr txBox="1"/>
          <p:nvPr/>
        </p:nvSpPr>
        <p:spPr>
          <a:xfrm>
            <a:off x="6757670" y="3799523"/>
            <a:ext cx="5080000" cy="1076325"/>
          </a:xfrm>
          <a:prstGeom prst="rect">
            <a:avLst/>
          </a:prstGeom>
        </p:spPr>
        <p:txBody>
          <a:bodyPr>
            <a:spAutoFit/>
          </a:bodyPr>
          <a:p>
            <a:pPr marL="0" indent="0" algn="l" fontAlgn="base">
              <a:spcBef>
                <a:spcPct val="0"/>
              </a:spcBef>
              <a:spcAft>
                <a:spcPct val="0"/>
              </a:spcAft>
            </a:pPr>
            <a:r>
              <a:rPr lang="en-US" altLang="zh-CN" sz="1600" b="0" i="0">
                <a:latin typeface="-apple-system"/>
                <a:ea typeface="-apple-system"/>
              </a:rPr>
              <a:t>SID</a:t>
            </a:r>
            <a:r>
              <a:rPr lang="zh-CN" altLang="en-US" sz="1600" b="0" i="0">
                <a:latin typeface="-apple-system"/>
                <a:ea typeface="-apple-system"/>
              </a:rPr>
              <a:t>数据集（极低光）</a:t>
            </a:r>
            <a:r>
              <a:rPr lang="en-US" altLang="zh-CN" sz="1600" b="0" i="0">
                <a:latin typeface="-apple-system"/>
                <a:ea typeface="-apple-system"/>
              </a:rPr>
              <a:t>​</a:t>
            </a:r>
            <a:endParaRPr lang="en-US" altLang="zh-CN" sz="1600" b="0" i="0">
              <a:latin typeface="-apple-system"/>
              <a:ea typeface="-apple-system"/>
            </a:endParaRPr>
          </a:p>
          <a:p>
            <a:pPr marL="0" indent="0" algn="l"/>
            <a:r>
              <a:rPr lang="en-US" altLang="zh-CN" sz="1600" b="0" i="0">
                <a:latin typeface="-apple-system"/>
                <a:ea typeface="-apple-system"/>
              </a:rPr>
              <a:t>​</a:t>
            </a:r>
            <a:r>
              <a:rPr lang="zh-CN" altLang="en-US" sz="1600" b="0" i="0">
                <a:latin typeface="-apple-system"/>
                <a:ea typeface="-apple-system"/>
              </a:rPr>
              <a:t>：在仅使用</a:t>
            </a:r>
            <a:r>
              <a:rPr lang="en-US" altLang="zh-CN" sz="1600" b="0" i="0">
                <a:latin typeface="-apple-system"/>
                <a:ea typeface="-apple-system"/>
              </a:rPr>
              <a:t>5%</a:t>
            </a:r>
            <a:r>
              <a:rPr lang="zh-CN" altLang="en-US" sz="1600" b="0" i="0">
                <a:latin typeface="-apple-system"/>
                <a:ea typeface="-apple-system"/>
              </a:rPr>
              <a:t>训练数据的情况下，</a:t>
            </a:r>
            <a:r>
              <a:rPr lang="en-US" altLang="zh-CN" sz="1600" b="0" i="0">
                <a:latin typeface="-apple-system"/>
                <a:ea typeface="-apple-system"/>
              </a:rPr>
              <a:t>ReconfigISP</a:t>
            </a:r>
            <a:r>
              <a:rPr lang="zh-CN" altLang="en-US" sz="1600" b="0" i="0">
                <a:latin typeface="-apple-system"/>
                <a:ea typeface="-apple-system"/>
              </a:rPr>
              <a:t>相比索尼相机内置</a:t>
            </a:r>
            <a:r>
              <a:rPr lang="en-US" altLang="zh-CN" sz="1600" b="0" i="0">
                <a:latin typeface="-apple-system"/>
                <a:ea typeface="-apple-system"/>
              </a:rPr>
              <a:t>ISP</a:t>
            </a:r>
            <a:r>
              <a:rPr lang="zh-CN" altLang="en-US" sz="1600" b="0" i="0">
                <a:latin typeface="-apple-system"/>
                <a:ea typeface="-apple-system"/>
              </a:rPr>
              <a:t>，</a:t>
            </a:r>
            <a:r>
              <a:rPr lang="en-US" altLang="zh-CN" sz="1600" b="0" i="0">
                <a:latin typeface="-apple-system"/>
                <a:ea typeface="-apple-system"/>
              </a:rPr>
              <a:t>PSNR</a:t>
            </a:r>
            <a:r>
              <a:rPr lang="zh-CN" altLang="en-US" sz="1600" b="0" i="0">
                <a:latin typeface="-apple-system"/>
                <a:ea typeface="-apple-system"/>
              </a:rPr>
              <a:t>提升了超过</a:t>
            </a:r>
            <a:r>
              <a:rPr lang="en-US" altLang="zh-CN" sz="1600" b="0" i="0">
                <a:latin typeface="-apple-system"/>
                <a:ea typeface="-apple-system"/>
              </a:rPr>
              <a:t>10dB</a:t>
            </a:r>
            <a:r>
              <a:rPr lang="zh-CN" altLang="en-US" sz="1600" b="0" i="0">
                <a:latin typeface="-apple-system"/>
                <a:ea typeface="-apple-system"/>
              </a:rPr>
              <a:t>，结果更干净、曝光更自然。</a:t>
            </a:r>
            <a:endParaRPr lang="zh-CN" altLang="en-US" sz="1600" b="0" i="0">
              <a:latin typeface="-apple-system"/>
              <a:ea typeface="-apple-system"/>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en-US" altLang="zh-CN" dirty="0">
                <a:sym typeface="+mn-ea"/>
              </a:rPr>
              <a:t>Abandoning the Bayer-Filter to See in the Dark</a:t>
            </a:r>
            <a:endParaRPr lang="en-US" altLang="zh-CN" dirty="0">
              <a:sym typeface="+mn-ea"/>
            </a:endParaRPr>
          </a:p>
        </p:txBody>
      </p:sp>
      <p:sp>
        <p:nvSpPr>
          <p:cNvPr id="2" name="文本框 1"/>
          <p:cNvSpPr txBox="1"/>
          <p:nvPr/>
        </p:nvSpPr>
        <p:spPr>
          <a:xfrm>
            <a:off x="695960" y="1604010"/>
            <a:ext cx="5546725" cy="4581525"/>
          </a:xfrm>
          <a:prstGeom prst="rect">
            <a:avLst/>
          </a:prstGeom>
          <a:noFill/>
        </p:spPr>
        <p:txBody>
          <a:bodyPr wrap="square" rtlCol="0">
            <a:noAutofit/>
          </a:bodyPr>
          <a:p>
            <a:r>
              <a:rPr lang="zh-CN" altLang="en-US"/>
              <a:t>核心贡献</a:t>
            </a:r>
            <a:r>
              <a:rPr lang="en-US" altLang="zh-CN"/>
              <a:t>​​</a:t>
            </a:r>
            <a:r>
              <a:rPr lang="zh-CN" altLang="en-US"/>
              <a:t>：提出了一个</a:t>
            </a:r>
            <a:r>
              <a:rPr lang="en-US" altLang="zh-CN"/>
              <a:t>​​</a:t>
            </a:r>
            <a:r>
              <a:rPr lang="zh-CN" altLang="en-US"/>
              <a:t>概念新颖的框架</a:t>
            </a:r>
            <a:r>
              <a:rPr lang="en-US" altLang="zh-CN"/>
              <a:t>​​</a:t>
            </a:r>
            <a:r>
              <a:rPr lang="zh-CN" altLang="en-US"/>
              <a:t>，通过算法虚拟</a:t>
            </a:r>
            <a:r>
              <a:rPr lang="en-US" altLang="zh-CN"/>
              <a:t>“</a:t>
            </a:r>
            <a:r>
              <a:rPr lang="zh-CN" altLang="en-US"/>
              <a:t>移除</a:t>
            </a:r>
            <a:r>
              <a:rPr lang="en-US" altLang="zh-CN"/>
              <a:t>”</a:t>
            </a:r>
            <a:r>
              <a:rPr lang="zh-CN" altLang="en-US"/>
              <a:t>拜耳滤镜，</a:t>
            </a:r>
            <a:r>
              <a:rPr lang="en-US" altLang="zh-CN"/>
              <a:t>​​</a:t>
            </a:r>
            <a:r>
              <a:rPr lang="zh-CN" altLang="en-US"/>
              <a:t>突破了彩色相机</a:t>
            </a:r>
            <a:r>
              <a:rPr lang="en-US" altLang="zh-CN"/>
              <a:t>RAW</a:t>
            </a:r>
            <a:r>
              <a:rPr lang="zh-CN" altLang="en-US"/>
              <a:t>数据的信息上限</a:t>
            </a:r>
            <a:r>
              <a:rPr lang="en-US" altLang="zh-CN"/>
              <a:t>​​</a:t>
            </a:r>
            <a:r>
              <a:rPr lang="zh-CN" altLang="en-US"/>
              <a:t>，为单摄像头低光成像提供了新思路。</a:t>
            </a:r>
            <a:endParaRPr lang="zh-CN" altLang="en-US"/>
          </a:p>
          <a:p>
            <a:r>
              <a:rPr lang="en-US" altLang="zh-CN"/>
              <a:t>​​</a:t>
            </a:r>
            <a:r>
              <a:rPr lang="zh-CN" altLang="en-US"/>
              <a:t>方法论意义</a:t>
            </a:r>
            <a:r>
              <a:rPr lang="en-US" altLang="zh-CN"/>
              <a:t>​​</a:t>
            </a:r>
            <a:r>
              <a:rPr lang="zh-CN" altLang="en-US"/>
              <a:t>：成功展示了如何通过</a:t>
            </a:r>
            <a:r>
              <a:rPr lang="en-US" altLang="zh-CN"/>
              <a:t>​​</a:t>
            </a:r>
            <a:r>
              <a:rPr lang="zh-CN" altLang="en-US"/>
              <a:t>双分支融合和注意力机制</a:t>
            </a:r>
            <a:r>
              <a:rPr lang="en-US" altLang="zh-CN"/>
              <a:t>​​</a:t>
            </a:r>
            <a:r>
              <a:rPr lang="zh-CN" altLang="en-US"/>
              <a:t>来有效结合不同模态（彩色</a:t>
            </a:r>
            <a:r>
              <a:rPr lang="en-US" altLang="zh-CN"/>
              <a:t>/</a:t>
            </a:r>
            <a:r>
              <a:rPr lang="zh-CN" altLang="en-US"/>
              <a:t>单色）的图像信息。</a:t>
            </a:r>
            <a:endParaRPr lang="zh-CN" altLang="en-US"/>
          </a:p>
          <a:p>
            <a:r>
              <a:rPr lang="en-US" altLang="zh-CN"/>
              <a:t>​​</a:t>
            </a:r>
            <a:r>
              <a:rPr lang="zh-CN" altLang="en-US"/>
              <a:t>实用价值</a:t>
            </a:r>
            <a:r>
              <a:rPr lang="en-US" altLang="zh-CN"/>
              <a:t>​​</a:t>
            </a:r>
            <a:r>
              <a:rPr lang="zh-CN" altLang="en-US"/>
              <a:t>：为仅配备单摄像头的移动设备实现高质量低光摄影提供了可行的技术路径，避免了硬件的额外成本。</a:t>
            </a:r>
            <a:endParaRPr lang="zh-CN" altLang="en-US"/>
          </a:p>
          <a:p>
            <a:r>
              <a:rPr lang="en-US" altLang="zh-CN"/>
              <a:t>​​</a:t>
            </a:r>
            <a:r>
              <a:rPr lang="zh-CN" altLang="en-US"/>
              <a:t>资源贡献</a:t>
            </a:r>
            <a:r>
              <a:rPr lang="en-US" altLang="zh-CN"/>
              <a:t>​​</a:t>
            </a:r>
            <a:r>
              <a:rPr lang="zh-CN" altLang="en-US"/>
              <a:t>：发布的</a:t>
            </a:r>
            <a:r>
              <a:rPr lang="en-US" altLang="zh-CN"/>
              <a:t>MCR</a:t>
            </a:r>
            <a:r>
              <a:rPr lang="zh-CN" altLang="en-US"/>
              <a:t>数据集将推动该研究方向的进一步发展。</a:t>
            </a:r>
            <a:endParaRPr lang="zh-CN" altLang="en-US"/>
          </a:p>
        </p:txBody>
      </p:sp>
      <p:sp>
        <p:nvSpPr>
          <p:cNvPr id="4" name="文本框 3"/>
          <p:cNvSpPr txBox="1"/>
          <p:nvPr/>
        </p:nvSpPr>
        <p:spPr>
          <a:xfrm>
            <a:off x="6951980" y="3516630"/>
            <a:ext cx="4593590" cy="922020"/>
          </a:xfrm>
          <a:prstGeom prst="rect">
            <a:avLst/>
          </a:prstGeom>
          <a:noFill/>
        </p:spPr>
        <p:txBody>
          <a:bodyPr wrap="square" rtlCol="0" anchor="t">
            <a:spAutoFit/>
          </a:bodyPr>
          <a:p>
            <a:r>
              <a:rPr lang="zh-CN" altLang="en-US"/>
              <a:t>去拜耳滤镜模块（</a:t>
            </a:r>
            <a:r>
              <a:rPr lang="en-US" altLang="zh-CN"/>
              <a:t>De-Bayer-Filter, DBF</a:t>
            </a:r>
            <a:r>
              <a:rPr lang="zh-CN" altLang="en-US"/>
              <a:t>）、双分支低光增强模块（</a:t>
            </a:r>
            <a:r>
              <a:rPr lang="en-US" altLang="zh-CN"/>
              <a:t>Dual Branch Low-light Enhancement, DBLE</a:t>
            </a:r>
            <a:r>
              <a:rPr lang="zh-CN" altLang="en-US"/>
              <a:t>）</a:t>
            </a:r>
            <a:endParaRPr lang="zh-CN" altLang="en-US"/>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custDataLst>
              <p:tags r:id="rId1"/>
            </p:custDataLst>
          </p:nvPr>
        </p:nvSpPr>
        <p:spPr>
          <a:xfrm>
            <a:off x="702945" y="477475"/>
            <a:ext cx="10800000" cy="720000"/>
          </a:xfrm>
        </p:spPr>
        <p:txBody>
          <a:bodyPr vert="horz" wrap="square" lIns="0" tIns="0" rIns="0" bIns="0" rtlCol="0" anchor="b">
            <a:normAutofit fontScale="90000"/>
          </a:bodyPr>
          <a:lstStyle/>
          <a:p>
            <a:pPr lvl="0" algn="l">
              <a:buClrTx/>
              <a:buSzTx/>
              <a:buFontTx/>
            </a:pPr>
            <a:r>
              <a:rPr lang="en-US" altLang="zh-CN" dirty="0">
                <a:sym typeface="+mn-ea"/>
              </a:rPr>
              <a:t>Image-Adaptive YOLO for Object Detection in Adverse Weather Conditions</a:t>
            </a:r>
            <a:endParaRPr lang="en-US" altLang="zh-CN" dirty="0">
              <a:sym typeface="+mn-ea"/>
            </a:endParaRPr>
          </a:p>
        </p:txBody>
      </p:sp>
      <p:sp>
        <p:nvSpPr>
          <p:cNvPr id="2" name="文本框 1"/>
          <p:cNvSpPr txBox="1"/>
          <p:nvPr/>
        </p:nvSpPr>
        <p:spPr>
          <a:xfrm>
            <a:off x="702945" y="1589405"/>
            <a:ext cx="4329430" cy="4412615"/>
          </a:xfrm>
          <a:prstGeom prst="rect">
            <a:avLst/>
          </a:prstGeom>
          <a:noFill/>
        </p:spPr>
        <p:txBody>
          <a:bodyPr wrap="square" rtlCol="0">
            <a:noAutofit/>
          </a:bodyPr>
          <a:p>
            <a:r>
              <a:rPr lang="zh-CN" altLang="en-US"/>
              <a:t>核心贡献</a:t>
            </a:r>
            <a:r>
              <a:rPr lang="en-US" altLang="zh-CN"/>
              <a:t>​​</a:t>
            </a:r>
            <a:r>
              <a:rPr lang="zh-CN" altLang="en-US"/>
              <a:t>：提出了一个</a:t>
            </a:r>
            <a:r>
              <a:rPr lang="en-US" altLang="zh-CN"/>
              <a:t>​​</a:t>
            </a:r>
            <a:r>
              <a:rPr lang="zh-CN" altLang="en-US"/>
              <a:t>新颖的图像自适应检测框架</a:t>
            </a:r>
            <a:r>
              <a:rPr lang="en-US" altLang="zh-CN"/>
              <a:t>​​</a:t>
            </a:r>
            <a:r>
              <a:rPr lang="zh-CN" altLang="en-US"/>
              <a:t>，通过</a:t>
            </a:r>
            <a:r>
              <a:rPr lang="en-US" altLang="zh-CN"/>
              <a:t>​​</a:t>
            </a:r>
            <a:r>
              <a:rPr lang="zh-CN" altLang="en-US"/>
              <a:t>弱监督方式学习一个轻量、可解释的图像处理管线</a:t>
            </a:r>
            <a:r>
              <a:rPr lang="en-US" altLang="zh-CN"/>
              <a:t>​​</a:t>
            </a:r>
            <a:r>
              <a:rPr lang="zh-CN" altLang="en-US"/>
              <a:t>，实现了对恶劣天气条件下图像的智能、自适应增强，从而显著提升检测性能。</a:t>
            </a:r>
            <a:endParaRPr lang="zh-CN" altLang="en-US"/>
          </a:p>
          <a:p>
            <a:r>
              <a:rPr lang="en-US" altLang="zh-CN"/>
              <a:t>​​</a:t>
            </a:r>
            <a:r>
              <a:rPr lang="zh-CN" altLang="en-US"/>
              <a:t>方法论优势</a:t>
            </a:r>
            <a:r>
              <a:rPr lang="en-US" altLang="zh-CN"/>
              <a:t>​​</a:t>
            </a:r>
            <a:r>
              <a:rPr lang="zh-CN" altLang="en-US"/>
              <a:t>：</a:t>
            </a:r>
            <a:endParaRPr lang="zh-CN" altLang="en-US"/>
          </a:p>
          <a:p>
            <a:r>
              <a:rPr lang="en-US" altLang="zh-CN"/>
              <a:t>​​</a:t>
            </a:r>
            <a:r>
              <a:rPr lang="zh-CN" altLang="en-US"/>
              <a:t>端到端弱监督</a:t>
            </a:r>
            <a:r>
              <a:rPr lang="en-US" altLang="zh-CN"/>
              <a:t>​​</a:t>
            </a:r>
            <a:r>
              <a:rPr lang="zh-CN" altLang="en-US"/>
              <a:t>：无需像素级增强标签，直接以检测任务为目标驱动图像增强。</a:t>
            </a:r>
            <a:endParaRPr lang="zh-CN" altLang="en-US"/>
          </a:p>
          <a:p>
            <a:r>
              <a:rPr lang="en-US" altLang="zh-CN"/>
              <a:t>​​</a:t>
            </a:r>
            <a:r>
              <a:rPr lang="zh-CN" altLang="en-US"/>
              <a:t>高效自适应</a:t>
            </a:r>
            <a:r>
              <a:rPr lang="en-US" altLang="zh-CN"/>
              <a:t>​​</a:t>
            </a:r>
            <a:r>
              <a:rPr lang="zh-CN" altLang="en-US"/>
              <a:t>：轻量级参数预测网络，计算开销小。</a:t>
            </a:r>
            <a:endParaRPr lang="zh-CN" altLang="en-US"/>
          </a:p>
          <a:p>
            <a:r>
              <a:rPr lang="en-US" altLang="zh-CN"/>
              <a:t>​​</a:t>
            </a:r>
            <a:r>
              <a:rPr lang="zh-CN" altLang="en-US"/>
              <a:t>强泛化性</a:t>
            </a:r>
            <a:r>
              <a:rPr lang="en-US" altLang="zh-CN"/>
              <a:t>​​</a:t>
            </a:r>
            <a:r>
              <a:rPr lang="zh-CN" altLang="en-US"/>
              <a:t>：在正常和多种恶劣天气条件下均能取得优异性能。</a:t>
            </a:r>
            <a:endParaRPr lang="zh-CN" altLang="en-US"/>
          </a:p>
          <a:p>
            <a:r>
              <a:rPr lang="en-US" altLang="zh-CN"/>
              <a:t>​​</a:t>
            </a:r>
            <a:r>
              <a:rPr lang="zh-CN" altLang="en-US"/>
              <a:t>实用价值</a:t>
            </a:r>
            <a:r>
              <a:rPr lang="en-US" altLang="zh-CN"/>
              <a:t>​​</a:t>
            </a:r>
            <a:r>
              <a:rPr lang="zh-CN" altLang="en-US"/>
              <a:t>：为自动驾驶、安防监控等在实际复杂环境中应用的目标检测系统提供了鲁棒性更强的解决方案。</a:t>
            </a:r>
            <a:endParaRPr lang="zh-CN" altLang="en-US"/>
          </a:p>
        </p:txBody>
      </p:sp>
      <p:sp>
        <p:nvSpPr>
          <p:cNvPr id="4" name="文本框 3"/>
          <p:cNvSpPr txBox="1"/>
          <p:nvPr/>
        </p:nvSpPr>
        <p:spPr>
          <a:xfrm>
            <a:off x="6478905" y="2890838"/>
            <a:ext cx="5080000" cy="1076325"/>
          </a:xfrm>
          <a:prstGeom prst="rect">
            <a:avLst/>
          </a:prstGeom>
        </p:spPr>
        <p:txBody>
          <a:bodyPr>
            <a:spAutoFit/>
          </a:bodyPr>
          <a:p>
            <a:pPr marL="0" indent="0"/>
            <a:r>
              <a:rPr lang="en-US" altLang="zh-CN" sz="1600" b="0" i="0">
                <a:latin typeface="-apple-system"/>
                <a:ea typeface="-apple-system"/>
              </a:rPr>
              <a:t>IA-YOLO</a:t>
            </a:r>
            <a:r>
              <a:rPr lang="zh-CN" altLang="en-US" sz="1600" b="0" i="0">
                <a:latin typeface="-apple-system"/>
                <a:ea typeface="-apple-system"/>
              </a:rPr>
              <a:t>的核心是一个</a:t>
            </a:r>
            <a:r>
              <a:rPr lang="en-US" altLang="zh-CN" sz="1600" b="0" i="0">
                <a:latin typeface="-apple-system"/>
                <a:ea typeface="-apple-system"/>
              </a:rPr>
              <a:t>​​</a:t>
            </a:r>
            <a:r>
              <a:rPr lang="zh-CN" altLang="en-US" sz="1600" b="0" i="0">
                <a:latin typeface="-apple-system"/>
                <a:ea typeface="-apple-system"/>
              </a:rPr>
              <a:t>端到端的、弱监督的、图像自适应的</a:t>
            </a:r>
            <a:r>
              <a:rPr lang="en-US" altLang="zh-CN" sz="1600" b="0" i="0">
                <a:latin typeface="-apple-system"/>
                <a:ea typeface="-apple-system"/>
              </a:rPr>
              <a:t>​​</a:t>
            </a:r>
            <a:r>
              <a:rPr lang="zh-CN" altLang="en-US" sz="1600" b="0" i="0">
                <a:latin typeface="-apple-system"/>
                <a:ea typeface="-apple-system"/>
              </a:rPr>
              <a:t>检测框架。它不直接学习复杂的图像到图像的映射，而是学习一个</a:t>
            </a:r>
            <a:r>
              <a:rPr lang="en-US" altLang="zh-CN" sz="1600" b="0" i="0">
                <a:latin typeface="-apple-system"/>
                <a:ea typeface="-apple-system"/>
              </a:rPr>
              <a:t>​​</a:t>
            </a:r>
            <a:r>
              <a:rPr lang="zh-CN" altLang="en-US" sz="1600" b="0" i="0">
                <a:latin typeface="-apple-system"/>
                <a:ea typeface="-apple-system"/>
              </a:rPr>
              <a:t>轻量的、可解释的图像处理管线（</a:t>
            </a:r>
            <a:r>
              <a:rPr lang="en-US" altLang="zh-CN" sz="1600" b="0" i="0">
                <a:latin typeface="-apple-system"/>
                <a:ea typeface="-apple-system"/>
              </a:rPr>
              <a:t>DIP</a:t>
            </a:r>
            <a:r>
              <a:rPr lang="zh-CN" altLang="en-US" sz="1600" b="0" i="0">
                <a:latin typeface="-apple-system"/>
                <a:ea typeface="-apple-system"/>
              </a:rPr>
              <a:t>）的参数</a:t>
            </a:r>
            <a:r>
              <a:rPr lang="en-US" altLang="zh-CN" sz="1600" b="0" i="0">
                <a:latin typeface="-apple-system"/>
                <a:ea typeface="-apple-system"/>
              </a:rPr>
              <a:t>​​</a:t>
            </a:r>
            <a:r>
              <a:rPr lang="zh-CN" altLang="en-US" sz="1600" b="0" i="0">
                <a:latin typeface="-apple-system"/>
                <a:ea typeface="-apple-system"/>
              </a:rPr>
              <a:t>。</a:t>
            </a:r>
            <a:endParaRPr lang="zh-CN" altLang="en-US" sz="1600" b="0" i="0">
              <a:latin typeface="-apple-system"/>
              <a:ea typeface="-apple-system"/>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en-US" altLang="zh-CN" dirty="0">
                <a:sym typeface="+mn-ea"/>
              </a:rPr>
              <a:t>Neural Photo-Finishing</a:t>
            </a:r>
            <a:endParaRPr lang="en-US" altLang="zh-CN" dirty="0">
              <a:sym typeface="+mn-ea"/>
            </a:endParaRPr>
          </a:p>
        </p:txBody>
      </p:sp>
      <p:sp>
        <p:nvSpPr>
          <p:cNvPr id="2" name="文本框 1"/>
          <p:cNvSpPr txBox="1"/>
          <p:nvPr/>
        </p:nvSpPr>
        <p:spPr>
          <a:xfrm>
            <a:off x="695960" y="1530985"/>
            <a:ext cx="5142230" cy="4449445"/>
          </a:xfrm>
          <a:prstGeom prst="rect">
            <a:avLst/>
          </a:prstGeom>
          <a:noFill/>
        </p:spPr>
        <p:txBody>
          <a:bodyPr wrap="square" rtlCol="0">
            <a:noAutofit/>
          </a:bodyPr>
          <a:p>
            <a:r>
              <a:rPr lang="zh-CN" altLang="en-US"/>
              <a:t>核心贡献</a:t>
            </a:r>
            <a:r>
              <a:rPr lang="en-US" altLang="zh-CN"/>
              <a:t>​​</a:t>
            </a:r>
            <a:r>
              <a:rPr lang="zh-CN" altLang="en-US"/>
              <a:t>：成功地将</a:t>
            </a:r>
            <a:r>
              <a:rPr lang="en-US" altLang="zh-CN"/>
              <a:t>​​</a:t>
            </a:r>
            <a:r>
              <a:rPr lang="zh-CN" altLang="en-US"/>
              <a:t>不可微的商业照片精修管道（</a:t>
            </a:r>
            <a:r>
              <a:rPr lang="en-US" altLang="zh-CN"/>
              <a:t>ACR</a:t>
            </a:r>
            <a:r>
              <a:rPr lang="zh-CN" altLang="en-US"/>
              <a:t>）转化为一个高度精确的可微分系统</a:t>
            </a:r>
            <a:r>
              <a:rPr lang="en-US" altLang="zh-CN"/>
              <a:t>​​</a:t>
            </a:r>
            <a:r>
              <a:rPr lang="zh-CN" altLang="en-US"/>
              <a:t>，在保留其所有直观控制能力的同时，为基于梯度的优化打开了大门。</a:t>
            </a:r>
            <a:endParaRPr lang="zh-CN" altLang="en-US"/>
          </a:p>
          <a:p>
            <a:r>
              <a:rPr lang="en-US" altLang="zh-CN"/>
              <a:t>​​</a:t>
            </a:r>
            <a:r>
              <a:rPr lang="zh-CN" altLang="en-US"/>
              <a:t>方法论意义</a:t>
            </a:r>
            <a:r>
              <a:rPr lang="en-US" altLang="zh-CN"/>
              <a:t>​​</a:t>
            </a:r>
            <a:r>
              <a:rPr lang="zh-CN" altLang="en-US"/>
              <a:t>：提出的</a:t>
            </a:r>
            <a:r>
              <a:rPr lang="en-US" altLang="zh-CN"/>
              <a:t> ​​“</a:t>
            </a:r>
            <a:r>
              <a:rPr lang="zh-CN" altLang="en-US"/>
              <a:t>分阶段定制代理</a:t>
            </a:r>
            <a:r>
              <a:rPr lang="en-US" altLang="zh-CN"/>
              <a:t>”​​ </a:t>
            </a:r>
            <a:r>
              <a:rPr lang="zh-CN" altLang="en-US"/>
              <a:t>范式为解决其他复杂、黑盒系统的可微分化问题提供了蓝图。</a:t>
            </a:r>
            <a:endParaRPr lang="zh-CN" altLang="en-US"/>
          </a:p>
          <a:p>
            <a:r>
              <a:rPr lang="en-US" altLang="zh-CN"/>
              <a:t>​​</a:t>
            </a:r>
            <a:r>
              <a:rPr lang="zh-CN" altLang="en-US"/>
              <a:t>实用价值</a:t>
            </a:r>
            <a:r>
              <a:rPr lang="en-US" altLang="zh-CN"/>
              <a:t>​​</a:t>
            </a:r>
            <a:r>
              <a:rPr lang="zh-CN" altLang="en-US"/>
              <a:t>：为摄影师、艺术家和研究人员提供了一个强大的工具，能够实现</a:t>
            </a:r>
            <a:r>
              <a:rPr lang="en-US" altLang="zh-CN"/>
              <a:t>​​</a:t>
            </a:r>
            <a:r>
              <a:rPr lang="zh-CN" altLang="en-US"/>
              <a:t>基于内容的自动精修、风格迁移、高质量</a:t>
            </a:r>
            <a:r>
              <a:rPr lang="en-US" altLang="zh-CN"/>
              <a:t>RAW</a:t>
            </a:r>
            <a:r>
              <a:rPr lang="zh-CN" altLang="en-US"/>
              <a:t>处理</a:t>
            </a:r>
            <a:r>
              <a:rPr lang="en-US" altLang="zh-CN"/>
              <a:t>​​</a:t>
            </a:r>
            <a:r>
              <a:rPr lang="zh-CN" altLang="en-US"/>
              <a:t>等，弥合了传统图像处理与现代机器学习之间的鸿沟。</a:t>
            </a:r>
            <a:endParaRPr lang="zh-CN" altLang="en-US"/>
          </a:p>
        </p:txBody>
      </p:sp>
      <p:sp>
        <p:nvSpPr>
          <p:cNvPr id="4" name="文本框 3"/>
          <p:cNvSpPr txBox="1"/>
          <p:nvPr/>
        </p:nvSpPr>
        <p:spPr>
          <a:xfrm>
            <a:off x="6156325" y="4583748"/>
            <a:ext cx="5080000" cy="1076325"/>
          </a:xfrm>
          <a:prstGeom prst="rect">
            <a:avLst/>
          </a:prstGeom>
        </p:spPr>
        <p:txBody>
          <a:bodyPr>
            <a:spAutoFit/>
          </a:bodyPr>
          <a:p>
            <a:pPr marL="0" indent="0"/>
            <a:r>
              <a:rPr lang="zh-CN" altLang="en-US" sz="1600" b="0" i="0">
                <a:latin typeface="-apple-system"/>
                <a:ea typeface="-apple-system"/>
              </a:rPr>
              <a:t>论文的核心思想不是用一个巨大的网络去端到端地近似整个</a:t>
            </a:r>
            <a:r>
              <a:rPr lang="en-US" altLang="zh-CN" sz="1600" b="0" i="0">
                <a:latin typeface="-apple-system"/>
                <a:ea typeface="-apple-system"/>
              </a:rPr>
              <a:t>ACR</a:t>
            </a:r>
            <a:r>
              <a:rPr lang="zh-CN" altLang="en-US" sz="1600" b="0" i="0">
                <a:latin typeface="-apple-system"/>
                <a:ea typeface="-apple-system"/>
              </a:rPr>
              <a:t>，而是</a:t>
            </a:r>
            <a:r>
              <a:rPr lang="en-US" altLang="zh-CN" sz="1600" b="0" i="0">
                <a:latin typeface="-apple-system"/>
                <a:ea typeface="-apple-system"/>
              </a:rPr>
              <a:t>​​</a:t>
            </a:r>
            <a:r>
              <a:rPr lang="zh-CN" altLang="en-US" sz="1600" b="0" i="0">
                <a:latin typeface="-apple-system"/>
                <a:ea typeface="-apple-system"/>
              </a:rPr>
              <a:t>将</a:t>
            </a:r>
            <a:r>
              <a:rPr lang="en-US" altLang="zh-CN" sz="1600" b="0" i="0">
                <a:latin typeface="-apple-system"/>
                <a:ea typeface="-apple-system"/>
              </a:rPr>
              <a:t>ACR</a:t>
            </a:r>
            <a:r>
              <a:rPr lang="zh-CN" altLang="en-US" sz="1600" b="0" i="0">
                <a:latin typeface="-apple-system"/>
                <a:ea typeface="-apple-system"/>
              </a:rPr>
              <a:t>管道分解为多个连续的处理阶段（如白平衡、色调映射、饱和度调整等），并为每个阶段精心设计一个轻量级的、可微分的神经网络代理</a:t>
            </a:r>
            <a:r>
              <a:rPr lang="en-US" altLang="zh-CN" sz="1600" b="0" i="0">
                <a:latin typeface="-apple-system"/>
                <a:ea typeface="-apple-system"/>
              </a:rPr>
              <a:t>​​</a:t>
            </a:r>
            <a:r>
              <a:rPr lang="zh-CN" altLang="en-US" sz="1600" b="0" i="0">
                <a:latin typeface="-apple-system"/>
                <a:ea typeface="-apple-system"/>
              </a:rPr>
              <a:t>。</a:t>
            </a:r>
            <a:endParaRPr lang="zh-CN" altLang="en-US" sz="1600" b="0" i="0">
              <a:latin typeface="-apple-system"/>
              <a:ea typeface="-apple-system"/>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95960" y="850220"/>
            <a:ext cx="10800000" cy="720000"/>
          </a:xfrm>
        </p:spPr>
        <p:txBody>
          <a:bodyPr>
            <a:normAutofit fontScale="90000"/>
          </a:bodyPr>
          <a:p>
            <a:r>
              <a:rPr lang="en-US" altLang="zh-CN"/>
              <a:t>You Only Need 90K Parameters to Adapt Right: a Light Weight Transformer for Image Enhancement and Exposure Correction</a:t>
            </a:r>
            <a:endParaRPr lang="en-US" altLang="zh-CN"/>
          </a:p>
        </p:txBody>
      </p:sp>
      <p:sp>
        <p:nvSpPr>
          <p:cNvPr id="3" name="文本框 2"/>
          <p:cNvSpPr txBox="1"/>
          <p:nvPr/>
        </p:nvSpPr>
        <p:spPr>
          <a:xfrm>
            <a:off x="878840" y="1889125"/>
            <a:ext cx="4886325" cy="4779010"/>
          </a:xfrm>
          <a:prstGeom prst="rect">
            <a:avLst/>
          </a:prstGeom>
          <a:noFill/>
        </p:spPr>
        <p:txBody>
          <a:bodyPr wrap="square" rtlCol="0">
            <a:noAutofit/>
          </a:bodyPr>
          <a:p>
            <a:r>
              <a:rPr lang="zh-CN" altLang="en-US"/>
              <a:t>核心贡献</a:t>
            </a:r>
            <a:r>
              <a:rPr lang="en-US" altLang="zh-CN"/>
              <a:t>​​</a:t>
            </a:r>
            <a:r>
              <a:rPr lang="zh-CN" altLang="en-US"/>
              <a:t>：提出了一个</a:t>
            </a:r>
            <a:r>
              <a:rPr lang="en-US" altLang="zh-CN"/>
              <a:t>​​</a:t>
            </a:r>
            <a:r>
              <a:rPr lang="zh-CN" altLang="en-US"/>
              <a:t>概念新颖、极其轻量、速度极快</a:t>
            </a:r>
            <a:r>
              <a:rPr lang="en-US" altLang="zh-CN"/>
              <a:t>​​</a:t>
            </a:r>
            <a:r>
              <a:rPr lang="zh-CN" altLang="en-US"/>
              <a:t>的</a:t>
            </a:r>
            <a:r>
              <a:rPr lang="en-US" altLang="zh-CN"/>
              <a:t>Transformer</a:t>
            </a:r>
            <a:r>
              <a:rPr lang="zh-CN" altLang="en-US"/>
              <a:t>框架</a:t>
            </a:r>
            <a:r>
              <a:rPr lang="en-US" altLang="zh-CN"/>
              <a:t>IAT</a:t>
            </a:r>
            <a:r>
              <a:rPr lang="zh-CN" altLang="en-US"/>
              <a:t>，通过</a:t>
            </a:r>
            <a:r>
              <a:rPr lang="en-US" altLang="zh-CN"/>
              <a:t>​​</a:t>
            </a:r>
            <a:r>
              <a:rPr lang="zh-CN" altLang="en-US"/>
              <a:t>分解并模拟</a:t>
            </a:r>
            <a:r>
              <a:rPr lang="en-US" altLang="zh-CN"/>
              <a:t>ISP</a:t>
            </a:r>
            <a:r>
              <a:rPr lang="zh-CN" altLang="en-US"/>
              <a:t>流程的关键部分</a:t>
            </a:r>
            <a:r>
              <a:rPr lang="en-US" altLang="zh-CN"/>
              <a:t>​​</a:t>
            </a:r>
            <a:r>
              <a:rPr lang="zh-CN" altLang="en-US"/>
              <a:t>，有效统一了低光增强和曝光校正任务。</a:t>
            </a:r>
            <a:endParaRPr lang="zh-CN" altLang="en-US"/>
          </a:p>
          <a:p>
            <a:r>
              <a:rPr lang="en-US" altLang="zh-CN"/>
              <a:t>​​</a:t>
            </a:r>
            <a:r>
              <a:rPr lang="zh-CN" altLang="en-US"/>
              <a:t>方法论意义</a:t>
            </a:r>
            <a:r>
              <a:rPr lang="en-US" altLang="zh-CN"/>
              <a:t>​​</a:t>
            </a:r>
            <a:r>
              <a:rPr lang="zh-CN" altLang="en-US"/>
              <a:t>：成功展示了如何为底层视觉任务</a:t>
            </a:r>
            <a:r>
              <a:rPr lang="en-US" altLang="zh-CN"/>
              <a:t>​​</a:t>
            </a:r>
            <a:r>
              <a:rPr lang="zh-CN" altLang="en-US"/>
              <a:t>定制化地设计轻量级</a:t>
            </a:r>
            <a:r>
              <a:rPr lang="en-US" altLang="zh-CN"/>
              <a:t>Transformer</a:t>
            </a:r>
            <a:r>
              <a:rPr lang="zh-CN" altLang="en-US"/>
              <a:t>结构</a:t>
            </a:r>
            <a:r>
              <a:rPr lang="en-US" altLang="zh-CN"/>
              <a:t>​​</a:t>
            </a:r>
            <a:r>
              <a:rPr lang="zh-CN" altLang="en-US"/>
              <a:t>，为移动端计算摄影提供了可行方案。</a:t>
            </a:r>
            <a:endParaRPr lang="zh-CN" altLang="en-US"/>
          </a:p>
          <a:p>
            <a:r>
              <a:rPr lang="en-US" altLang="zh-CN"/>
              <a:t>​​</a:t>
            </a:r>
            <a:r>
              <a:rPr lang="zh-CN" altLang="en-US"/>
              <a:t>实用价值</a:t>
            </a:r>
            <a:r>
              <a:rPr lang="en-US" altLang="zh-CN"/>
              <a:t>​​</a:t>
            </a:r>
            <a:r>
              <a:rPr lang="zh-CN" altLang="en-US"/>
              <a:t>：</a:t>
            </a:r>
            <a:r>
              <a:rPr lang="en-US" altLang="zh-CN"/>
              <a:t>IAT</a:t>
            </a:r>
            <a:r>
              <a:rPr lang="zh-CN" altLang="en-US"/>
              <a:t>的</a:t>
            </a:r>
            <a:r>
              <a:rPr lang="en-US" altLang="zh-CN"/>
              <a:t>​​</a:t>
            </a:r>
            <a:r>
              <a:rPr lang="zh-CN" altLang="en-US"/>
              <a:t>小体积和高效率</a:t>
            </a:r>
            <a:r>
              <a:rPr lang="en-US" altLang="zh-CN"/>
              <a:t>​​</a:t>
            </a:r>
            <a:r>
              <a:rPr lang="zh-CN" altLang="en-US"/>
              <a:t>使其极具潜力成为部署在手机、无人机等资源受限设备上的标准图像预处理工具，从而提升各种视觉应用在复杂光照环境下的鲁棒性。</a:t>
            </a:r>
            <a:endParaRPr lang="zh-CN" altLang="en-US"/>
          </a:p>
        </p:txBody>
      </p:sp>
      <p:sp>
        <p:nvSpPr>
          <p:cNvPr id="5" name="文本框 4"/>
          <p:cNvSpPr txBox="1"/>
          <p:nvPr/>
        </p:nvSpPr>
        <p:spPr>
          <a:xfrm>
            <a:off x="5663565" y="4763770"/>
            <a:ext cx="6096000" cy="1198880"/>
          </a:xfrm>
          <a:prstGeom prst="rect">
            <a:avLst/>
          </a:prstGeom>
          <a:noFill/>
        </p:spPr>
        <p:txBody>
          <a:bodyPr wrap="square" rtlCol="0" anchor="t">
            <a:spAutoFit/>
          </a:bodyPr>
          <a:p>
            <a:r>
              <a:rPr lang="zh-CN" altLang="en-US"/>
              <a:t>核心方法：光照自适应</a:t>
            </a:r>
            <a:r>
              <a:rPr lang="en-US" altLang="zh-CN"/>
              <a:t>Transformer (IAT)</a:t>
            </a:r>
            <a:endParaRPr lang="en-US" altLang="zh-CN"/>
          </a:p>
          <a:p>
            <a:r>
              <a:rPr lang="en-US" altLang="zh-CN"/>
              <a:t>IAT</a:t>
            </a:r>
            <a:r>
              <a:rPr lang="zh-CN" altLang="en-US"/>
              <a:t>的核心思想是</a:t>
            </a:r>
            <a:r>
              <a:rPr lang="en-US" altLang="zh-CN"/>
              <a:t>​​</a:t>
            </a:r>
            <a:r>
              <a:rPr lang="zh-CN" altLang="en-US"/>
              <a:t>将图像增强问题分解为局部像素级调整和全局</a:t>
            </a:r>
            <a:r>
              <a:rPr lang="en-US" altLang="zh-CN"/>
              <a:t>ISP</a:t>
            </a:r>
            <a:r>
              <a:rPr lang="zh-CN" altLang="en-US"/>
              <a:t>参数调整两部分</a:t>
            </a:r>
            <a:r>
              <a:rPr lang="en-US" altLang="zh-CN"/>
              <a:t>​​</a:t>
            </a:r>
            <a:r>
              <a:rPr lang="zh-CN" altLang="en-US"/>
              <a:t>，并用一个极其轻量的双分支</a:t>
            </a:r>
            <a:r>
              <a:rPr lang="en-US" altLang="zh-CN"/>
              <a:t>Transformer</a:t>
            </a:r>
            <a:r>
              <a:rPr lang="zh-CN" altLang="en-US"/>
              <a:t>结构来实现。</a:t>
            </a:r>
            <a:endParaRPr lang="zh-CN" altLang="en-US"/>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95960" y="535895"/>
            <a:ext cx="10800000" cy="720000"/>
          </a:xfrm>
        </p:spPr>
        <p:txBody>
          <a:bodyPr>
            <a:normAutofit fontScale="90000"/>
          </a:bodyPr>
          <a:p>
            <a:r>
              <a:rPr lang="en-US" altLang="zh-CN"/>
              <a:t>DynamicISP: Dynamically Controlled Image Signal Processor for Image Recognition</a:t>
            </a:r>
            <a:endParaRPr lang="en-US" altLang="zh-CN"/>
          </a:p>
        </p:txBody>
      </p:sp>
      <p:sp>
        <p:nvSpPr>
          <p:cNvPr id="5" name="文本框 4"/>
          <p:cNvSpPr txBox="1"/>
          <p:nvPr/>
        </p:nvSpPr>
        <p:spPr>
          <a:xfrm>
            <a:off x="820420" y="1831340"/>
            <a:ext cx="5429250" cy="2861310"/>
          </a:xfrm>
          <a:prstGeom prst="rect">
            <a:avLst/>
          </a:prstGeom>
          <a:noFill/>
        </p:spPr>
        <p:txBody>
          <a:bodyPr wrap="square" rtlCol="0">
            <a:spAutoFit/>
          </a:bodyPr>
          <a:p>
            <a:r>
              <a:rPr lang="zh-CN" altLang="en-US"/>
              <a:t>核心贡献</a:t>
            </a:r>
            <a:r>
              <a:rPr lang="en-US" altLang="zh-CN"/>
              <a:t>​​</a:t>
            </a:r>
            <a:r>
              <a:rPr lang="zh-CN" altLang="en-US"/>
              <a:t>：提出了一种</a:t>
            </a:r>
            <a:r>
              <a:rPr lang="en-US" altLang="zh-CN"/>
              <a:t>​​</a:t>
            </a:r>
            <a:r>
              <a:rPr lang="zh-CN" altLang="en-US"/>
              <a:t>新颖的动态</a:t>
            </a:r>
            <a:r>
              <a:rPr lang="en-US" altLang="zh-CN"/>
              <a:t>ISP</a:t>
            </a:r>
            <a:r>
              <a:rPr lang="zh-CN" altLang="en-US"/>
              <a:t>控制范式</a:t>
            </a:r>
            <a:r>
              <a:rPr lang="en-US" altLang="zh-CN"/>
              <a:t>​​</a:t>
            </a:r>
            <a:r>
              <a:rPr lang="zh-CN" altLang="en-US"/>
              <a:t>，通过巧妙的反馈机制和轻量级控制器设计，赋予了传统</a:t>
            </a:r>
            <a:r>
              <a:rPr lang="en-US" altLang="zh-CN"/>
              <a:t>ISP</a:t>
            </a:r>
            <a:r>
              <a:rPr lang="zh-CN" altLang="en-US"/>
              <a:t>管线强大的自适应能力。</a:t>
            </a:r>
            <a:endParaRPr lang="zh-CN" altLang="en-US"/>
          </a:p>
          <a:p>
            <a:r>
              <a:rPr lang="en-US" altLang="zh-CN"/>
              <a:t>​​</a:t>
            </a:r>
            <a:r>
              <a:rPr lang="zh-CN" altLang="en-US"/>
              <a:t>方法论优势</a:t>
            </a:r>
            <a:r>
              <a:rPr lang="en-US" altLang="zh-CN"/>
              <a:t>​​</a:t>
            </a:r>
            <a:r>
              <a:rPr lang="zh-CN" altLang="en-US"/>
              <a:t>：成功解决了</a:t>
            </a:r>
            <a:r>
              <a:rPr lang="en-US" altLang="zh-CN"/>
              <a:t>​​</a:t>
            </a:r>
            <a:r>
              <a:rPr lang="zh-CN" altLang="en-US"/>
              <a:t>表达能力与计算效率之间的矛盾</a:t>
            </a:r>
            <a:r>
              <a:rPr lang="en-US" altLang="zh-CN"/>
              <a:t>​​</a:t>
            </a:r>
            <a:r>
              <a:rPr lang="zh-CN" altLang="en-US"/>
              <a:t>，为在资源受限的边缘设备上实现高性能、自适应的图像识别系统提供了可行的技术路径。</a:t>
            </a:r>
            <a:endParaRPr lang="zh-CN" altLang="en-US"/>
          </a:p>
          <a:p>
            <a:r>
              <a:rPr lang="en-US" altLang="zh-CN"/>
              <a:t>​​</a:t>
            </a:r>
            <a:r>
              <a:rPr lang="zh-CN" altLang="en-US"/>
              <a:t>实用价值</a:t>
            </a:r>
            <a:r>
              <a:rPr lang="en-US" altLang="zh-CN"/>
              <a:t>​​</a:t>
            </a:r>
            <a:r>
              <a:rPr lang="zh-CN" altLang="en-US"/>
              <a:t>：该方法无需像素级监督信号，仅通过任务损失即可优化，使其非常适用于实际应用场景，有望广泛应用于自动驾驶、安防监控、移动摄影等领域。</a:t>
            </a:r>
            <a:endParaRPr lang="zh-CN" altLang="en-US"/>
          </a:p>
        </p:txBody>
      </p:sp>
      <p:sp>
        <p:nvSpPr>
          <p:cNvPr id="6" name="文本框 5"/>
          <p:cNvSpPr txBox="1"/>
          <p:nvPr/>
        </p:nvSpPr>
        <p:spPr>
          <a:xfrm>
            <a:off x="6416040" y="3513138"/>
            <a:ext cx="5080000" cy="2306955"/>
          </a:xfrm>
          <a:prstGeom prst="rect">
            <a:avLst/>
          </a:prstGeom>
        </p:spPr>
        <p:txBody>
          <a:bodyPr>
            <a:spAutoFit/>
          </a:bodyPr>
          <a:p>
            <a:pPr marL="0" indent="0" algn="l" fontAlgn="base">
              <a:spcBef>
                <a:spcPct val="0"/>
              </a:spcBef>
              <a:spcAft>
                <a:spcPct val="0"/>
              </a:spcAft>
              <a:buFont typeface="Arial" panose="020B0604020202020204"/>
              <a:buChar char="•"/>
            </a:pPr>
            <a:r>
              <a:rPr lang="en-US" altLang="zh-CN" sz="1600" b="0" i="0">
                <a:latin typeface="-apple-system"/>
                <a:ea typeface="-apple-system"/>
              </a:rPr>
              <a:t>ISP</a:t>
            </a:r>
            <a:r>
              <a:rPr lang="zh-CN" altLang="en-US" sz="1600" b="0" i="0">
                <a:latin typeface="-apple-system"/>
                <a:ea typeface="-apple-system"/>
              </a:rPr>
              <a:t>的重要性与挑战</a:t>
            </a:r>
            <a:r>
              <a:rPr lang="en-US" altLang="zh-CN" sz="1600" b="0" i="0">
                <a:latin typeface="-apple-system"/>
                <a:ea typeface="-apple-system"/>
              </a:rPr>
              <a:t>​​</a:t>
            </a:r>
            <a:r>
              <a:rPr lang="zh-CN" altLang="en-US" sz="1600" b="0" i="0">
                <a:latin typeface="-apple-system"/>
                <a:ea typeface="-apple-system"/>
              </a:rPr>
              <a:t>：图像信号处理器（</a:t>
            </a:r>
            <a:r>
              <a:rPr lang="en-US" altLang="zh-CN" sz="1600" b="0" i="0">
                <a:latin typeface="-apple-system"/>
                <a:ea typeface="-apple-system"/>
              </a:rPr>
              <a:t>ISP</a:t>
            </a:r>
            <a:r>
              <a:rPr lang="zh-CN" altLang="en-US" sz="1600" b="0" i="0">
                <a:latin typeface="-apple-system"/>
                <a:ea typeface="-apple-system"/>
              </a:rPr>
              <a:t>）将传感器</a:t>
            </a:r>
            <a:r>
              <a:rPr lang="en-US" altLang="zh-CN" sz="1600" b="0" i="0">
                <a:latin typeface="-apple-system"/>
                <a:ea typeface="-apple-system"/>
              </a:rPr>
              <a:t>RAW</a:t>
            </a:r>
            <a:r>
              <a:rPr lang="zh-CN" altLang="en-US" sz="1600" b="0" i="0">
                <a:latin typeface="-apple-system"/>
                <a:ea typeface="-apple-system"/>
              </a:rPr>
              <a:t>数据转换为</a:t>
            </a:r>
            <a:r>
              <a:rPr lang="en-US" altLang="zh-CN" sz="1600" b="0" i="0">
                <a:latin typeface="-apple-system"/>
                <a:ea typeface="-apple-system"/>
              </a:rPr>
              <a:t>sRGB</a:t>
            </a:r>
            <a:r>
              <a:rPr lang="zh-CN" altLang="en-US" sz="1600" b="0" i="0">
                <a:latin typeface="-apple-system"/>
                <a:ea typeface="-apple-system"/>
              </a:rPr>
              <a:t>图像，对图像识别任务至关重要。但其参数通常由专家手动调优，过程繁琐且可能</a:t>
            </a:r>
            <a:r>
              <a:rPr lang="en-US" altLang="zh-CN" sz="1600" b="0" i="0">
                <a:latin typeface="-apple-system"/>
                <a:ea typeface="-apple-system"/>
              </a:rPr>
              <a:t>​​</a:t>
            </a:r>
            <a:r>
              <a:rPr lang="zh-CN" altLang="en-US" sz="1600" b="0" i="0">
                <a:latin typeface="-apple-system"/>
                <a:ea typeface="-apple-system"/>
              </a:rPr>
              <a:t>并非识别任务的最优解</a:t>
            </a:r>
            <a:r>
              <a:rPr lang="en-US" altLang="zh-CN" sz="1600" b="0" i="0">
                <a:latin typeface="-apple-system"/>
                <a:ea typeface="-apple-system"/>
              </a:rPr>
              <a:t>​​</a:t>
            </a:r>
            <a:r>
              <a:rPr lang="zh-CN" altLang="en-US" sz="1600" b="0" i="0">
                <a:latin typeface="-apple-system"/>
                <a:ea typeface="-apple-system"/>
              </a:rPr>
              <a:t>。</a:t>
            </a:r>
            <a:endParaRPr lang="zh-CN" altLang="en-US" sz="1600" b="0" i="0">
              <a:latin typeface="-apple-system"/>
              <a:ea typeface="-apple-system"/>
            </a:endParaRPr>
          </a:p>
          <a:p>
            <a:pPr marL="0" indent="0" algn="l" fontAlgn="base">
              <a:spcBef>
                <a:spcPct val="0"/>
              </a:spcBef>
              <a:spcAft>
                <a:spcPct val="0"/>
              </a:spcAft>
              <a:buFont typeface="Arial" panose="020B0604020202020204"/>
              <a:buChar char="•"/>
            </a:pPr>
            <a:r>
              <a:rPr lang="en-US" altLang="zh-CN" sz="1600" b="0" i="0">
                <a:latin typeface="-apple-system"/>
                <a:ea typeface="-apple-system"/>
              </a:rPr>
              <a:t>​​</a:t>
            </a:r>
            <a:r>
              <a:rPr lang="zh-CN" altLang="en-US" sz="1600" b="0" i="0">
                <a:latin typeface="-apple-system"/>
                <a:ea typeface="-apple-system"/>
              </a:rPr>
              <a:t>现有方法的局限</a:t>
            </a:r>
            <a:r>
              <a:rPr lang="en-US" altLang="zh-CN" sz="1600" b="0" i="0">
                <a:latin typeface="-apple-system"/>
                <a:ea typeface="-apple-system"/>
              </a:rPr>
              <a:t>​​</a:t>
            </a:r>
            <a:r>
              <a:rPr lang="zh-CN" altLang="en-US" sz="1600" b="0" i="0">
                <a:latin typeface="-apple-system"/>
                <a:ea typeface="-apple-system"/>
              </a:rPr>
              <a:t>：</a:t>
            </a:r>
            <a:endParaRPr lang="zh-CN" altLang="en-US" sz="1600" b="0" i="0">
              <a:latin typeface="-apple-system"/>
              <a:ea typeface="-apple-system"/>
            </a:endParaRPr>
          </a:p>
          <a:p>
            <a:pPr marL="0" lvl="1" indent="0" algn="l" fontAlgn="base">
              <a:spcBef>
                <a:spcPct val="0"/>
              </a:spcBef>
              <a:spcAft>
                <a:spcPct val="0"/>
              </a:spcAft>
              <a:buFont typeface="Arial" panose="020B0604020202020204"/>
              <a:buChar char="◦"/>
            </a:pPr>
            <a:r>
              <a:rPr lang="en-US" altLang="zh-CN" sz="1600" b="0" i="0">
                <a:latin typeface="-apple-system"/>
                <a:ea typeface="-apple-system"/>
              </a:rPr>
              <a:t>​​</a:t>
            </a:r>
            <a:r>
              <a:rPr lang="zh-CN" altLang="en-US" sz="1600" b="0" i="0">
                <a:latin typeface="-apple-system"/>
                <a:ea typeface="-apple-system"/>
              </a:rPr>
              <a:t>基于机器学习的参数调优</a:t>
            </a:r>
            <a:r>
              <a:rPr lang="en-US" altLang="zh-CN" sz="1600" b="0" i="0">
                <a:latin typeface="-apple-system"/>
                <a:ea typeface="-apple-system"/>
              </a:rPr>
              <a:t>​​</a:t>
            </a:r>
            <a:r>
              <a:rPr lang="zh-CN" altLang="en-US" sz="1600" b="0" i="0">
                <a:latin typeface="-apple-system"/>
                <a:ea typeface="-apple-system"/>
              </a:rPr>
              <a:t>：计算量小，但</a:t>
            </a:r>
            <a:r>
              <a:rPr lang="en-US" altLang="zh-CN" sz="1600" b="0" i="0">
                <a:latin typeface="-apple-system"/>
                <a:ea typeface="-apple-system"/>
              </a:rPr>
              <a:t>​​</a:t>
            </a:r>
            <a:r>
              <a:rPr lang="zh-CN" altLang="en-US" sz="1600" b="0" i="0">
                <a:latin typeface="-apple-system"/>
                <a:ea typeface="-apple-system"/>
              </a:rPr>
              <a:t>表达能力有限</a:t>
            </a:r>
            <a:r>
              <a:rPr lang="en-US" altLang="zh-CN" sz="1600" b="0" i="0">
                <a:latin typeface="-apple-system"/>
                <a:ea typeface="-apple-system"/>
              </a:rPr>
              <a:t>​​</a:t>
            </a:r>
            <a:r>
              <a:rPr lang="zh-CN" altLang="en-US" sz="1600" b="0" i="0">
                <a:latin typeface="-apple-system"/>
                <a:ea typeface="-apple-system"/>
              </a:rPr>
              <a:t>。</a:t>
            </a:r>
            <a:endParaRPr lang="zh-CN" altLang="en-US" sz="1600" b="0" i="0">
              <a:latin typeface="-apple-system"/>
              <a:ea typeface="-apple-system"/>
            </a:endParaRPr>
          </a:p>
          <a:p>
            <a:pPr marL="0" lvl="1" indent="0" algn="l" fontAlgn="base">
              <a:spcBef>
                <a:spcPct val="0"/>
              </a:spcBef>
              <a:spcAft>
                <a:spcPct val="0"/>
              </a:spcAft>
              <a:buFont typeface="Arial" panose="020B0604020202020204"/>
              <a:buChar char="◦"/>
            </a:pPr>
            <a:r>
              <a:rPr lang="en-US" altLang="zh-CN" sz="1600" b="0" i="0">
                <a:latin typeface="-apple-system"/>
                <a:ea typeface="-apple-system"/>
              </a:rPr>
              <a:t>​​</a:t>
            </a:r>
            <a:r>
              <a:rPr lang="zh-CN" altLang="en-US" sz="1600" b="0" i="0">
                <a:latin typeface="-apple-system"/>
                <a:ea typeface="-apple-system"/>
              </a:rPr>
              <a:t>基于</a:t>
            </a:r>
            <a:r>
              <a:rPr lang="en-US" altLang="zh-CN" sz="1600" b="0" i="0">
                <a:latin typeface="-apple-system"/>
                <a:ea typeface="-apple-system"/>
              </a:rPr>
              <a:t>DNN</a:t>
            </a:r>
            <a:r>
              <a:rPr lang="zh-CN" altLang="en-US" sz="1600" b="0" i="0">
                <a:latin typeface="-apple-system"/>
                <a:ea typeface="-apple-system"/>
              </a:rPr>
              <a:t>的端到端</a:t>
            </a:r>
            <a:r>
              <a:rPr lang="en-US" altLang="zh-CN" sz="1600" b="0" i="0">
                <a:latin typeface="-apple-system"/>
                <a:ea typeface="-apple-system"/>
              </a:rPr>
              <a:t>ISP​​</a:t>
            </a:r>
            <a:r>
              <a:rPr lang="zh-CN" altLang="en-US" sz="1600" b="0" i="0">
                <a:latin typeface="-apple-system"/>
                <a:ea typeface="-apple-system"/>
              </a:rPr>
              <a:t>：表达能力强，性能先进，但</a:t>
            </a:r>
            <a:r>
              <a:rPr lang="en-US" altLang="zh-CN" sz="1600" b="0" i="0">
                <a:latin typeface="-apple-system"/>
                <a:ea typeface="-apple-system"/>
              </a:rPr>
              <a:t>​​</a:t>
            </a:r>
            <a:r>
              <a:rPr lang="zh-CN" altLang="en-US" sz="1600" b="0" i="0">
                <a:latin typeface="-apple-system"/>
                <a:ea typeface="-apple-system"/>
              </a:rPr>
              <a:t>计算成本高昂</a:t>
            </a:r>
            <a:r>
              <a:rPr lang="en-US" altLang="zh-CN" sz="1600" b="0" i="0">
                <a:latin typeface="-apple-system"/>
                <a:ea typeface="-apple-system"/>
              </a:rPr>
              <a:t>​​</a:t>
            </a:r>
            <a:r>
              <a:rPr lang="zh-CN" altLang="en-US" sz="1600" b="0" i="0">
                <a:latin typeface="-apple-system"/>
                <a:ea typeface="-apple-system"/>
              </a:rPr>
              <a:t>，难以在手机等边缘设备上部署。</a:t>
            </a:r>
            <a:endParaRPr lang="zh-CN" altLang="en-US" sz="1600" b="0" i="0">
              <a:latin typeface="-apple-system"/>
              <a:ea typeface="-apple-system"/>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Enabling ISPless Low-Power Computer Vision</a:t>
            </a:r>
            <a:endParaRPr lang="en-US" altLang="zh-CN"/>
          </a:p>
        </p:txBody>
      </p:sp>
      <p:sp>
        <p:nvSpPr>
          <p:cNvPr id="3" name="文本框 2"/>
          <p:cNvSpPr txBox="1"/>
          <p:nvPr/>
        </p:nvSpPr>
        <p:spPr>
          <a:xfrm>
            <a:off x="894080" y="1838960"/>
            <a:ext cx="7027545" cy="2884170"/>
          </a:xfrm>
          <a:prstGeom prst="rect">
            <a:avLst/>
          </a:prstGeom>
          <a:noFill/>
        </p:spPr>
        <p:txBody>
          <a:bodyPr wrap="square" rtlCol="0">
            <a:noAutofit/>
          </a:bodyPr>
          <a:p>
            <a:r>
              <a:rPr lang="zh-CN" altLang="en-US"/>
              <a:t>范式转变</a:t>
            </a:r>
            <a:r>
              <a:rPr lang="en-US" altLang="zh-CN"/>
              <a:t>​​</a:t>
            </a:r>
            <a:r>
              <a:rPr lang="zh-CN" altLang="en-US"/>
              <a:t>：推动</a:t>
            </a:r>
            <a:r>
              <a:rPr lang="en-US" altLang="zh-CN"/>
              <a:t>CV</a:t>
            </a:r>
            <a:r>
              <a:rPr lang="zh-CN" altLang="en-US"/>
              <a:t>系统设计从</a:t>
            </a:r>
            <a:r>
              <a:rPr lang="en-US" altLang="zh-CN"/>
              <a:t>“​​</a:t>
            </a:r>
            <a:r>
              <a:rPr lang="zh-CN" altLang="en-US"/>
              <a:t>捕获</a:t>
            </a:r>
            <a:r>
              <a:rPr lang="en-US" altLang="zh-CN"/>
              <a:t>-ISP-</a:t>
            </a:r>
            <a:r>
              <a:rPr lang="zh-CN" altLang="en-US"/>
              <a:t>处理</a:t>
            </a:r>
            <a:r>
              <a:rPr lang="en-US" altLang="zh-CN"/>
              <a:t>​​”</a:t>
            </a:r>
            <a:r>
              <a:rPr lang="zh-CN" altLang="en-US"/>
              <a:t>向</a:t>
            </a:r>
            <a:r>
              <a:rPr lang="en-US" altLang="zh-CN"/>
              <a:t>“​​</a:t>
            </a:r>
            <a:r>
              <a:rPr lang="zh-CN" altLang="en-US"/>
              <a:t>捕获</a:t>
            </a:r>
            <a:r>
              <a:rPr lang="en-US" altLang="zh-CN"/>
              <a:t>-</a:t>
            </a:r>
            <a:r>
              <a:rPr lang="zh-CN" altLang="en-US"/>
              <a:t>（轻量预处理）</a:t>
            </a:r>
            <a:r>
              <a:rPr lang="en-US" altLang="zh-CN"/>
              <a:t>-</a:t>
            </a:r>
            <a:r>
              <a:rPr lang="zh-CN" altLang="en-US"/>
              <a:t>处理</a:t>
            </a:r>
            <a:r>
              <a:rPr lang="en-US" altLang="zh-CN"/>
              <a:t>​​”</a:t>
            </a:r>
            <a:r>
              <a:rPr lang="zh-CN" altLang="en-US"/>
              <a:t>的范式转变，为视觉感知在</a:t>
            </a:r>
            <a:r>
              <a:rPr lang="en-US" altLang="zh-CN"/>
              <a:t>​​</a:t>
            </a:r>
            <a:r>
              <a:rPr lang="zh-CN" altLang="en-US"/>
              <a:t>极致低功耗边缘设备</a:t>
            </a:r>
            <a:r>
              <a:rPr lang="en-US" altLang="zh-CN"/>
              <a:t>​​</a:t>
            </a:r>
            <a:r>
              <a:rPr lang="zh-CN" altLang="en-US"/>
              <a:t>上的部署铺平了道路。</a:t>
            </a:r>
            <a:endParaRPr lang="zh-CN" altLang="en-US"/>
          </a:p>
          <a:p>
            <a:r>
              <a:rPr lang="en-US" altLang="zh-CN"/>
              <a:t>​​</a:t>
            </a:r>
            <a:r>
              <a:rPr lang="zh-CN" altLang="en-US"/>
              <a:t>资源贡献</a:t>
            </a:r>
            <a:r>
              <a:rPr lang="en-US" altLang="zh-CN"/>
              <a:t>​​</a:t>
            </a:r>
            <a:r>
              <a:rPr lang="zh-CN" altLang="en-US"/>
              <a:t>：发布的</a:t>
            </a:r>
            <a:r>
              <a:rPr lang="en-US" altLang="zh-CN"/>
              <a:t>​​RAW-COCO</a:t>
            </a:r>
            <a:r>
              <a:rPr lang="zh-CN" altLang="en-US"/>
              <a:t>数据集</a:t>
            </a:r>
            <a:r>
              <a:rPr lang="en-US" altLang="zh-CN"/>
              <a:t>​​</a:t>
            </a:r>
            <a:r>
              <a:rPr lang="zh-CN" altLang="en-US"/>
              <a:t>将成为该领域重要的基础资源。</a:t>
            </a:r>
            <a:endParaRPr lang="zh-CN" altLang="en-US"/>
          </a:p>
          <a:p>
            <a:r>
              <a:rPr lang="en-US" altLang="zh-CN"/>
              <a:t>​​</a:t>
            </a:r>
            <a:r>
              <a:rPr lang="zh-CN" altLang="en-US"/>
              <a:t>协同设计</a:t>
            </a:r>
            <a:r>
              <a:rPr lang="en-US" altLang="zh-CN"/>
              <a:t>​​</a:t>
            </a:r>
            <a:r>
              <a:rPr lang="zh-CN" altLang="en-US"/>
              <a:t>：展示了</a:t>
            </a:r>
            <a:r>
              <a:rPr lang="en-US" altLang="zh-CN"/>
              <a:t>​​</a:t>
            </a:r>
            <a:r>
              <a:rPr lang="zh-CN" altLang="en-US"/>
              <a:t>算法（可逆网络、小样本学习）与硬件（像素内处理）协同设计</a:t>
            </a:r>
            <a:r>
              <a:rPr lang="en-US" altLang="zh-CN"/>
              <a:t>​​</a:t>
            </a:r>
            <a:r>
              <a:rPr lang="zh-CN" altLang="en-US"/>
              <a:t>的巨大潜力，是实现高性能、低功耗嵌入式</a:t>
            </a:r>
            <a:r>
              <a:rPr lang="en-US" altLang="zh-CN"/>
              <a:t>AI</a:t>
            </a:r>
            <a:r>
              <a:rPr lang="zh-CN" altLang="en-US"/>
              <a:t>的有效路径。</a:t>
            </a:r>
            <a:endParaRPr lang="zh-CN" altLang="en-US"/>
          </a:p>
          <a:p>
            <a:r>
              <a:rPr lang="en-US" altLang="zh-CN"/>
              <a:t>​​</a:t>
            </a:r>
            <a:r>
              <a:rPr lang="zh-CN" altLang="en-US"/>
              <a:t>广泛应用</a:t>
            </a:r>
            <a:r>
              <a:rPr lang="en-US" altLang="zh-CN"/>
              <a:t>​​</a:t>
            </a:r>
            <a:r>
              <a:rPr lang="zh-CN" altLang="en-US"/>
              <a:t>：该技术可广泛应用于智能手机、</a:t>
            </a:r>
            <a:r>
              <a:rPr lang="en-US" altLang="zh-CN"/>
              <a:t>IoT</a:t>
            </a:r>
            <a:r>
              <a:rPr lang="zh-CN" altLang="en-US"/>
              <a:t>摄像头、自动驾驶、</a:t>
            </a:r>
            <a:r>
              <a:rPr lang="en-US" altLang="zh-CN"/>
              <a:t>AR/VR</a:t>
            </a:r>
            <a:r>
              <a:rPr lang="zh-CN" altLang="en-US"/>
              <a:t>等对功耗和实时性要求极高的场景。</a:t>
            </a:r>
            <a:endParaRPr lang="zh-CN" alt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2"/>
</p:tagLst>
</file>

<file path=ppt/tags/tag7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4"/>
</p:tagLst>
</file>

<file path=ppt/tags/tag71.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1"/>
</p:tagLst>
</file>

<file path=ppt/tags/tag72.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9"/>
</p:tagLst>
</file>

<file path=ppt/tags/tag7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74.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75.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85.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6"/>
</p:tagLst>
</file>

<file path=ppt/tags/tag92.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69"/>
</p:tagLst>
</file>

<file path=ppt/tags/tag93.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9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Lst>
</file>

<file path=ppt/tags/tag9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96.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97.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101.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 name="KSO_WM_UNIT_VALUE" val="162"/>
</p:tagLst>
</file>

<file path=ppt/tags/tag102.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03.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10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0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0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408"/>
</p:tagLst>
</file>

<file path=ppt/tags/tag116.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120.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24.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9.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0.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1"/>
</p:tagLst>
</file>

<file path=ppt/tags/tag13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4"/>
</p:tagLst>
</file>

<file path=ppt/tags/tag132.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名"/>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3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9"/>
</p:tagLst>
</file>

<file path=ppt/tags/tag134.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5.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6.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646"/>
</p:tagLst>
</file>

<file path=ppt/tags/tag137.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50"/>
  <p:tag name="KSO_WM_TEMPLATE_CATEGORY" val="custom"/>
  <p:tag name="KSO_WM_TEMPLATE_INDEX" val="20238646"/>
</p:tagLst>
</file>

<file path=ppt/tags/tag13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646"/>
  <p:tag name="KSO_WM_TEMPLATE_CATEGORY" val="custom"/>
  <p:tag name="KSO_WM_TEMPLATE_MASTER_TYPE" val="0"/>
</p:tagLst>
</file>

<file path=ppt/tags/tag142.xml><?xml version="1.0" encoding="utf-8"?>
<p:tagLst xmlns:p="http://schemas.openxmlformats.org/presentationml/2006/main">
  <p:tag name="KSO_WM_UNIT_TYPE" val="a"/>
  <p:tag name="KSO_WM_UNIT_INDEX" val="1"/>
  <p:tag name="KSO_WM_BEAUTIFY_FLAG" val="#wm#"/>
  <p:tag name="KSO_WM_TAG_VERSION" val="3.0"/>
  <p:tag name="KSO_WM_UNIT_ID" val="custom20238646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ISCONTENTSTITLE" val="0"/>
  <p:tag name="KSO_WM_UNIT_VALUE" val="32"/>
  <p:tag name="KSO_WM_UNIT_PRESET_TEXT" val="单击添加文档标题"/>
  <p:tag name="KSO_WM_UNIT_TEXT_TYPE" val="1"/>
</p:tagLst>
</file>

<file path=ppt/tags/tag143.xml><?xml version="1.0" encoding="utf-8"?>
<p:tagLst xmlns:p="http://schemas.openxmlformats.org/presentationml/2006/main">
  <p:tag name="KSO_WM_UNIT_TYPE" val="b"/>
  <p:tag name="KSO_WM_UNIT_INDEX" val="1"/>
  <p:tag name="KSO_WM_BEAUTIFY_FLAG" val="#wm#"/>
  <p:tag name="KSO_WM_TAG_VERSION" val="3.0"/>
  <p:tag name="KSO_WM_UNIT_ID" val="custom20238646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ISCONTENTSTITLE" val="0"/>
  <p:tag name="KSO_WM_UNIT_PRESET_TEXT" val="添加文档副标题"/>
  <p:tag name="KSO_WM_UNIT_TEXT_TYPE" val="1"/>
</p:tagLst>
</file>

<file path=ppt/tags/tag14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646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646"/>
  <p:tag name="KSO_WM_TEMPLATE_CATEGORY" val="custom"/>
  <p:tag name="KSO_WM_UNIT_TEXT_LAYER_COUNT" val="1"/>
</p:tagLst>
</file>

<file path=ppt/tags/tag14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646"/>
  <p:tag name="KSO_WM_TEMPLATE_CATEGORY" val="custom"/>
  <p:tag name="KSO_WM_SLIDE_INDEX" val="1"/>
  <p:tag name="KSO_WM_SLIDE_ID" val="custom20238646_1"/>
  <p:tag name="KSO_WM_TEMPLATE_MASTER_TYPE" val="0"/>
  <p:tag name="KSO_WM_SLIDE_LAYOUT" val="a_b_f"/>
  <p:tag name="KSO_WM_SLIDE_LAYOUT_CNT" val="1_1_2"/>
  <p:tag name="KSO_WM_SLIDE_THEME_ID" val="3403927"/>
  <p:tag name="KSO_WM_SLIDE_THEME_NAME" val="简约风渐变几何通用模板"/>
</p:tagLst>
</file>

<file path=ppt/tags/tag14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47.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148.xml><?xml version="1.0" encoding="utf-8"?>
<p:tagLst xmlns:p="http://schemas.openxmlformats.org/presentationml/2006/main">
  <p:tag name="KSO_WM_BEAUTIFY_FLAG" val="#wm#"/>
  <p:tag name="KSO_WM_TEMPLATE_CATEGORY" val="custom"/>
  <p:tag name="KSO_WM_TEMPLATE_INDEX" val="20238646"/>
</p:tagLst>
</file>

<file path=ppt/tags/tag14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0.xml><?xml version="1.0" encoding="utf-8"?>
<p:tagLst xmlns:p="http://schemas.openxmlformats.org/presentationml/2006/main">
  <p:tag name="KSO_WM_BEAUTIFY_FLAG" val="#wm#"/>
  <p:tag name="KSO_WM_TEMPLATE_CATEGORY" val="custom"/>
  <p:tag name="KSO_WM_TEMPLATE_INDEX" val="20238646"/>
</p:tagLst>
</file>

<file path=ppt/tags/tag15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2.xml><?xml version="1.0" encoding="utf-8"?>
<p:tagLst xmlns:p="http://schemas.openxmlformats.org/presentationml/2006/main">
  <p:tag name="KSO_WM_BEAUTIFY_FLAG" val="#wm#"/>
  <p:tag name="KSO_WM_TEMPLATE_CATEGORY" val="custom"/>
  <p:tag name="KSO_WM_TEMPLATE_INDEX" val="20238646"/>
</p:tagLst>
</file>

<file path=ppt/tags/tag15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4.xml><?xml version="1.0" encoding="utf-8"?>
<p:tagLst xmlns:p="http://schemas.openxmlformats.org/presentationml/2006/main">
  <p:tag name="KSO_WM_BEAUTIFY_FLAG" val="#wm#"/>
  <p:tag name="KSO_WM_TEMPLATE_CATEGORY" val="custom"/>
  <p:tag name="KSO_WM_TEMPLATE_INDEX" val="20238646"/>
</p:tagLst>
</file>

<file path=ppt/tags/tag15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6.xml><?xml version="1.0" encoding="utf-8"?>
<p:tagLst xmlns:p="http://schemas.openxmlformats.org/presentationml/2006/main">
  <p:tag name="KSO_WM_BEAUTIFY_FLAG" val="#wm#"/>
  <p:tag name="KSO_WM_TEMPLATE_CATEGORY" val="custom"/>
  <p:tag name="KSO_WM_TEMPLATE_INDEX" val="20238646"/>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20238646_8"/>
  <p:tag name="KSO_WM_TEMPLATE_MASTER_TYPE" val="0"/>
  <p:tag name="KSO_WM_SLIDE_LAYOUT" val="a_f"/>
  <p:tag name="KSO_WM_SLIDE_LAYOUT_CNT" val="1_1"/>
  <p:tag name="KSO_WM_SLIDE_SIZE" val="850*457"/>
  <p:tag name="KSO_WM_SLIDE_POSITION" val="54*28"/>
</p:tagLst>
</file>

<file path=ppt/tags/tag15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8.xml><?xml version="1.0" encoding="utf-8"?>
<p:tagLst xmlns:p="http://schemas.openxmlformats.org/presentationml/2006/main">
  <p:tag name="KSO_WM_BEAUTIFY_FLAG" val="#wm#"/>
  <p:tag name="KSO_WM_TEMPLATE_CATEGORY" val="custom"/>
  <p:tag name="KSO_WM_TEMPLATE_INDEX" val="20238646"/>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20238646_8"/>
  <p:tag name="KSO_WM_TEMPLATE_MASTER_TYPE" val="0"/>
  <p:tag name="KSO_WM_SLIDE_LAYOUT" val="a_f"/>
  <p:tag name="KSO_WM_SLIDE_LAYOUT_CNT" val="1_1"/>
  <p:tag name="KSO_WM_SLIDE_SIZE" val="850*457"/>
  <p:tag name="KSO_WM_SLIDE_POSITION" val="54*28"/>
</p:tagLst>
</file>

<file path=ppt/tags/tag15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0.xml><?xml version="1.0" encoding="utf-8"?>
<p:tagLst xmlns:p="http://schemas.openxmlformats.org/presentationml/2006/main">
  <p:tag name="KSO_WM_BEAUTIFY_FLAG" val="#wm#"/>
  <p:tag name="KSO_WM_TEMPLATE_CATEGORY" val="custom"/>
  <p:tag name="KSO_WM_TEMPLATE_INDEX" val="20238646"/>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20238646_8"/>
  <p:tag name="KSO_WM_TEMPLATE_MASTER_TYPE" val="0"/>
  <p:tag name="KSO_WM_SLIDE_LAYOUT" val="a_f"/>
  <p:tag name="KSO_WM_SLIDE_LAYOUT_CNT" val="1_1"/>
  <p:tag name="KSO_WM_SLIDE_SIZE" val="850*457"/>
  <p:tag name="KSO_WM_SLIDE_POSITION" val="54*28"/>
</p:tagLst>
</file>

<file path=ppt/tags/tag16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2.xml><?xml version="1.0" encoding="utf-8"?>
<p:tagLst xmlns:p="http://schemas.openxmlformats.org/presentationml/2006/main">
  <p:tag name="KSO_WM_BEAUTIFY_FLAG" val="#wm#"/>
  <p:tag name="KSO_WM_TEMPLATE_CATEGORY" val="custom"/>
  <p:tag name="KSO_WM_TEMPLATE_INDEX" val="20238646"/>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20238646_8"/>
  <p:tag name="KSO_WM_TEMPLATE_MASTER_TYPE" val="0"/>
  <p:tag name="KSO_WM_SLIDE_LAYOUT" val="a_f"/>
  <p:tag name="KSO_WM_SLIDE_LAYOUT_CNT" val="1_1"/>
  <p:tag name="KSO_WM_SLIDE_SIZE" val="850*457"/>
  <p:tag name="KSO_WM_SLIDE_POSITION" val="54*28"/>
</p:tagLst>
</file>

<file path=ppt/tags/tag16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4.xml><?xml version="1.0" encoding="utf-8"?>
<p:tagLst xmlns:p="http://schemas.openxmlformats.org/presentationml/2006/main">
  <p:tag name="KSO_WM_BEAUTIFY_FLAG" val="#wm#"/>
  <p:tag name="KSO_WM_TEMPLATE_CATEGORY" val="custom"/>
  <p:tag name="KSO_WM_TEMPLATE_INDEX" val="20238646"/>
  <p:tag name="KSO_WM_SLIDE_TYPE" val="text"/>
  <p:tag name="KSO_WM_TEMPLATE_SUBCATEGORY" val="29"/>
  <p:tag name="KSO_WM_TEMPLATE_COLOR_TYPE" val="0"/>
  <p:tag name="KSO_WM_TAG_VERSION" val="3.0"/>
  <p:tag name="KSO_WM_SLIDE_SUBTYPE" val="pureTxt"/>
  <p:tag name="KSO_WM_SLIDE_ITEM_CNT" val="0"/>
  <p:tag name="KSO_WM_SLIDE_INDEX" val="8"/>
  <p:tag name="KSO_WM_SLIDE_ID" val="custom20238646_8"/>
  <p:tag name="KSO_WM_TEMPLATE_MASTER_TYPE" val="0"/>
  <p:tag name="KSO_WM_SLIDE_LAYOUT" val="a_f"/>
  <p:tag name="KSO_WM_SLIDE_LAYOUT_CNT" val="1_1"/>
  <p:tag name="KSO_WM_SLIDE_SIZE" val="850*457"/>
  <p:tag name="KSO_WM_SLIDE_POSITION" val="54*28"/>
</p:tagLst>
</file>

<file path=ppt/tags/tag16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6.xml><?xml version="1.0" encoding="utf-8"?>
<p:tagLst xmlns:p="http://schemas.openxmlformats.org/presentationml/2006/main">
  <p:tag name="KSO_WM_BEAUTIFY_FLAG" val="#wm#"/>
  <p:tag name="KSO_WM_TEMPLATE_CATEGORY" val="custom"/>
  <p:tag name="KSO_WM_TEMPLATE_INDEX" val="20238646"/>
</p:tagLst>
</file>

<file path=ppt/tags/tag16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68.xml><?xml version="1.0" encoding="utf-8"?>
<p:tagLst xmlns:p="http://schemas.openxmlformats.org/presentationml/2006/main">
  <p:tag name="KSO_WM_BEAUTIFY_FLAG" val="#wm#"/>
  <p:tag name="KSO_WM_TEMPLATE_CATEGORY" val="custom"/>
  <p:tag name="KSO_WM_TEMPLATE_INDEX" val="20238646"/>
</p:tagLst>
</file>

<file path=ppt/tags/tag16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70.xml><?xml version="1.0" encoding="utf-8"?>
<p:tagLst xmlns:p="http://schemas.openxmlformats.org/presentationml/2006/main">
  <p:tag name="KSO_WM_BEAUTIFY_FLAG" val="#wm#"/>
  <p:tag name="KSO_WM_TEMPLATE_CATEGORY" val="custom"/>
  <p:tag name="KSO_WM_TEMPLATE_INDEX" val="20238646"/>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风渐变几何通用模板">
  <a:themeElements>
    <a:clrScheme name="自定义 4">
      <a:dk1>
        <a:srgbClr val="000000"/>
      </a:dk1>
      <a:lt1>
        <a:srgbClr val="FFFFFF"/>
      </a:lt1>
      <a:dk2>
        <a:srgbClr val="262626"/>
      </a:dk2>
      <a:lt2>
        <a:srgbClr val="F6F6F6"/>
      </a:lt2>
      <a:accent1>
        <a:srgbClr val="BC9E80"/>
      </a:accent1>
      <a:accent2>
        <a:srgbClr val="F3AE35"/>
      </a:accent2>
      <a:accent3>
        <a:srgbClr val="BDBF2F"/>
      </a:accent3>
      <a:accent4>
        <a:srgbClr val="4EBAC2"/>
      </a:accent4>
      <a:accent5>
        <a:srgbClr val="E39865"/>
      </a:accent5>
      <a:accent6>
        <a:srgbClr val="B687DA"/>
      </a:accent6>
      <a:hlink>
        <a:srgbClr val="304FFE"/>
      </a:hlink>
      <a:folHlink>
        <a:srgbClr val="492067"/>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4079</Words>
  <Application>WPS 演示</Application>
  <PresentationFormat>宽屏</PresentationFormat>
  <Paragraphs>157</Paragraphs>
  <Slides>13</Slides>
  <Notes>4</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13</vt:i4>
      </vt:variant>
    </vt:vector>
  </HeadingPairs>
  <TitlesOfParts>
    <vt:vector size="27" baseType="lpstr">
      <vt:lpstr>Arial</vt:lpstr>
      <vt:lpstr>宋体</vt:lpstr>
      <vt:lpstr>Wingdings</vt:lpstr>
      <vt:lpstr>Wingdings</vt:lpstr>
      <vt:lpstr>-apple-system</vt:lpstr>
      <vt:lpstr>Segoe Print</vt:lpstr>
      <vt:lpstr>Gill Sans MT</vt:lpstr>
      <vt:lpstr>Arial</vt:lpstr>
      <vt:lpstr>Verdana</vt:lpstr>
      <vt:lpstr>微软雅黑</vt:lpstr>
      <vt:lpstr>Arial Unicode MS</vt:lpstr>
      <vt:lpstr>Calibri</vt:lpstr>
      <vt:lpstr>WPS</vt:lpstr>
      <vt:lpstr>简约风渐变几何通用模板</vt:lpstr>
      <vt:lpstr>20251020汇报</vt:lpstr>
      <vt:lpstr>完成任务</vt:lpstr>
      <vt:lpstr>Tutorial：探讨在消费级相机上常见的处理步骤</vt:lpstr>
      <vt:lpstr>Tutorial：Overview of in-camera imaging pipeline</vt:lpstr>
      <vt:lpstr>Mistakes  in the computer vision community regarding color</vt:lpstr>
      <vt:lpstr>​​Hardware-in-the-loop End-to-end Optimization of Camera Image Processing Pipelines</vt:lpstr>
      <vt:lpstr>PowerPoint 演示文稿</vt:lpstr>
      <vt:lpstr>Abandoning the Bayer-Filter to See in the Dark</vt:lpstr>
      <vt:lpstr>Image-Adaptive YOLO for Object Detection in Adverse Weather Conditions</vt:lpstr>
      <vt:lpstr>Neural Photo-Finishing</vt:lpstr>
      <vt:lpstr>You Only Need 90K Parameters to Adapt Right: a Light Weight Transformer for Image Enhancement and Exposure Correction</vt:lpstr>
      <vt:lpstr>DynamicISP: Dynamically Controlled Image Signal Processor for Image Recognition</vt:lpstr>
      <vt:lpstr>Enabling ISPless Low-Power Computer Vision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丨丨c</cp:lastModifiedBy>
  <cp:revision>172</cp:revision>
  <dcterms:created xsi:type="dcterms:W3CDTF">2019-06-19T02:08:00Z</dcterms:created>
  <dcterms:modified xsi:type="dcterms:W3CDTF">2025-10-20T08:44:13Z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2A40547D2B4F45B58CEDD44D0F25320A_11</vt:lpwstr>
  </property>
</Properties>
</file>