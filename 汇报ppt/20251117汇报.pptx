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7"/>
  </p:notesMasterIdLst>
  <p:sldIdLst>
    <p:sldId id="256" r:id="rId4"/>
    <p:sldId id="264" r:id="rId5"/>
    <p:sldId id="258" r:id="rId6"/>
    <p:sldId id="274" r:id="rId8"/>
    <p:sldId id="275" r:id="rId9"/>
    <p:sldId id="276" r:id="rId10"/>
    <p:sldId id="277" r:id="rId11"/>
    <p:sldId id="278" r:id="rId12"/>
    <p:sldId id="279" r:id="rId13"/>
    <p:sldId id="280" r:id="rId14"/>
    <p:sldId id="281" r:id="rId15"/>
    <p:sldId id="286" r:id="rId16"/>
    <p:sldId id="287" r:id="rId17"/>
    <p:sldId id="282" r:id="rId18"/>
    <p:sldId id="283" r:id="rId19"/>
    <p:sldId id="285"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notesMaster" Target="notesMasters/notesMaster1.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69.xml"/><Relationship Id="rId8" Type="http://schemas.openxmlformats.org/officeDocument/2006/relationships/tags" Target="../tags/tag68.xml"/><Relationship Id="rId7" Type="http://schemas.openxmlformats.org/officeDocument/2006/relationships/tags" Target="../tags/tag67.xml"/><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 Id="rId3" Type="http://schemas.openxmlformats.org/officeDocument/2006/relationships/image" Target="../media/image1.png"/><Relationship Id="rId2" Type="http://schemas.openxmlformats.org/officeDocument/2006/relationships/tags" Target="../tags/tag63.xml"/><Relationship Id="rId12" Type="http://schemas.openxmlformats.org/officeDocument/2006/relationships/tags" Target="../tags/tag72.xml"/><Relationship Id="rId11" Type="http://schemas.openxmlformats.org/officeDocument/2006/relationships/tags" Target="../tags/tag71.xml"/><Relationship Id="rId10" Type="http://schemas.openxmlformats.org/officeDocument/2006/relationships/tags" Target="../tags/tag70.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84.xml"/><Relationship Id="rId8" Type="http://schemas.openxmlformats.org/officeDocument/2006/relationships/tags" Target="../tags/tag83.xml"/><Relationship Id="rId7" Type="http://schemas.openxmlformats.org/officeDocument/2006/relationships/tags" Target="../tags/tag82.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image" Target="../media/image1.png"/><Relationship Id="rId2" Type="http://schemas.openxmlformats.org/officeDocument/2006/relationships/tags" Target="../tags/tag78.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image" Target="../media/image1.png"/><Relationship Id="rId2" Type="http://schemas.openxmlformats.org/officeDocument/2006/relationships/tags" Target="../tags/tag85.xml"/><Relationship Id="rId11" Type="http://schemas.openxmlformats.org/officeDocument/2006/relationships/tags" Target="../tags/tag93.xml"/><Relationship Id="rId10" Type="http://schemas.openxmlformats.org/officeDocument/2006/relationships/tags" Target="../tags/tag92.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99.xml"/><Relationship Id="rId6" Type="http://schemas.openxmlformats.org/officeDocument/2006/relationships/tags" Target="../tags/tag98.xml"/><Relationship Id="rId5" Type="http://schemas.openxmlformats.org/officeDocument/2006/relationships/tags" Target="../tags/tag97.xml"/><Relationship Id="rId4" Type="http://schemas.openxmlformats.org/officeDocument/2006/relationships/tags" Target="../tags/tag96.xml"/><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114.xml"/><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118.xml"/><Relationship Id="rId4" Type="http://schemas.openxmlformats.org/officeDocument/2006/relationships/tags" Target="../tags/tag117.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123.xml"/><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30.xml"/><Relationship Id="rId8" Type="http://schemas.openxmlformats.org/officeDocument/2006/relationships/tags" Target="../tags/tag129.xml"/><Relationship Id="rId7" Type="http://schemas.openxmlformats.org/officeDocument/2006/relationships/tags" Target="../tags/tag128.xml"/><Relationship Id="rId6" Type="http://schemas.openxmlformats.org/officeDocument/2006/relationships/tags" Target="../tags/tag127.xml"/><Relationship Id="rId5" Type="http://schemas.openxmlformats.org/officeDocument/2006/relationships/tags" Target="../tags/tag126.xml"/><Relationship Id="rId4" Type="http://schemas.openxmlformats.org/officeDocument/2006/relationships/tags" Target="../tags/tag125.xml"/><Relationship Id="rId3" Type="http://schemas.openxmlformats.org/officeDocument/2006/relationships/image" Target="../media/image1.png"/><Relationship Id="rId2" Type="http://schemas.openxmlformats.org/officeDocument/2006/relationships/tags" Target="../tags/tag124.xml"/><Relationship Id="rId12" Type="http://schemas.openxmlformats.org/officeDocument/2006/relationships/tags" Target="../tags/tag133.xml"/><Relationship Id="rId11" Type="http://schemas.openxmlformats.org/officeDocument/2006/relationships/tags" Target="../tags/tag132.xml"/><Relationship Id="rId10" Type="http://schemas.openxmlformats.org/officeDocument/2006/relationships/tags" Target="../tags/tag131.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custDataLst>
              <p:tags r:id="rId2"/>
            </p:custDataLst>
          </p:nvPr>
        </p:nvPicPr>
        <p:blipFill>
          <a:blip r:embed="rId3"/>
          <a:stretch>
            <a:fillRect/>
          </a:stretch>
        </p:blipFill>
        <p:spPr>
          <a:xfrm>
            <a:off x="0" y="0"/>
            <a:ext cx="12192000" cy="6858000"/>
          </a:xfrm>
          <a:prstGeom prst="rect">
            <a:avLst/>
          </a:prstGeom>
        </p:spPr>
      </p:pic>
      <p:sp>
        <p:nvSpPr>
          <p:cNvPr id="13" name="矩形 12"/>
          <p:cNvSpPr/>
          <p:nvPr userDrawn="1">
            <p:custDataLst>
              <p:tags r:id="rId4"/>
            </p:custDataLst>
          </p:nvPr>
        </p:nvSpPr>
        <p:spPr>
          <a:xfrm>
            <a:off x="0" y="0"/>
            <a:ext cx="12192000" cy="6858000"/>
          </a:xfrm>
          <a:prstGeom prst="rect">
            <a:avLst/>
          </a:prstGeom>
          <a:solidFill>
            <a:srgbClr val="FFFFFF">
              <a:alpha val="3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日期占位符 3"/>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7"/>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43" name="椭圆 42"/>
          <p:cNvSpPr/>
          <p:nvPr userDrawn="1">
            <p:custDataLst>
              <p:tags r:id="rId8"/>
            </p:custDataLst>
          </p:nvPr>
        </p:nvSpPr>
        <p:spPr>
          <a:xfrm rot="900000">
            <a:off x="5811677" y="952529"/>
            <a:ext cx="4952943" cy="4952943"/>
          </a:xfrm>
          <a:prstGeom prst="ellipse">
            <a:avLst/>
          </a:prstGeom>
          <a:gradFill flip="none" rotWithShape="1">
            <a:gsLst>
              <a:gs pos="34000">
                <a:schemeClr val="accent1">
                  <a:lumMod val="45000"/>
                  <a:lumOff val="55000"/>
                  <a:alpha val="0"/>
                </a:schemeClr>
              </a:gs>
              <a:gs pos="100000">
                <a:schemeClr val="accent1"/>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custDataLst>
              <p:tags r:id="rId9"/>
            </p:custDataLst>
          </p:nvPr>
        </p:nvSpPr>
        <p:spPr>
          <a:xfrm>
            <a:off x="1023853" y="3063673"/>
            <a:ext cx="10515600" cy="1800000"/>
          </a:xfrm>
        </p:spPr>
        <p:txBody>
          <a:bodyPr wrap="square" anchor="t">
            <a:normAutofit/>
          </a:bodyPr>
          <a:lstStyle>
            <a:lvl1pPr algn="l">
              <a:lnSpc>
                <a:spcPct val="100000"/>
              </a:lnSpc>
              <a:defRPr sz="5400" b="1">
                <a:solidFill>
                  <a:srgbClr val="3C3C3C"/>
                </a:solidFill>
              </a:defRPr>
            </a:lvl1pPr>
          </a:lstStyle>
          <a:p>
            <a:r>
              <a:rPr lang="zh-CN" altLang="en-US" dirty="0"/>
              <a:t>单击此处编辑母版标题样式</a:t>
            </a:r>
            <a:endParaRPr lang="zh-CN" altLang="en-US" dirty="0"/>
          </a:p>
        </p:txBody>
      </p:sp>
      <p:sp>
        <p:nvSpPr>
          <p:cNvPr id="3" name="副标题 2"/>
          <p:cNvSpPr>
            <a:spLocks noGrp="1"/>
          </p:cNvSpPr>
          <p:nvPr>
            <p:ph type="subTitle" idx="1" hasCustomPrompt="1"/>
            <p:custDataLst>
              <p:tags r:id="rId10"/>
            </p:custDataLst>
          </p:nvPr>
        </p:nvSpPr>
        <p:spPr>
          <a:xfrm>
            <a:off x="1023853" y="1513966"/>
            <a:ext cx="10515600" cy="1457452"/>
          </a:xfrm>
        </p:spPr>
        <p:txBody>
          <a:bodyPr wrap="square" anchor="b">
            <a:normAutofit/>
          </a:bodyPr>
          <a:lstStyle>
            <a:lvl1pPr marL="0" indent="0" algn="l">
              <a:lnSpc>
                <a:spcPct val="100000"/>
              </a:lnSpc>
              <a:buNone/>
              <a:defRPr sz="40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0" name="公司名占位符 6"/>
          <p:cNvSpPr>
            <a:spLocks noGrp="1"/>
          </p:cNvSpPr>
          <p:nvPr>
            <p:ph type="body" sz="quarter" idx="13" hasCustomPrompt="1"/>
            <p:custDataLst>
              <p:tags r:id="rId11"/>
            </p:custDataLst>
          </p:nvPr>
        </p:nvSpPr>
        <p:spPr>
          <a:xfrm>
            <a:off x="1023618" y="504000"/>
            <a:ext cx="2880000" cy="504000"/>
          </a:xfrm>
        </p:spPr>
        <p:txBody>
          <a:bodyPr wrap="square" anchor="ctr">
            <a:normAutofit/>
          </a:bodyPr>
          <a:lstStyle>
            <a:lvl1pPr marL="0" indent="0">
              <a:lnSpc>
                <a:spcPct val="100000"/>
              </a:lnSpc>
              <a:buNone/>
              <a:defRPr sz="1800" b="1">
                <a:solidFill>
                  <a:schemeClr val="accent1"/>
                </a:solidFill>
              </a:defRPr>
            </a:lvl1pPr>
          </a:lstStyle>
          <a:p>
            <a:pPr lvl="0"/>
            <a:r>
              <a:rPr lang="zh-CN" altLang="en-US" dirty="0"/>
              <a:t>公司名</a:t>
            </a:r>
            <a:endParaRPr lang="zh-CN" altLang="en-US" dirty="0"/>
          </a:p>
        </p:txBody>
      </p:sp>
      <p:sp>
        <p:nvSpPr>
          <p:cNvPr id="24" name="署名占位符 10"/>
          <p:cNvSpPr>
            <a:spLocks noGrp="1"/>
          </p:cNvSpPr>
          <p:nvPr>
            <p:ph type="body" sz="quarter" idx="17" hasCustomPrompt="1"/>
            <p:custDataLst>
              <p:tags r:id="rId12"/>
            </p:custDataLst>
          </p:nvPr>
        </p:nvSpPr>
        <p:spPr>
          <a:xfrm>
            <a:off x="1023853" y="4925628"/>
            <a:ext cx="2303547" cy="504000"/>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800" b="1">
                <a:solidFill>
                  <a:srgbClr val="FFFFFF"/>
                </a:solidFill>
              </a:defRPr>
            </a:lvl1pPr>
          </a:lstStyle>
          <a:p>
            <a:pPr lvl="0"/>
            <a:r>
              <a:rPr lang="zh-CN" altLang="en-US" dirty="0"/>
              <a:t>署名</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pic>
        <p:nvPicPr>
          <p:cNvPr id="3" name="图片 2" descr="背景图案&#10;&#10;描述已自动生成"/>
          <p:cNvPicPr>
            <a:picLocks noChangeAspect="1"/>
          </p:cNvPicPr>
          <p:nvPr userDrawn="1">
            <p:custDataLst>
              <p:tags r:id="rId2"/>
            </p:custDataLst>
          </p:nvPr>
        </p:nvPicPr>
        <p:blipFill>
          <a:blip r:embed="rId3"/>
          <a:stretch>
            <a:fillRect/>
          </a:stretch>
        </p:blipFill>
        <p:spPr>
          <a:xfrm>
            <a:off x="0" y="0"/>
            <a:ext cx="12192000" cy="6858000"/>
          </a:xfrm>
          <a:prstGeom prst="rect">
            <a:avLst/>
          </a:prstGeom>
        </p:spPr>
      </p:pic>
      <p:sp>
        <p:nvSpPr>
          <p:cNvPr id="5" name="矩形 4"/>
          <p:cNvSpPr/>
          <p:nvPr userDrawn="1">
            <p:custDataLst>
              <p:tags r:id="rId4"/>
            </p:custDataLst>
          </p:nvPr>
        </p:nvSpPr>
        <p:spPr>
          <a:xfrm>
            <a:off x="0" y="0"/>
            <a:ext cx="12192000" cy="6858000"/>
          </a:xfrm>
          <a:prstGeom prst="rect">
            <a:avLst/>
          </a:prstGeom>
          <a:solidFill>
            <a:srgbClr val="FFFFFF">
              <a:alpha val="3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日期占位符 3"/>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6"/>
            </p:custDataLst>
          </p:nvPr>
        </p:nvSpPr>
        <p:spPr/>
        <p:txBody>
          <a:bodyPr/>
          <a:lstStyle/>
          <a:p>
            <a:endParaRPr lang="zh-CN" altLang="en-US"/>
          </a:p>
        </p:txBody>
      </p:sp>
      <p:sp>
        <p:nvSpPr>
          <p:cNvPr id="9" name="灯片编号占位符 5"/>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
        <p:nvSpPr>
          <p:cNvPr id="10" name="椭圆 9"/>
          <p:cNvSpPr/>
          <p:nvPr userDrawn="1">
            <p:custDataLst>
              <p:tags r:id="rId8"/>
            </p:custDataLst>
          </p:nvPr>
        </p:nvSpPr>
        <p:spPr>
          <a:xfrm>
            <a:off x="75048" y="1292920"/>
            <a:ext cx="4272161" cy="4272161"/>
          </a:xfrm>
          <a:prstGeom prst="ellipse">
            <a:avLst/>
          </a:prstGeom>
          <a:gradFill flip="none" rotWithShape="1">
            <a:gsLst>
              <a:gs pos="34000">
                <a:schemeClr val="accent1">
                  <a:lumMod val="45000"/>
                  <a:lumOff val="55000"/>
                  <a:alpha val="0"/>
                </a:schemeClr>
              </a:gs>
              <a:gs pos="100000">
                <a:schemeClr val="accent1"/>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9"/>
            </p:custDataLst>
          </p:nvPr>
        </p:nvSpPr>
        <p:spPr>
          <a:xfrm>
            <a:off x="1467485" y="2386012"/>
            <a:ext cx="2880000" cy="1081088"/>
          </a:xfrm>
        </p:spPr>
        <p:txBody>
          <a:bodyPr wrap="square" anchor="b">
            <a:normAutofit/>
          </a:bodyPr>
          <a:lstStyle>
            <a:lvl1pPr>
              <a:defRPr sz="6000">
                <a:solidFill>
                  <a:srgbClr val="3C3C3C"/>
                </a:solidFill>
              </a:defRPr>
            </a:lvl1pPr>
          </a:lstStyle>
          <a:p>
            <a:r>
              <a:rPr lang="zh-CN" altLang="en-US" dirty="0"/>
              <a:t>标题</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custDataLst>
              <p:tags r:id="rId2"/>
            </p:custDataLst>
          </p:nvPr>
        </p:nvPicPr>
        <p:blipFill>
          <a:blip r:embed="rId3"/>
          <a:stretch>
            <a:fillRect/>
          </a:stretch>
        </p:blipFill>
        <p:spPr>
          <a:xfrm>
            <a:off x="0" y="0"/>
            <a:ext cx="12192000" cy="6858000"/>
          </a:xfrm>
          <a:prstGeom prst="rect">
            <a:avLst/>
          </a:prstGeom>
        </p:spPr>
      </p:pic>
      <p:sp>
        <p:nvSpPr>
          <p:cNvPr id="11" name="矩形 10"/>
          <p:cNvSpPr/>
          <p:nvPr userDrawn="1">
            <p:custDataLst>
              <p:tags r:id="rId4"/>
            </p:custDataLst>
          </p:nvPr>
        </p:nvSpPr>
        <p:spPr>
          <a:xfrm>
            <a:off x="0" y="0"/>
            <a:ext cx="12192000" cy="6858000"/>
          </a:xfrm>
          <a:prstGeom prst="rect">
            <a:avLst/>
          </a:prstGeom>
          <a:solidFill>
            <a:srgbClr val="FFFFFF">
              <a:alpha val="3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6"/>
            </p:custDataLst>
          </p:nvPr>
        </p:nvSpPr>
        <p:spPr/>
        <p:txBody>
          <a:bodyPr/>
          <a:lstStyle/>
          <a:p>
            <a:endParaRPr lang="zh-CN" altLang="en-US"/>
          </a:p>
        </p:txBody>
      </p:sp>
      <p:sp>
        <p:nvSpPr>
          <p:cNvPr id="6"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
        <p:nvSpPr>
          <p:cNvPr id="9" name="椭圆 8"/>
          <p:cNvSpPr/>
          <p:nvPr userDrawn="1">
            <p:custDataLst>
              <p:tags r:id="rId8"/>
            </p:custDataLst>
          </p:nvPr>
        </p:nvSpPr>
        <p:spPr>
          <a:xfrm>
            <a:off x="6411944" y="931202"/>
            <a:ext cx="4399471" cy="4399471"/>
          </a:xfrm>
          <a:prstGeom prst="ellipse">
            <a:avLst/>
          </a:prstGeom>
          <a:gradFill flip="none" rotWithShape="1">
            <a:gsLst>
              <a:gs pos="34000">
                <a:schemeClr val="accent1">
                  <a:lumMod val="45000"/>
                  <a:lumOff val="55000"/>
                  <a:alpha val="0"/>
                </a:schemeClr>
              </a:gs>
              <a:gs pos="100000">
                <a:schemeClr val="accent1"/>
              </a:gs>
            </a:gsLst>
            <a:lin ang="19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custDataLst>
              <p:tags r:id="rId9"/>
            </p:custDataLst>
          </p:nvPr>
        </p:nvSpPr>
        <p:spPr>
          <a:xfrm>
            <a:off x="4300792" y="3016638"/>
            <a:ext cx="6252908" cy="2513584"/>
          </a:xfrm>
        </p:spPr>
        <p:txBody>
          <a:bodyPr wrap="square" anchor="t">
            <a:normAutofit/>
          </a:bodyPr>
          <a:lstStyle>
            <a:lvl1pPr algn="l">
              <a:defRPr sz="6000">
                <a:solidFill>
                  <a:srgbClr val="3C3C3C"/>
                </a:solidFill>
              </a:defRPr>
            </a:lvl1pPr>
          </a:lstStyle>
          <a:p>
            <a:r>
              <a:rPr lang="zh-CN" altLang="en-US" dirty="0"/>
              <a:t>单击此处编辑母版标题样式</a:t>
            </a:r>
            <a:endParaRPr lang="zh-CN" altLang="en-US" dirty="0"/>
          </a:p>
        </p:txBody>
      </p:sp>
      <p:sp>
        <p:nvSpPr>
          <p:cNvPr id="3" name="文本占位符 2"/>
          <p:cNvSpPr>
            <a:spLocks noGrp="1"/>
          </p:cNvSpPr>
          <p:nvPr>
            <p:ph type="body" idx="1" hasCustomPrompt="1"/>
            <p:custDataLst>
              <p:tags r:id="rId10"/>
            </p:custDataLst>
          </p:nvPr>
        </p:nvSpPr>
        <p:spPr>
          <a:xfrm>
            <a:off x="4300855" y="1257935"/>
            <a:ext cx="6252845" cy="1671320"/>
          </a:xfrm>
        </p:spPr>
        <p:txBody>
          <a:bodyPr wrap="square" anchor="b">
            <a:normAutofit/>
          </a:bodyPr>
          <a:lstStyle>
            <a:lvl1pPr marL="0" indent="0" algn="l">
              <a:buNone/>
              <a:defRPr sz="2400" b="1">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单击此处编辑副标题</a:t>
            </a:r>
            <a:endParaRPr lang="zh-CN" altLang="en-US" dirty="0"/>
          </a:p>
        </p:txBody>
      </p:sp>
      <p:sp>
        <p:nvSpPr>
          <p:cNvPr id="8" name="节编号 3"/>
          <p:cNvSpPr>
            <a:spLocks noGrp="1"/>
          </p:cNvSpPr>
          <p:nvPr>
            <p:ph type="body" sz="quarter" idx="13" hasCustomPrompt="1"/>
            <p:custDataLst>
              <p:tags r:id="rId11"/>
            </p:custDataLst>
          </p:nvPr>
        </p:nvSpPr>
        <p:spPr>
          <a:xfrm>
            <a:off x="1149382" y="1866277"/>
            <a:ext cx="3043199" cy="2587225"/>
          </a:xfrm>
        </p:spPr>
        <p:txBody>
          <a:bodyPr wrap="none" anchor="ctr">
            <a:normAutofit/>
          </a:bodyPr>
          <a:lstStyle>
            <a:lvl1pPr marL="0" indent="0" algn="r">
              <a:buNone/>
              <a:defRPr sz="11500" b="1">
                <a:solidFill>
                  <a:schemeClr val="accent1"/>
                </a:solidFill>
                <a:latin typeface="+mn-ea"/>
                <a:ea typeface="+mn-ea"/>
              </a:defRPr>
            </a:lvl1pPr>
          </a:lstStyle>
          <a:p>
            <a:pPr lvl="0"/>
            <a:r>
              <a:rPr lang="zh-CN" altLang="en-US" dirty="0"/>
              <a:t>编号</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b">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69596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4"/>
            </p:custDataLst>
          </p:nvPr>
        </p:nvSpPr>
        <p:spPr>
          <a:xfrm>
            <a:off x="617220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hasCustomPrompt="1"/>
            <p:custDataLst>
              <p:tags r:id="rId4"/>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
        <p:nvSpPr>
          <p:cNvPr id="10" name="标题 9"/>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695960" y="360045"/>
            <a:ext cx="10801985" cy="581787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custDataLst>
              <p:tags r:id="rId2"/>
            </p:custDataLst>
          </p:nvPr>
        </p:nvPicPr>
        <p:blipFill>
          <a:blip r:embed="rId3"/>
          <a:stretch>
            <a:fillRect/>
          </a:stretch>
        </p:blipFill>
        <p:spPr>
          <a:xfrm flipH="1">
            <a:off x="0" y="0"/>
            <a:ext cx="12192000" cy="6858000"/>
          </a:xfrm>
          <a:prstGeom prst="rect">
            <a:avLst/>
          </a:prstGeom>
        </p:spPr>
      </p:pic>
      <p:sp>
        <p:nvSpPr>
          <p:cNvPr id="11" name="矩形 10"/>
          <p:cNvSpPr/>
          <p:nvPr userDrawn="1">
            <p:custDataLst>
              <p:tags r:id="rId4"/>
            </p:custDataLst>
          </p:nvPr>
        </p:nvSpPr>
        <p:spPr>
          <a:xfrm>
            <a:off x="0" y="0"/>
            <a:ext cx="12192000" cy="6858000"/>
          </a:xfrm>
          <a:prstGeom prst="rect">
            <a:avLst/>
          </a:prstGeom>
          <a:solidFill>
            <a:srgbClr val="FFFFFF">
              <a:alpha val="3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日期占位符 3"/>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8" name="椭圆 7"/>
          <p:cNvSpPr/>
          <p:nvPr userDrawn="1">
            <p:custDataLst>
              <p:tags r:id="rId8"/>
            </p:custDataLst>
          </p:nvPr>
        </p:nvSpPr>
        <p:spPr>
          <a:xfrm flipH="1">
            <a:off x="1427380" y="952529"/>
            <a:ext cx="4952943" cy="4952943"/>
          </a:xfrm>
          <a:prstGeom prst="ellipse">
            <a:avLst/>
          </a:prstGeom>
          <a:gradFill flip="none" rotWithShape="1">
            <a:gsLst>
              <a:gs pos="30000">
                <a:schemeClr val="accent1">
                  <a:lumMod val="45000"/>
                  <a:lumOff val="55000"/>
                  <a:alpha val="0"/>
                </a:schemeClr>
              </a:gs>
              <a:gs pos="100000">
                <a:schemeClr val="accent1"/>
              </a:gs>
            </a:gsLst>
            <a:lin ang="19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hasCustomPrompt="1"/>
            <p:custDataLst>
              <p:tags r:id="rId9"/>
            </p:custDataLst>
          </p:nvPr>
        </p:nvSpPr>
        <p:spPr>
          <a:xfrm>
            <a:off x="2133601" y="2849163"/>
            <a:ext cx="9126462" cy="1800000"/>
          </a:xfrm>
        </p:spPr>
        <p:txBody>
          <a:bodyPr wrap="square" anchor="t">
            <a:normAutofit/>
          </a:bodyPr>
          <a:lstStyle>
            <a:lvl1pPr algn="r">
              <a:lnSpc>
                <a:spcPct val="100000"/>
              </a:lnSpc>
              <a:defRPr sz="6600">
                <a:solidFill>
                  <a:srgbClr val="3C3C3C"/>
                </a:solidFill>
              </a:defRPr>
            </a:lvl1pPr>
          </a:lstStyle>
          <a:p>
            <a:r>
              <a:rPr lang="zh-CN" altLang="en-US" dirty="0"/>
              <a:t>单击编辑母版标题</a:t>
            </a:r>
            <a:endParaRPr lang="zh-CN" altLang="en-US" dirty="0"/>
          </a:p>
        </p:txBody>
      </p:sp>
      <p:sp>
        <p:nvSpPr>
          <p:cNvPr id="3" name="副标题 2"/>
          <p:cNvSpPr>
            <a:spLocks noGrp="1"/>
          </p:cNvSpPr>
          <p:nvPr>
            <p:ph type="subTitle" idx="1" hasCustomPrompt="1"/>
            <p:custDataLst>
              <p:tags r:id="rId10"/>
            </p:custDataLst>
          </p:nvPr>
        </p:nvSpPr>
        <p:spPr>
          <a:xfrm>
            <a:off x="2133600" y="1400810"/>
            <a:ext cx="9126220" cy="1368425"/>
          </a:xfrm>
        </p:spPr>
        <p:txBody>
          <a:bodyPr wrap="square" anchor="b">
            <a:normAutofit/>
          </a:bodyPr>
          <a:lstStyle>
            <a:lvl1pPr marL="0" indent="0" algn="r">
              <a:lnSpc>
                <a:spcPct val="100000"/>
              </a:lnSpc>
              <a:buNone/>
              <a:defRPr sz="44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0" name="公司名占位符 6"/>
          <p:cNvSpPr>
            <a:spLocks noGrp="1"/>
          </p:cNvSpPr>
          <p:nvPr>
            <p:ph type="body" sz="quarter" idx="13" hasCustomPrompt="1"/>
            <p:custDataLst>
              <p:tags r:id="rId11"/>
            </p:custDataLst>
          </p:nvPr>
        </p:nvSpPr>
        <p:spPr>
          <a:xfrm>
            <a:off x="8380490" y="558000"/>
            <a:ext cx="2880000" cy="504000"/>
          </a:xfrm>
        </p:spPr>
        <p:txBody>
          <a:bodyPr wrap="square" anchor="ctr">
            <a:normAutofit/>
          </a:bodyPr>
          <a:lstStyle>
            <a:lvl1pPr marL="0" indent="0" algn="r">
              <a:lnSpc>
                <a:spcPct val="100000"/>
              </a:lnSpc>
              <a:buNone/>
              <a:defRPr sz="1800" b="1">
                <a:solidFill>
                  <a:schemeClr val="accent1"/>
                </a:solidFill>
              </a:defRPr>
            </a:lvl1pPr>
          </a:lstStyle>
          <a:p>
            <a:pPr lvl="0"/>
            <a:r>
              <a:rPr lang="zh-CN" altLang="en-US" dirty="0"/>
              <a:t>公司名</a:t>
            </a:r>
            <a:endParaRPr lang="zh-CN" altLang="en-US" dirty="0"/>
          </a:p>
        </p:txBody>
      </p:sp>
      <p:sp>
        <p:nvSpPr>
          <p:cNvPr id="24" name="署名占位符 10"/>
          <p:cNvSpPr>
            <a:spLocks noGrp="1"/>
          </p:cNvSpPr>
          <p:nvPr>
            <p:ph type="body" sz="quarter" idx="17" hasCustomPrompt="1"/>
            <p:custDataLst>
              <p:tags r:id="rId12"/>
            </p:custDataLst>
          </p:nvPr>
        </p:nvSpPr>
        <p:spPr>
          <a:xfrm>
            <a:off x="8956063" y="4849527"/>
            <a:ext cx="2304000" cy="504000"/>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800" b="1">
                <a:solidFill>
                  <a:srgbClr val="FFFFFF"/>
                </a:solidFill>
              </a:defRPr>
            </a:lvl1pPr>
          </a:lstStyle>
          <a:p>
            <a:pPr lvl="0"/>
            <a:r>
              <a:rPr lang="zh-CN" altLang="en-US" dirty="0"/>
              <a:t>署名</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1" Type="http://schemas.openxmlformats.org/officeDocument/2006/relationships/theme" Target="../theme/theme2.xml"/><Relationship Id="rId20" Type="http://schemas.openxmlformats.org/officeDocument/2006/relationships/tags" Target="../tags/tag141.xml"/><Relationship Id="rId2" Type="http://schemas.openxmlformats.org/officeDocument/2006/relationships/slideLayout" Target="../slideLayouts/slideLayout13.xml"/><Relationship Id="rId19" Type="http://schemas.openxmlformats.org/officeDocument/2006/relationships/tags" Target="../tags/tag140.xml"/><Relationship Id="rId18" Type="http://schemas.openxmlformats.org/officeDocument/2006/relationships/tags" Target="../tags/tag139.xml"/><Relationship Id="rId17" Type="http://schemas.openxmlformats.org/officeDocument/2006/relationships/tags" Target="../tags/tag138.xml"/><Relationship Id="rId16" Type="http://schemas.openxmlformats.org/officeDocument/2006/relationships/tags" Target="../tags/tag137.xml"/><Relationship Id="rId15" Type="http://schemas.openxmlformats.org/officeDocument/2006/relationships/tags" Target="../tags/tag136.xml"/><Relationship Id="rId14" Type="http://schemas.openxmlformats.org/officeDocument/2006/relationships/tags" Target="../tags/tag135.xml"/><Relationship Id="rId13" Type="http://schemas.openxmlformats.org/officeDocument/2006/relationships/image" Target="../media/image1.png"/><Relationship Id="rId12" Type="http://schemas.openxmlformats.org/officeDocument/2006/relationships/tags" Target="../tags/tag134.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8" name="图片 7" descr="背景图案&#10;&#10;描述已自动生成"/>
          <p:cNvPicPr>
            <a:picLocks noChangeAspect="1"/>
          </p:cNvPicPr>
          <p:nvPr userDrawn="1">
            <p:custDataLst>
              <p:tags r:id="rId12"/>
            </p:custDataLst>
          </p:nvPr>
        </p:nvPicPr>
        <p:blipFill>
          <a:blip r:embed="rId13"/>
          <a:stretch>
            <a:fillRect/>
          </a:stretch>
        </p:blipFill>
        <p:spPr>
          <a:xfrm>
            <a:off x="0" y="0"/>
            <a:ext cx="12192000" cy="6858000"/>
          </a:xfrm>
          <a:prstGeom prst="rect">
            <a:avLst/>
          </a:prstGeom>
        </p:spPr>
      </p:pic>
      <p:sp>
        <p:nvSpPr>
          <p:cNvPr id="9" name="矩形 8"/>
          <p:cNvSpPr/>
          <p:nvPr userDrawn="1">
            <p:custDataLst>
              <p:tags r:id="rId14"/>
            </p:custDataLst>
          </p:nvPr>
        </p:nvSpPr>
        <p:spPr>
          <a:xfrm>
            <a:off x="0" y="0"/>
            <a:ext cx="12192000" cy="6858000"/>
          </a:xfrm>
          <a:prstGeom prst="rect">
            <a:avLst/>
          </a:prstGeom>
          <a:solidFill>
            <a:srgbClr val="FFFFFF">
              <a:alpha val="3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标题占位符 1"/>
          <p:cNvSpPr>
            <a:spLocks noGrp="1"/>
          </p:cNvSpPr>
          <p:nvPr>
            <p:ph type="title"/>
            <p:custDataLst>
              <p:tags r:id="rId15"/>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6"/>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17"/>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8"/>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9"/>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10" name="KSO_TEMPLATE" hidden="1"/>
          <p:cNvSpPr/>
          <p:nvPr userDrawn="1">
            <p:custDataLst>
              <p:tags r:id="rId2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100000"/>
        </a:lnSpc>
        <a:spcBef>
          <a:spcPct val="0"/>
        </a:spcBef>
        <a:buNone/>
        <a:defRPr sz="3200" b="1" kern="1200">
          <a:solidFill>
            <a:srgbClr val="3C3C3C"/>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rgbClr val="3C3C3C"/>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rgbClr val="3C3C3C"/>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rgbClr val="3C3C3C"/>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rgbClr val="3C3C3C"/>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rgbClr val="3C3C3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145.xml"/><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tags" Target="../tags/tag142.xml"/></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tags" Target="../tags/tag148.xml"/><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tags" Target="../tags/tag147.xml"/><Relationship Id="rId1" Type="http://schemas.openxmlformats.org/officeDocument/2006/relationships/tags" Target="../tags/tag146.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8.xml"/><Relationship Id="rId2" Type="http://schemas.openxmlformats.org/officeDocument/2006/relationships/tags" Target="../tags/tag150.xml"/><Relationship Id="rId1" Type="http://schemas.openxmlformats.org/officeDocument/2006/relationships/tags" Target="../tags/tag149.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51.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8.xml"/><Relationship Id="rId2" Type="http://schemas.openxmlformats.org/officeDocument/2006/relationships/tags" Target="../tags/tag152.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53.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8.xml"/><Relationship Id="rId3" Type="http://schemas.openxmlformats.org/officeDocument/2006/relationships/tags" Target="../tags/tag154.xml"/><Relationship Id="rId2" Type="http://schemas.openxmlformats.org/officeDocument/2006/relationships/image" Target="../media/image11.png"/><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8.xml"/><Relationship Id="rId2" Type="http://schemas.openxmlformats.org/officeDocument/2006/relationships/tags" Target="../tags/tag155.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18.xml"/><Relationship Id="rId5" Type="http://schemas.openxmlformats.org/officeDocument/2006/relationships/tags" Target="../tags/tag156.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tags" Target="../tags/tag157.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159.xml"/><Relationship Id="rId2" Type="http://schemas.openxmlformats.org/officeDocument/2006/relationships/image" Target="../media/image20.png"/><Relationship Id="rId1" Type="http://schemas.openxmlformats.org/officeDocument/2006/relationships/tags" Target="../tags/tag158.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60.xml"/><Relationship Id="rId1"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61.xml"/><Relationship Id="rId1" Type="http://schemas.openxmlformats.org/officeDocument/2006/relationships/image" Target="../media/image22.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162.xml"/><Relationship Id="rId2" Type="http://schemas.openxmlformats.org/officeDocument/2006/relationships/image" Target="../media/image24.png"/><Relationship Id="rId1" Type="http://schemas.openxmlformats.org/officeDocument/2006/relationships/image" Target="../media/image23.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8.xml"/><Relationship Id="rId2" Type="http://schemas.openxmlformats.org/officeDocument/2006/relationships/tags" Target="../tags/tag163.xml"/><Relationship Id="rId1"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64.xml"/><Relationship Id="rId1"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p:cNvSpPr>
            <a:spLocks noGrp="1"/>
          </p:cNvSpPr>
          <p:nvPr>
            <p:ph type="ctrTitle"/>
            <p:custDataLst>
              <p:tags r:id="rId1"/>
            </p:custDataLst>
          </p:nvPr>
        </p:nvSpPr>
        <p:spPr>
          <a:xfrm>
            <a:off x="1023620" y="3063875"/>
            <a:ext cx="10515600" cy="968375"/>
          </a:xfrm>
        </p:spPr>
        <p:txBody>
          <a:bodyPr/>
          <a:p>
            <a:r>
              <a:rPr lang="en-US" altLang="zh-CN"/>
              <a:t>20251117</a:t>
            </a:r>
            <a:r>
              <a:rPr lang="zh-CN" altLang="en-US"/>
              <a:t>汇报</a:t>
            </a:r>
            <a:endParaRPr lang="zh-CN" altLang="en-US"/>
          </a:p>
        </p:txBody>
      </p:sp>
      <p:sp>
        <p:nvSpPr>
          <p:cNvPr id="7" name="副标题"/>
          <p:cNvSpPr>
            <a:spLocks noGrp="1"/>
          </p:cNvSpPr>
          <p:nvPr>
            <p:ph type="subTitle" idx="1"/>
            <p:custDataLst>
              <p:tags r:id="rId2"/>
            </p:custDataLst>
          </p:nvPr>
        </p:nvSpPr>
        <p:spPr/>
        <p:txBody>
          <a:bodyPr/>
          <a:p>
            <a:r>
              <a:rPr lang="zh-CN" altLang="en-US"/>
              <a:t>深度学习</a:t>
            </a:r>
            <a:r>
              <a:rPr lang="en-US" altLang="zh-CN"/>
              <a:t>-ISP</a:t>
            </a:r>
            <a:r>
              <a:rPr lang="zh-CN" altLang="en-US"/>
              <a:t>图像</a:t>
            </a:r>
            <a:r>
              <a:rPr lang="zh-CN" altLang="en-US"/>
              <a:t>处理</a:t>
            </a:r>
            <a:endParaRPr lang="zh-CN" altLang="en-US"/>
          </a:p>
        </p:txBody>
      </p:sp>
      <p:sp>
        <p:nvSpPr>
          <p:cNvPr id="10" name="署名"/>
          <p:cNvSpPr>
            <a:spLocks noGrp="1"/>
          </p:cNvSpPr>
          <p:nvPr>
            <p:custDataLst>
              <p:tags r:id="rId3"/>
            </p:custDataLst>
          </p:nvPr>
        </p:nvSpPr>
        <p:spPr>
          <a:xfrm>
            <a:off x="1023853" y="4925628"/>
            <a:ext cx="2303547" cy="504000"/>
          </a:xfrm>
          <a:prstGeom prst="roundRect">
            <a:avLst>
              <a:gd name="adj" fmla="val 50000"/>
            </a:avLst>
          </a:prstGeom>
          <a:solidFill>
            <a:schemeClr val="accent1"/>
          </a:solidFill>
        </p:spPr>
        <p:txBody>
          <a:bodyPr vert="horz" wrap="square" lIns="0" tIns="0" rIns="0" bIns="0" rtlCol="0" anchor="ctr">
            <a:normAutofit/>
          </a:bodyPr>
          <a:lstStyle>
            <a:lvl1pPr marL="0" indent="0" algn="ctr" defTabSz="914400" rtl="0" eaLnBrk="1" latinLnBrk="0" hangingPunct="1">
              <a:lnSpc>
                <a:spcPct val="100000"/>
              </a:lnSpc>
              <a:spcBef>
                <a:spcPts val="1000"/>
              </a:spcBef>
              <a:buFont typeface="Arial" panose="020B0604020202020204" pitchFamily="34" charset="0"/>
              <a:buNone/>
              <a:defRPr sz="1800" b="1" kern="1200">
                <a:solidFill>
                  <a:srgbClr val="FFFFFF"/>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rgbClr val="3C3C3C"/>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rgbClr val="3C3C3C"/>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rgbClr val="3C3C3C"/>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rgbClr val="3C3C3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solidFill>
                  <a:schemeClr val="tx1"/>
                </a:solidFill>
              </a:rPr>
              <a:t>汇报人：</a:t>
            </a:r>
            <a:r>
              <a:rPr lang="zh-CN" altLang="en-US">
                <a:solidFill>
                  <a:schemeClr val="tx1"/>
                </a:solidFill>
              </a:rPr>
              <a:t>陈银素</a:t>
            </a:r>
            <a:endParaRPr lang="zh-CN" altLang="en-US">
              <a:solidFill>
                <a:schemeClr val="tx1"/>
              </a:solidFill>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完成</a:t>
            </a:r>
            <a:r>
              <a:rPr lang="zh-CN" altLang="en-US"/>
              <a:t>任务</a:t>
            </a:r>
            <a:endParaRPr lang="zh-CN" altLang="en-US"/>
          </a:p>
        </p:txBody>
      </p:sp>
      <p:sp>
        <p:nvSpPr>
          <p:cNvPr id="3" name="内容占位符 2"/>
          <p:cNvSpPr>
            <a:spLocks noGrp="1"/>
          </p:cNvSpPr>
          <p:nvPr>
            <p:ph idx="1"/>
            <p:custDataLst>
              <p:tags r:id="rId2"/>
            </p:custDataLst>
          </p:nvPr>
        </p:nvSpPr>
        <p:spPr>
          <a:xfrm>
            <a:off x="695960" y="1169670"/>
            <a:ext cx="11155045" cy="4873625"/>
          </a:xfrm>
        </p:spPr>
        <p:txBody>
          <a:bodyPr>
            <a:normAutofit lnSpcReduction="10000"/>
          </a:bodyPr>
          <a:p>
            <a:r>
              <a:rPr lang="zh-CN" altLang="en-US" b="1"/>
              <a:t>细读论文</a:t>
            </a:r>
            <a:r>
              <a:rPr lang="zh-CN" altLang="en-US"/>
              <a:t>：</a:t>
            </a:r>
            <a:endParaRPr lang="zh-CN" altLang="en-US"/>
          </a:p>
          <a:p>
            <a:endParaRPr lang="zh-CN" altLang="en-US"/>
          </a:p>
          <a:p>
            <a:endParaRPr lang="zh-CN" altLang="en-US"/>
          </a:p>
          <a:p>
            <a:endParaRPr lang="zh-CN" altLang="en-US"/>
          </a:p>
          <a:p>
            <a:r>
              <a:rPr lang="zh-CN" altLang="en-US" b="1"/>
              <a:t>梳理低光图像增强论文</a:t>
            </a:r>
            <a:r>
              <a:rPr lang="zh-CN" altLang="en-US"/>
              <a:t>：</a:t>
            </a:r>
            <a:r>
              <a:rPr lang="en-US" altLang="zh-CN"/>
              <a:t>1.</a:t>
            </a:r>
            <a:r>
              <a:rPr lang="zh-CN" altLang="en-US"/>
              <a:t>《</a:t>
            </a:r>
            <a:r>
              <a:rPr lang="en-US" altLang="zh-CN"/>
              <a:t>Learning to See in the Dark</a:t>
            </a:r>
            <a:r>
              <a:rPr lang="zh-CN" altLang="en-US"/>
              <a:t>》（</a:t>
            </a:r>
            <a:r>
              <a:rPr lang="en-US" altLang="zh-CN"/>
              <a:t>CVPR 2018</a:t>
            </a:r>
            <a:r>
              <a:rPr lang="zh-CN" altLang="en-US"/>
              <a:t>）</a:t>
            </a:r>
            <a:endParaRPr lang="zh-CN" altLang="en-US"/>
          </a:p>
          <a:p>
            <a:r>
              <a:rPr lang="en-US" altLang="zh-CN"/>
              <a:t>2.</a:t>
            </a:r>
            <a:r>
              <a:rPr lang="en-US" altLang="zh-CN">
                <a:sym typeface="+mn-ea"/>
              </a:rPr>
              <a:t>DNF: Decouple and Feedback Network for Seeing in the Dar</a:t>
            </a:r>
            <a:endParaRPr lang="zh-CN" altLang="en-US"/>
          </a:p>
          <a:p>
            <a:r>
              <a:rPr lang="zh-CN" altLang="en-US" b="1"/>
              <a:t>配置实验环境</a:t>
            </a:r>
            <a:endParaRPr lang="zh-CN" altLang="en-US" b="1"/>
          </a:p>
        </p:txBody>
      </p:sp>
      <p:pic>
        <p:nvPicPr>
          <p:cNvPr id="6" name="图片 5"/>
          <p:cNvPicPr>
            <a:picLocks noChangeAspect="1"/>
          </p:cNvPicPr>
          <p:nvPr/>
        </p:nvPicPr>
        <p:blipFill>
          <a:blip r:embed="rId3"/>
          <a:stretch>
            <a:fillRect/>
          </a:stretch>
        </p:blipFill>
        <p:spPr>
          <a:xfrm>
            <a:off x="2661285" y="360045"/>
            <a:ext cx="4305935" cy="2432050"/>
          </a:xfrm>
          <a:prstGeom prst="rect">
            <a:avLst/>
          </a:prstGeom>
        </p:spPr>
      </p:pic>
      <p:pic>
        <p:nvPicPr>
          <p:cNvPr id="7" name="图片 6"/>
          <p:cNvPicPr>
            <a:picLocks noChangeAspect="1"/>
          </p:cNvPicPr>
          <p:nvPr/>
        </p:nvPicPr>
        <p:blipFill>
          <a:blip r:embed="rId4"/>
          <a:stretch>
            <a:fillRect/>
          </a:stretch>
        </p:blipFill>
        <p:spPr>
          <a:xfrm>
            <a:off x="6696710" y="708025"/>
            <a:ext cx="3771900" cy="2720975"/>
          </a:xfrm>
          <a:prstGeom prst="rect">
            <a:avLst/>
          </a:prstGeom>
        </p:spPr>
      </p:pic>
      <p:pic>
        <p:nvPicPr>
          <p:cNvPr id="4" name="图片 3"/>
          <p:cNvPicPr>
            <a:picLocks noChangeAspect="1"/>
          </p:cNvPicPr>
          <p:nvPr/>
        </p:nvPicPr>
        <p:blipFill>
          <a:blip r:embed="rId5"/>
          <a:stretch>
            <a:fillRect/>
          </a:stretch>
        </p:blipFill>
        <p:spPr>
          <a:xfrm>
            <a:off x="2626360" y="4918710"/>
            <a:ext cx="3493770" cy="1824355"/>
          </a:xfrm>
          <a:prstGeom prst="rect">
            <a:avLst/>
          </a:prstGeom>
        </p:spPr>
      </p:pic>
      <p:pic>
        <p:nvPicPr>
          <p:cNvPr id="5" name="图片 4"/>
          <p:cNvPicPr>
            <a:picLocks noChangeAspect="1"/>
          </p:cNvPicPr>
          <p:nvPr/>
        </p:nvPicPr>
        <p:blipFill>
          <a:blip r:embed="rId6"/>
          <a:stretch>
            <a:fillRect/>
          </a:stretch>
        </p:blipFill>
        <p:spPr>
          <a:xfrm>
            <a:off x="5857875" y="4430395"/>
            <a:ext cx="2961005" cy="2123440"/>
          </a:xfrm>
          <a:prstGeom prst="rect">
            <a:avLst/>
          </a:prstGeom>
        </p:spPr>
      </p:pic>
      <p:pic>
        <p:nvPicPr>
          <p:cNvPr id="8" name="图片 7"/>
          <p:cNvPicPr>
            <a:picLocks noChangeAspect="1"/>
          </p:cNvPicPr>
          <p:nvPr/>
        </p:nvPicPr>
        <p:blipFill>
          <a:blip r:embed="rId7"/>
          <a:stretch>
            <a:fillRect/>
          </a:stretch>
        </p:blipFill>
        <p:spPr>
          <a:xfrm>
            <a:off x="8155940" y="4692015"/>
            <a:ext cx="3983355" cy="2165985"/>
          </a:xfrm>
          <a:prstGeom prst="rect">
            <a:avLst/>
          </a:prstGeom>
        </p:spPr>
      </p:pic>
    </p:spTree>
    <p:custDataLst>
      <p:tags r:id="rId8"/>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6"/>
          <p:cNvSpPr>
            <a:spLocks noGrp="1"/>
          </p:cNvSpPr>
          <p:nvPr>
            <p:custDataLst>
              <p:tags r:id="rId1"/>
            </p:custDataLst>
          </p:nvPr>
        </p:nvSpPr>
        <p:spPr>
          <a:xfrm>
            <a:off x="334645" y="494030"/>
            <a:ext cx="11341735" cy="615315"/>
          </a:xfrm>
          <a:prstGeom prst="rect">
            <a:avLst/>
          </a:prstGeom>
        </p:spPr>
        <p:txBody>
          <a:bodyPr vert="horz" wrap="square" lIns="0" tIns="0" rIns="0" bIns="0" rtlCol="0" anchor="b">
            <a:noAutofit/>
          </a:bodyPr>
          <a:lstStyle>
            <a:lvl1pPr algn="l" defTabSz="914400" rtl="0" eaLnBrk="1" latinLnBrk="0" hangingPunct="1">
              <a:lnSpc>
                <a:spcPct val="100000"/>
              </a:lnSpc>
              <a:spcBef>
                <a:spcPct val="0"/>
              </a:spcBef>
              <a:buNone/>
              <a:defRPr sz="3200" b="1" kern="1200">
                <a:solidFill>
                  <a:srgbClr val="3C3C3C"/>
                </a:solidFill>
                <a:latin typeface="+mj-lt"/>
                <a:ea typeface="+mj-ea"/>
                <a:cs typeface="+mj-cs"/>
              </a:defRPr>
            </a:lvl1pPr>
          </a:lstStyle>
          <a:p>
            <a:pPr lvl="0" algn="l">
              <a:buClrTx/>
              <a:buSzTx/>
              <a:buFontTx/>
            </a:pPr>
            <a:r>
              <a:rPr lang="zh-CN" altLang="en-US" dirty="0">
                <a:sym typeface="+mn-ea"/>
              </a:rPr>
              <a:t>《</a:t>
            </a:r>
            <a:r>
              <a:rPr lang="en-US" altLang="zh-CN" dirty="0">
                <a:sym typeface="+mn-ea"/>
              </a:rPr>
              <a:t>Learning to See in the Dark</a:t>
            </a:r>
            <a:r>
              <a:rPr lang="zh-CN" altLang="en-US" dirty="0">
                <a:sym typeface="+mn-ea"/>
              </a:rPr>
              <a:t>》（</a:t>
            </a:r>
            <a:r>
              <a:rPr lang="en-US" altLang="zh-CN" dirty="0">
                <a:sym typeface="+mn-ea"/>
              </a:rPr>
              <a:t>CVPR 2018</a:t>
            </a:r>
            <a:r>
              <a:rPr lang="zh-CN" altLang="en-US" dirty="0">
                <a:sym typeface="+mn-ea"/>
              </a:rPr>
              <a:t>）</a:t>
            </a:r>
            <a:endParaRPr lang="zh-CN" altLang="en-US" dirty="0">
              <a:sym typeface="+mn-ea"/>
            </a:endParaRPr>
          </a:p>
        </p:txBody>
      </p:sp>
      <p:sp>
        <p:nvSpPr>
          <p:cNvPr id="5" name="文本框 4"/>
          <p:cNvSpPr txBox="1"/>
          <p:nvPr/>
        </p:nvSpPr>
        <p:spPr>
          <a:xfrm>
            <a:off x="537210" y="1541145"/>
            <a:ext cx="10095230" cy="4011295"/>
          </a:xfrm>
          <a:prstGeom prst="rect">
            <a:avLst/>
          </a:prstGeom>
          <a:noFill/>
        </p:spPr>
        <p:txBody>
          <a:bodyPr wrap="square" rtlCol="0">
            <a:noAutofit/>
          </a:bodyPr>
          <a:p>
            <a:r>
              <a:rPr lang="zh-CN" altLang="en-US"/>
              <a:t>在暗光条件下，受到低信噪比和低亮度的影响，图片的质量会受到很大的影响。此外，低曝光率的照片会出现很多噪声，而长曝光时间会让照片变得模糊、不真实。目前很多关于去噪、去模糊、图像增强等技术在极端光照条件下作用很有限。论文中主要解决关注的问题是极端低光条件下的图像成像问题，提出了一种在黑暗中也能快速、清晰的成像系统。</a:t>
            </a:r>
            <a:endParaRPr lang="zh-CN" altLang="en-US"/>
          </a:p>
          <a:p>
            <a:endParaRPr lang="zh-CN" altLang="en-US"/>
          </a:p>
          <a:p>
            <a:endParaRPr lang="zh-CN" altLang="en-US"/>
          </a:p>
          <a:p>
            <a:r>
              <a:rPr lang="zh-CN" altLang="en-US"/>
              <a:t>主要</a:t>
            </a:r>
            <a:r>
              <a:rPr lang="zh-CN" altLang="en-US"/>
              <a:t>工作：论文提出一种通过全卷积神经网络（</a:t>
            </a:r>
            <a:r>
              <a:rPr lang="en-US" altLang="zh-CN"/>
              <a:t>FCN</a:t>
            </a:r>
            <a:r>
              <a:rPr lang="zh-CN" altLang="en-US"/>
              <a:t>）方法将在黑暗环境中进行的拍摄还原的方法，通过控制变量法来对比不同的去噪方法，增加信噪比，并找到一个较好的解决方案。</a:t>
            </a:r>
            <a:endParaRPr lang="zh-CN" altLang="en-US"/>
          </a:p>
          <a:p>
            <a:endParaRPr lang="zh-CN" altLang="en-US"/>
          </a:p>
          <a:p>
            <a:endParaRPr lang="zh-CN" altLang="en-US"/>
          </a:p>
          <a:p>
            <a:r>
              <a:rPr lang="zh-CN" altLang="en-US"/>
              <a:t>算法核心思路：端到端的全卷积网络处理</a:t>
            </a:r>
            <a:r>
              <a:rPr lang="en-US" altLang="zh-CN"/>
              <a:t>RAW</a:t>
            </a:r>
            <a:r>
              <a:rPr lang="zh-CN" altLang="en-US"/>
              <a:t>数据</a:t>
            </a:r>
            <a:endParaRPr lang="zh-CN" altLang="en-US"/>
          </a:p>
          <a:p>
            <a:r>
              <a:rPr lang="zh-CN" altLang="en-US"/>
              <a:t>该论文的算法思路可以概括为：构建一个端到端的全卷积网络，直接对相机传感器的原始</a:t>
            </a:r>
            <a:r>
              <a:rPr lang="en-US" altLang="zh-CN"/>
              <a:t>RAW</a:t>
            </a:r>
            <a:r>
              <a:rPr lang="zh-CN" altLang="en-US"/>
              <a:t>数据进行处理，替代传统的、模块化的</a:t>
            </a:r>
            <a:r>
              <a:rPr lang="en-US" altLang="zh-CN"/>
              <a:t>ISP</a:t>
            </a:r>
            <a:r>
              <a:rPr lang="zh-CN" altLang="en-US"/>
              <a:t>管道。</a:t>
            </a:r>
            <a:endParaRPr lang="zh-CN" altLang="en-US"/>
          </a:p>
          <a:p>
            <a:endParaRPr lang="zh-CN" altLang="en-US"/>
          </a:p>
          <a:p>
            <a:endParaRPr lang="zh-CN" altLang="en-US"/>
          </a:p>
        </p:txBody>
      </p:sp>
    </p:spTree>
    <p:custDataLst>
      <p:tags r:id="rId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508000" y="327025"/>
            <a:ext cx="8250555" cy="1876425"/>
          </a:xfrm>
          <a:prstGeom prst="rect">
            <a:avLst/>
          </a:prstGeom>
          <a:noFill/>
        </p:spPr>
        <p:txBody>
          <a:bodyPr wrap="square" rtlCol="0" anchor="t">
            <a:noAutofit/>
          </a:bodyPr>
          <a:p>
            <a:r>
              <a:rPr lang="en-US" altLang="zh-CN" b="1"/>
              <a:t>1. </a:t>
            </a:r>
            <a:r>
              <a:rPr lang="zh-CN" altLang="en-US" b="1"/>
              <a:t>端到端学习</a:t>
            </a:r>
            <a:endParaRPr lang="zh-CN" altLang="en-US" b="1"/>
          </a:p>
          <a:p>
            <a:r>
              <a:rPr lang="zh-CN" altLang="en-US"/>
              <a:t>算法的核心是</a:t>
            </a:r>
            <a:r>
              <a:rPr lang="en-US" altLang="zh-CN"/>
              <a:t>“</a:t>
            </a:r>
            <a:r>
              <a:rPr lang="zh-CN" altLang="en-US"/>
              <a:t>端到端</a:t>
            </a:r>
            <a:r>
              <a:rPr lang="en-US" altLang="zh-CN"/>
              <a:t>”</a:t>
            </a:r>
            <a:r>
              <a:rPr lang="zh-CN" altLang="en-US"/>
              <a:t>学习。这意味着：</a:t>
            </a:r>
            <a:endParaRPr lang="zh-CN" altLang="en-US"/>
          </a:p>
          <a:p>
            <a:r>
              <a:rPr lang="zh-CN" altLang="en-US"/>
              <a:t>输入：是原始的、未经任何处理的传感器</a:t>
            </a:r>
            <a:r>
              <a:rPr lang="en-US" altLang="zh-CN"/>
              <a:t>RAW</a:t>
            </a:r>
            <a:r>
              <a:rPr lang="zh-CN" altLang="en-US"/>
              <a:t>数据。</a:t>
            </a:r>
            <a:endParaRPr lang="zh-CN" altLang="en-US"/>
          </a:p>
          <a:p>
            <a:r>
              <a:rPr lang="zh-CN" altLang="en-US"/>
              <a:t>输出：是处理好的、可直接观看的</a:t>
            </a:r>
            <a:r>
              <a:rPr lang="en-US" altLang="zh-CN"/>
              <a:t>sRGB</a:t>
            </a:r>
            <a:r>
              <a:rPr lang="zh-CN" altLang="en-US"/>
              <a:t>图像。</a:t>
            </a:r>
            <a:endParaRPr lang="zh-CN" altLang="en-US"/>
          </a:p>
          <a:p>
            <a:r>
              <a:rPr lang="zh-CN" altLang="en-US"/>
              <a:t>目标：网络直接学习从低质量</a:t>
            </a:r>
            <a:r>
              <a:rPr lang="en-US" altLang="zh-CN"/>
              <a:t>RAW</a:t>
            </a:r>
            <a:r>
              <a:rPr lang="zh-CN" altLang="en-US"/>
              <a:t>输入到高质量</a:t>
            </a:r>
            <a:r>
              <a:rPr lang="en-US" altLang="zh-CN"/>
              <a:t>sRGB</a:t>
            </a:r>
            <a:r>
              <a:rPr lang="zh-CN" altLang="en-US"/>
              <a:t>输出的复杂映射关系，避免了传统</a:t>
            </a:r>
            <a:r>
              <a:rPr lang="en-US" altLang="zh-CN"/>
              <a:t>ISP</a:t>
            </a:r>
            <a:r>
              <a:rPr lang="zh-CN" altLang="en-US"/>
              <a:t>管道中多个模块串联导致的误差累积和次优处理。</a:t>
            </a:r>
            <a:endParaRPr lang="zh-CN" altLang="en-US"/>
          </a:p>
        </p:txBody>
      </p:sp>
      <p:pic>
        <p:nvPicPr>
          <p:cNvPr id="4" name="图片 3"/>
          <p:cNvPicPr/>
          <p:nvPr/>
        </p:nvPicPr>
        <p:blipFill>
          <a:blip r:embed="rId1"/>
          <a:stretch>
            <a:fillRect/>
          </a:stretch>
        </p:blipFill>
        <p:spPr>
          <a:xfrm>
            <a:off x="734060" y="2689225"/>
            <a:ext cx="6124575" cy="3470910"/>
          </a:xfrm>
          <a:prstGeom prst="rect">
            <a:avLst/>
          </a:prstGeom>
        </p:spPr>
      </p:pic>
      <p:sp>
        <p:nvSpPr>
          <p:cNvPr id="5" name="文本框 4"/>
          <p:cNvSpPr txBox="1"/>
          <p:nvPr/>
        </p:nvSpPr>
        <p:spPr>
          <a:xfrm>
            <a:off x="7478395" y="2204085"/>
            <a:ext cx="4267200" cy="4220845"/>
          </a:xfrm>
          <a:prstGeom prst="rect">
            <a:avLst/>
          </a:prstGeom>
          <a:noFill/>
        </p:spPr>
        <p:txBody>
          <a:bodyPr wrap="square" rtlCol="0" anchor="t">
            <a:noAutofit/>
          </a:bodyPr>
          <a:p>
            <a:r>
              <a:rPr lang="zh-CN" altLang="en-US"/>
              <a:t>这种端到端的学习方法训练</a:t>
            </a:r>
            <a:r>
              <a:rPr lang="zh-CN" altLang="en-US"/>
              <a:t>了一个全卷积网络</a:t>
            </a:r>
            <a:r>
              <a:rPr lang="en-US" altLang="zh-CN"/>
              <a:t>FCN </a:t>
            </a:r>
            <a:r>
              <a:rPr lang="zh-CN" altLang="en-US"/>
              <a:t>来直接处理快速成像系统中的低亮度图像。纯粹的</a:t>
            </a:r>
            <a:r>
              <a:rPr lang="en-US" altLang="zh-CN"/>
              <a:t>FCN </a:t>
            </a:r>
            <a:r>
              <a:rPr lang="zh-CN" altLang="en-US"/>
              <a:t>结构可以有效地代表许多图像处理算法，用原始传感器数据作为输入。对于</a:t>
            </a:r>
            <a:r>
              <a:rPr lang="en-US" altLang="zh-CN"/>
              <a:t> Bayer </a:t>
            </a:r>
            <a:r>
              <a:rPr lang="zh-CN" altLang="en-US"/>
              <a:t>数组，将输入打包为四个通道并在每个通道上将空间分辨率降低一半。原始数据以</a:t>
            </a:r>
            <a:r>
              <a:rPr lang="en-US" altLang="zh-CN"/>
              <a:t>6</a:t>
            </a:r>
            <a:r>
              <a:rPr lang="en-US" altLang="en-US"/>
              <a:t>×</a:t>
            </a:r>
            <a:r>
              <a:rPr lang="en-US" altLang="zh-CN"/>
              <a:t>6</a:t>
            </a:r>
            <a:r>
              <a:rPr lang="zh-CN" altLang="en-US"/>
              <a:t>排列块组成</a:t>
            </a:r>
            <a:r>
              <a:rPr lang="en-US" altLang="zh-CN"/>
              <a:t>;</a:t>
            </a:r>
            <a:r>
              <a:rPr lang="zh-CN" altLang="en-US"/>
              <a:t>通过交换相邻通道元素的方法将</a:t>
            </a:r>
            <a:r>
              <a:rPr lang="en-US" altLang="zh-CN"/>
              <a:t>36</a:t>
            </a:r>
            <a:r>
              <a:rPr lang="zh-CN" altLang="en-US"/>
              <a:t>个通道的数组打包成</a:t>
            </a:r>
            <a:r>
              <a:rPr lang="en-US" altLang="zh-CN"/>
              <a:t>9</a:t>
            </a:r>
            <a:r>
              <a:rPr lang="zh-CN" altLang="en-US"/>
              <a:t>个通道。消除黑色像素并按照期望的倍数缩放数据，将处理后数据作为</a:t>
            </a:r>
            <a:r>
              <a:rPr lang="en-US" altLang="zh-CN"/>
              <a:t> FCN </a:t>
            </a:r>
            <a:r>
              <a:rPr lang="zh-CN" altLang="en-US"/>
              <a:t>模型的输入，输出是一个带</a:t>
            </a:r>
            <a:r>
              <a:rPr lang="en-US" altLang="zh-CN"/>
              <a:t>12</a:t>
            </a:r>
            <a:r>
              <a:rPr lang="zh-CN" altLang="en-US"/>
              <a:t>通道的图像，其空间分辨率只有输入的一半。这个一半大小的输出被子像素层处理，以恢复原始分辨率。</a:t>
            </a:r>
            <a:endParaRPr lang="zh-CN" altLang="en-US"/>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605790" y="383540"/>
            <a:ext cx="6096000" cy="2584450"/>
          </a:xfrm>
          <a:prstGeom prst="rect">
            <a:avLst/>
          </a:prstGeom>
          <a:noFill/>
        </p:spPr>
        <p:txBody>
          <a:bodyPr wrap="square" rtlCol="0" anchor="t">
            <a:spAutoFit/>
          </a:bodyPr>
          <a:p>
            <a:r>
              <a:rPr lang="en-US" altLang="zh-CN"/>
              <a:t> </a:t>
            </a:r>
            <a:r>
              <a:rPr lang="en-US" altLang="zh-CN" b="1"/>
              <a:t>2. </a:t>
            </a:r>
            <a:r>
              <a:rPr lang="zh-CN" altLang="en-US" b="1"/>
              <a:t>直接在</a:t>
            </a:r>
            <a:r>
              <a:rPr lang="en-US" altLang="zh-CN" b="1"/>
              <a:t>RAW</a:t>
            </a:r>
            <a:r>
              <a:rPr lang="zh-CN" altLang="en-US" b="1"/>
              <a:t>域操作</a:t>
            </a:r>
            <a:endParaRPr lang="zh-CN" altLang="en-US"/>
          </a:p>
          <a:p>
            <a:r>
              <a:rPr lang="zh-CN" altLang="en-US"/>
              <a:t>这是一个关键设计。与大多数在</a:t>
            </a:r>
            <a:r>
              <a:rPr lang="en-US" altLang="zh-CN"/>
              <a:t>sRGB</a:t>
            </a:r>
            <a:r>
              <a:rPr lang="zh-CN" altLang="en-US"/>
              <a:t>图像上工作的去噪或增强算法不同，该方法选择在</a:t>
            </a:r>
            <a:r>
              <a:rPr lang="en-US" altLang="zh-CN"/>
              <a:t>RAW</a:t>
            </a:r>
            <a:r>
              <a:rPr lang="zh-CN" altLang="en-US"/>
              <a:t>域操作，原因在于：</a:t>
            </a:r>
            <a:endParaRPr lang="zh-CN" altLang="en-US"/>
          </a:p>
          <a:p>
            <a:r>
              <a:rPr lang="zh-CN" altLang="en-US"/>
              <a:t>信息保留：</a:t>
            </a:r>
            <a:r>
              <a:rPr lang="en-US" altLang="zh-CN"/>
              <a:t>RAW</a:t>
            </a:r>
            <a:r>
              <a:rPr lang="zh-CN" altLang="en-US"/>
              <a:t>数据包含了传感器捕获的最原始、最完整的信息，尚未经过任何有损的非线性转换（如伽马校正）。</a:t>
            </a:r>
            <a:endParaRPr lang="zh-CN" altLang="en-US"/>
          </a:p>
          <a:p>
            <a:r>
              <a:rPr lang="zh-CN" altLang="en-US"/>
              <a:t>线性关系：</a:t>
            </a:r>
            <a:r>
              <a:rPr lang="en-US" altLang="zh-CN"/>
              <a:t>RAW</a:t>
            </a:r>
            <a:r>
              <a:rPr lang="zh-CN" altLang="en-US"/>
              <a:t>数据的亮度与场景辐照度呈线性关系，这简化了噪声模型，更利于网络学习。</a:t>
            </a:r>
            <a:endParaRPr lang="zh-CN" altLang="en-US"/>
          </a:p>
          <a:p>
            <a:r>
              <a:rPr lang="zh-CN" altLang="en-US"/>
              <a:t>避免早期处理错误：在极低光下，传统的去马赛克等操作会在噪声很大的数据上引入难以挽回的伪影。</a:t>
            </a:r>
            <a:endParaRPr lang="zh-CN" altLang="en-US"/>
          </a:p>
        </p:txBody>
      </p:sp>
      <p:sp>
        <p:nvSpPr>
          <p:cNvPr id="4" name="文本框 3"/>
          <p:cNvSpPr txBox="1"/>
          <p:nvPr/>
        </p:nvSpPr>
        <p:spPr>
          <a:xfrm>
            <a:off x="605790" y="3172460"/>
            <a:ext cx="6216650" cy="3153410"/>
          </a:xfrm>
          <a:prstGeom prst="rect">
            <a:avLst/>
          </a:prstGeom>
          <a:noFill/>
        </p:spPr>
        <p:txBody>
          <a:bodyPr wrap="square" rtlCol="0" anchor="t">
            <a:noAutofit/>
          </a:bodyPr>
          <a:p>
            <a:r>
              <a:rPr lang="en-US" altLang="zh-CN" b="1"/>
              <a:t>3. </a:t>
            </a:r>
            <a:r>
              <a:rPr lang="zh-CN" altLang="en-US" b="1"/>
              <a:t>数据打包与放大</a:t>
            </a:r>
            <a:endParaRPr lang="zh-CN" altLang="en-US" b="1"/>
          </a:p>
          <a:p>
            <a:r>
              <a:rPr lang="zh-CN" altLang="en-US"/>
              <a:t>为了适应卷积网络的输入，作者对</a:t>
            </a:r>
            <a:r>
              <a:rPr lang="en-US" altLang="zh-CN"/>
              <a:t>RAW</a:t>
            </a:r>
            <a:r>
              <a:rPr lang="zh-CN" altLang="en-US"/>
              <a:t>数据进行了巧妙的预处理：</a:t>
            </a:r>
            <a:endParaRPr lang="zh-CN" altLang="en-US"/>
          </a:p>
          <a:p>
            <a:r>
              <a:rPr lang="zh-CN" altLang="en-US"/>
              <a:t>对于</a:t>
            </a:r>
            <a:r>
              <a:rPr lang="en-US" altLang="zh-CN"/>
              <a:t>Bayer</a:t>
            </a:r>
            <a:r>
              <a:rPr lang="zh-CN" altLang="en-US"/>
              <a:t>阵列：将</a:t>
            </a:r>
            <a:r>
              <a:rPr lang="en-US" altLang="zh-CN"/>
              <a:t>2x2</a:t>
            </a:r>
            <a:r>
              <a:rPr lang="zh-CN" altLang="en-US"/>
              <a:t>的</a:t>
            </a:r>
            <a:r>
              <a:rPr lang="en-US" altLang="zh-CN"/>
              <a:t>RGGB</a:t>
            </a:r>
            <a:r>
              <a:rPr lang="zh-CN" altLang="en-US"/>
              <a:t>块打包成</a:t>
            </a:r>
            <a:r>
              <a:rPr lang="en-US" altLang="zh-CN"/>
              <a:t>4</a:t>
            </a:r>
            <a:r>
              <a:rPr lang="zh-CN" altLang="en-US"/>
              <a:t>个通道，空间分辨率相应降低为原来的</a:t>
            </a:r>
            <a:r>
              <a:rPr lang="en-US" altLang="zh-CN"/>
              <a:t>1/2</a:t>
            </a:r>
            <a:r>
              <a:rPr lang="zh-CN" altLang="en-US"/>
              <a:t>。这比使用掩膜复制的方式更有效。</a:t>
            </a:r>
            <a:endParaRPr lang="zh-CN" altLang="en-US"/>
          </a:p>
          <a:p>
            <a:r>
              <a:rPr lang="zh-CN" altLang="en-US"/>
              <a:t>对于</a:t>
            </a:r>
            <a:r>
              <a:rPr lang="en-US" altLang="zh-CN"/>
              <a:t>X-Trans</a:t>
            </a:r>
            <a:r>
              <a:rPr lang="zh-CN" altLang="en-US"/>
              <a:t>阵列：通过交换相邻元素，将</a:t>
            </a:r>
            <a:r>
              <a:rPr lang="en-US" altLang="zh-CN"/>
              <a:t>6x6</a:t>
            </a:r>
            <a:r>
              <a:rPr lang="zh-CN" altLang="en-US"/>
              <a:t>的模式打包成</a:t>
            </a:r>
            <a:r>
              <a:rPr lang="en-US" altLang="zh-CN"/>
              <a:t>9</a:t>
            </a:r>
            <a:r>
              <a:rPr lang="zh-CN" altLang="en-US"/>
              <a:t>个通道。</a:t>
            </a:r>
            <a:endParaRPr lang="zh-CN" altLang="en-US"/>
          </a:p>
          <a:p>
            <a:r>
              <a:rPr lang="zh-CN" altLang="en-US"/>
              <a:t>放大因子：像相机的</a:t>
            </a:r>
            <a:r>
              <a:rPr lang="en-US" altLang="zh-CN"/>
              <a:t>ISO</a:t>
            </a:r>
            <a:r>
              <a:rPr lang="zh-CN" altLang="en-US"/>
              <a:t>一样，将</a:t>
            </a:r>
            <a:r>
              <a:rPr lang="en-US" altLang="zh-CN"/>
              <a:t>RAW</a:t>
            </a:r>
            <a:r>
              <a:rPr lang="zh-CN" altLang="en-US"/>
              <a:t>数据乘以一个放大因子（如</a:t>
            </a:r>
            <a:r>
              <a:rPr lang="en-US" altLang="zh-CN"/>
              <a:t>x100, x300</a:t>
            </a:r>
            <a:r>
              <a:rPr lang="zh-CN" altLang="en-US"/>
              <a:t>）后再输入网络。该因子作为外部参数输入，允许用户控制输出图像的亮度。</a:t>
            </a:r>
            <a:endParaRPr lang="zh-CN" altLang="en-US"/>
          </a:p>
        </p:txBody>
      </p:sp>
      <p:pic>
        <p:nvPicPr>
          <p:cNvPr id="5" name="图片 4"/>
          <p:cNvPicPr/>
          <p:nvPr/>
        </p:nvPicPr>
        <p:blipFill>
          <a:blip r:embed="rId1"/>
          <a:stretch>
            <a:fillRect/>
          </a:stretch>
        </p:blipFill>
        <p:spPr>
          <a:xfrm>
            <a:off x="6822440" y="4137025"/>
            <a:ext cx="5188585" cy="1137285"/>
          </a:xfrm>
          <a:prstGeom prst="rect">
            <a:avLst/>
          </a:prstGeom>
        </p:spPr>
      </p:pic>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795020" y="803275"/>
            <a:ext cx="7758430" cy="2160905"/>
          </a:xfrm>
          <a:prstGeom prst="rect">
            <a:avLst/>
          </a:prstGeom>
          <a:noFill/>
        </p:spPr>
        <p:txBody>
          <a:bodyPr wrap="square" rtlCol="0" anchor="t">
            <a:noAutofit/>
          </a:bodyPr>
          <a:p>
            <a:r>
              <a:rPr lang="en-US" altLang="zh-CN" b="1"/>
              <a:t>4. </a:t>
            </a:r>
            <a:r>
              <a:rPr lang="zh-CN" altLang="en-US" b="1"/>
              <a:t>网络架构选择</a:t>
            </a:r>
            <a:endParaRPr lang="zh-CN" altLang="en-US" b="1"/>
          </a:p>
          <a:p>
            <a:r>
              <a:rPr lang="zh-CN" altLang="en-US"/>
              <a:t>论文探索了两种主流的全卷积网络架构：</a:t>
            </a:r>
            <a:endParaRPr lang="zh-CN" altLang="en-US"/>
          </a:p>
          <a:p>
            <a:r>
              <a:rPr lang="en-US" altLang="zh-CN" b="1"/>
              <a:t>U-Net</a:t>
            </a:r>
            <a:r>
              <a:rPr lang="zh-CN" altLang="en-US"/>
              <a:t>：具有编码器</a:t>
            </a:r>
            <a:r>
              <a:rPr lang="en-US" altLang="zh-CN"/>
              <a:t>-</a:t>
            </a:r>
            <a:r>
              <a:rPr lang="zh-CN" altLang="en-US"/>
              <a:t>解码器结构和跳跃连接，能融合低层次细节和高层次语义信息，被选为默认架构。</a:t>
            </a:r>
            <a:endParaRPr lang="zh-CN" altLang="en-US"/>
          </a:p>
          <a:p>
            <a:r>
              <a:rPr lang="zh-CN" altLang="en-US"/>
              <a:t>多尺度上下文聚合网络：另一种用于快速图像处理的网络。</a:t>
            </a:r>
            <a:endParaRPr lang="zh-CN" altLang="en-US"/>
          </a:p>
          <a:p>
            <a:r>
              <a:rPr lang="zh-CN" altLang="en-US"/>
              <a:t>实验表明，</a:t>
            </a:r>
            <a:r>
              <a:rPr lang="en-US" altLang="zh-CN"/>
              <a:t>U-Net</a:t>
            </a:r>
            <a:r>
              <a:rPr lang="zh-CN" altLang="en-US"/>
              <a:t>在</a:t>
            </a:r>
            <a:r>
              <a:rPr lang="en-US" altLang="zh-CN"/>
              <a:t>PSNR</a:t>
            </a:r>
            <a:r>
              <a:rPr lang="zh-CN" altLang="en-US"/>
              <a:t>指标上更高，且在色彩恢复方面表现更好。</a:t>
            </a:r>
            <a:endParaRPr lang="zh-CN" altLang="en-US"/>
          </a:p>
        </p:txBody>
      </p:sp>
      <p:pic>
        <p:nvPicPr>
          <p:cNvPr id="4" name="图片 3"/>
          <p:cNvPicPr/>
          <p:nvPr/>
        </p:nvPicPr>
        <p:blipFill>
          <a:blip r:embed="rId1"/>
          <a:stretch>
            <a:fillRect/>
          </a:stretch>
        </p:blipFill>
        <p:spPr>
          <a:xfrm>
            <a:off x="1367473" y="3052445"/>
            <a:ext cx="4524375" cy="2381250"/>
          </a:xfrm>
          <a:prstGeom prst="rect">
            <a:avLst/>
          </a:prstGeom>
        </p:spPr>
      </p:pic>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379730" y="312420"/>
            <a:ext cx="9444355" cy="2733675"/>
          </a:xfrm>
          <a:prstGeom prst="rect">
            <a:avLst/>
          </a:prstGeom>
          <a:noFill/>
        </p:spPr>
        <p:txBody>
          <a:bodyPr wrap="square" rtlCol="0" anchor="t">
            <a:noAutofit/>
          </a:bodyPr>
          <a:p>
            <a:r>
              <a:rPr lang="zh-CN" altLang="en-US"/>
              <a:t>两个标准的</a:t>
            </a:r>
            <a:r>
              <a:rPr lang="en-US" altLang="zh-CN"/>
              <a:t> FCN </a:t>
            </a:r>
            <a:r>
              <a:rPr lang="zh-CN" altLang="en-US"/>
              <a:t>作为模型的核心：用于快速图像处理的多尺度上下文聚合网络</a:t>
            </a:r>
            <a:r>
              <a:rPr lang="en-US" altLang="zh-CN"/>
              <a:t> (CAN) </a:t>
            </a:r>
            <a:r>
              <a:rPr lang="zh-CN" altLang="en-US"/>
              <a:t>和</a:t>
            </a:r>
            <a:r>
              <a:rPr lang="en-US" altLang="zh-CN"/>
              <a:t>U-net </a:t>
            </a:r>
            <a:r>
              <a:rPr lang="zh-CN" altLang="en-US"/>
              <a:t>网络，最终选用的是</a:t>
            </a:r>
            <a:r>
              <a:rPr lang="en-US" altLang="zh-CN"/>
              <a:t>U-net</a:t>
            </a:r>
            <a:r>
              <a:rPr lang="zh-CN" altLang="en-US"/>
              <a:t>网络。放大比率决定了模型的亮度输出，在外部指定并作为输入提供给模型，这类似于相机中的</a:t>
            </a:r>
            <a:r>
              <a:rPr lang="en-US" altLang="zh-CN"/>
              <a:t> ISO </a:t>
            </a:r>
            <a:r>
              <a:rPr lang="zh-CN" altLang="en-US"/>
              <a:t>设置。模型使用</a:t>
            </a:r>
            <a:r>
              <a:rPr lang="en-US" altLang="zh-CN"/>
              <a:t>L1</a:t>
            </a:r>
            <a:r>
              <a:rPr lang="zh-CN" altLang="en-US"/>
              <a:t>损失和</a:t>
            </a:r>
            <a:r>
              <a:rPr lang="en-US" altLang="zh-CN"/>
              <a:t>Adam</a:t>
            </a:r>
            <a:r>
              <a:rPr lang="zh-CN" altLang="en-US"/>
              <a:t>优化器，网络输入为原始短曝光图像，对应的真实数据是长曝光图像，他们之间的曝光时间的倍数差作为放大因子，训练中随机裁剪</a:t>
            </a:r>
            <a:r>
              <a:rPr lang="en-US" altLang="zh-CN"/>
              <a:t>512x512</a:t>
            </a:r>
            <a:r>
              <a:rPr lang="zh-CN" altLang="en-US"/>
              <a:t>的补丁用于训练，用翻转，旋转等操作来做数据增强，初始学习率设为</a:t>
            </a:r>
            <a:r>
              <a:rPr lang="en-US" altLang="zh-CN"/>
              <a:t>0.0001,2000</a:t>
            </a:r>
            <a:r>
              <a:rPr lang="zh-CN" altLang="en-US"/>
              <a:t>次迭代后降为</a:t>
            </a:r>
            <a:r>
              <a:rPr lang="en-US" altLang="zh-CN"/>
              <a:t>0.00001</a:t>
            </a:r>
            <a:r>
              <a:rPr lang="zh-CN" altLang="en-US"/>
              <a:t>，共进行</a:t>
            </a:r>
            <a:r>
              <a:rPr lang="en-US" altLang="zh-CN"/>
              <a:t>4000</a:t>
            </a:r>
            <a:r>
              <a:rPr lang="zh-CN" altLang="en-US"/>
              <a:t>次迭代。</a:t>
            </a:r>
            <a:endParaRPr lang="zh-CN" altLang="en-US"/>
          </a:p>
        </p:txBody>
      </p:sp>
      <p:pic>
        <p:nvPicPr>
          <p:cNvPr id="4" name="图片 3"/>
          <p:cNvPicPr>
            <a:picLocks noChangeAspect="1"/>
          </p:cNvPicPr>
          <p:nvPr/>
        </p:nvPicPr>
        <p:blipFill>
          <a:blip r:embed="rId1"/>
          <a:srcRect b="6464"/>
          <a:stretch>
            <a:fillRect/>
          </a:stretch>
        </p:blipFill>
        <p:spPr>
          <a:xfrm>
            <a:off x="547370" y="2159000"/>
            <a:ext cx="6054090" cy="2894330"/>
          </a:xfrm>
          <a:prstGeom prst="rect">
            <a:avLst/>
          </a:prstGeom>
        </p:spPr>
      </p:pic>
      <p:sp>
        <p:nvSpPr>
          <p:cNvPr id="5" name="文本框 4"/>
          <p:cNvSpPr txBox="1"/>
          <p:nvPr/>
        </p:nvSpPr>
        <p:spPr>
          <a:xfrm>
            <a:off x="547370" y="5196205"/>
            <a:ext cx="6096000" cy="1198880"/>
          </a:xfrm>
          <a:prstGeom prst="rect">
            <a:avLst/>
          </a:prstGeom>
          <a:noFill/>
        </p:spPr>
        <p:txBody>
          <a:bodyPr wrap="square" rtlCol="0" anchor="t">
            <a:spAutoFit/>
          </a:bodyPr>
          <a:p>
            <a:r>
              <a:rPr lang="en-US" altLang="zh-CN"/>
              <a:t>FCN</a:t>
            </a:r>
            <a:r>
              <a:rPr lang="zh-CN" altLang="en-US"/>
              <a:t>和</a:t>
            </a:r>
            <a:r>
              <a:rPr lang="en-US" altLang="zh-CN"/>
              <a:t>CNN</a:t>
            </a:r>
            <a:r>
              <a:rPr lang="zh-CN" altLang="en-US"/>
              <a:t>的区别：</a:t>
            </a:r>
            <a:r>
              <a:rPr lang="en-US" altLang="zh-CN"/>
              <a:t>CNN</a:t>
            </a:r>
            <a:r>
              <a:rPr lang="zh-CN" altLang="en-US"/>
              <a:t>卷积层之后连接的是全连接层；</a:t>
            </a:r>
            <a:r>
              <a:rPr lang="en-US" altLang="zh-CN"/>
              <a:t>FCN</a:t>
            </a:r>
            <a:r>
              <a:rPr lang="zh-CN" altLang="en-US"/>
              <a:t>卷积层之后仍连接卷积层，输出的是与输入大小相同的特征图。</a:t>
            </a:r>
            <a:r>
              <a:rPr lang="en-US" altLang="zh-CN"/>
              <a:t>FCN</a:t>
            </a:r>
            <a:r>
              <a:rPr lang="zh-CN" altLang="en-US"/>
              <a:t>将传统</a:t>
            </a:r>
            <a:r>
              <a:rPr lang="en-US" altLang="zh-CN"/>
              <a:t>CNN</a:t>
            </a:r>
            <a:r>
              <a:rPr lang="zh-CN" altLang="en-US"/>
              <a:t>中的全连接层转化成一个个的卷积层。</a:t>
            </a:r>
            <a:r>
              <a:rPr lang="en-US" altLang="zh-CN"/>
              <a:t>FCN</a:t>
            </a:r>
            <a:r>
              <a:rPr lang="zh-CN" altLang="en-US"/>
              <a:t>多次卷积图像越来越小，像素越来越低。</a:t>
            </a:r>
            <a:endParaRPr lang="zh-CN" altLang="en-US"/>
          </a:p>
        </p:txBody>
      </p:sp>
      <p:sp>
        <p:nvSpPr>
          <p:cNvPr id="6" name="文本框 5"/>
          <p:cNvSpPr txBox="1"/>
          <p:nvPr/>
        </p:nvSpPr>
        <p:spPr>
          <a:xfrm>
            <a:off x="7160260" y="4207510"/>
            <a:ext cx="4680585" cy="2313305"/>
          </a:xfrm>
          <a:prstGeom prst="rect">
            <a:avLst/>
          </a:prstGeom>
          <a:noFill/>
        </p:spPr>
        <p:txBody>
          <a:bodyPr wrap="square" rtlCol="0" anchor="t">
            <a:noAutofit/>
          </a:bodyPr>
          <a:p>
            <a:r>
              <a:rPr lang="zh-CN" altLang="en-US"/>
              <a:t>在传统的</a:t>
            </a:r>
            <a:r>
              <a:rPr lang="en-US" altLang="zh-CN"/>
              <a:t>CNN</a:t>
            </a:r>
            <a:r>
              <a:rPr lang="zh-CN" altLang="en-US"/>
              <a:t>结构中，前</a:t>
            </a:r>
            <a:r>
              <a:rPr lang="en-US" altLang="zh-CN"/>
              <a:t>5</a:t>
            </a:r>
            <a:r>
              <a:rPr lang="zh-CN" altLang="en-US"/>
              <a:t>层是卷积层，第</a:t>
            </a:r>
            <a:r>
              <a:rPr lang="en-US" altLang="zh-CN"/>
              <a:t>6</a:t>
            </a:r>
            <a:r>
              <a:rPr lang="zh-CN" altLang="en-US"/>
              <a:t>层和第</a:t>
            </a:r>
            <a:r>
              <a:rPr lang="en-US" altLang="zh-CN"/>
              <a:t>7</a:t>
            </a:r>
            <a:r>
              <a:rPr lang="zh-CN" altLang="en-US"/>
              <a:t>层分别是一个长度为</a:t>
            </a:r>
            <a:r>
              <a:rPr lang="en-US" altLang="zh-CN"/>
              <a:t>4096</a:t>
            </a:r>
            <a:r>
              <a:rPr lang="zh-CN" altLang="en-US"/>
              <a:t>的一维向量，第</a:t>
            </a:r>
            <a:r>
              <a:rPr lang="en-US" altLang="zh-CN"/>
              <a:t>8</a:t>
            </a:r>
            <a:r>
              <a:rPr lang="zh-CN" altLang="en-US"/>
              <a:t>层是长度为</a:t>
            </a:r>
            <a:r>
              <a:rPr lang="en-US" altLang="zh-CN"/>
              <a:t>1000</a:t>
            </a:r>
            <a:r>
              <a:rPr lang="zh-CN" altLang="en-US"/>
              <a:t>的一维向量，分别对应</a:t>
            </a:r>
            <a:r>
              <a:rPr lang="en-US" altLang="zh-CN"/>
              <a:t>1000</a:t>
            </a:r>
            <a:r>
              <a:rPr lang="zh-CN" altLang="en-US"/>
              <a:t>个类别的概率。</a:t>
            </a:r>
            <a:r>
              <a:rPr lang="en-US" altLang="zh-CN"/>
              <a:t>FCN</a:t>
            </a:r>
            <a:r>
              <a:rPr lang="zh-CN" altLang="en-US"/>
              <a:t>将这</a:t>
            </a:r>
            <a:r>
              <a:rPr lang="en-US" altLang="zh-CN"/>
              <a:t>3</a:t>
            </a:r>
            <a:r>
              <a:rPr lang="zh-CN" altLang="en-US"/>
              <a:t>层表示为卷积层，卷积核的大小</a:t>
            </a:r>
            <a:r>
              <a:rPr lang="en-US" altLang="zh-CN"/>
              <a:t>(</a:t>
            </a:r>
            <a:r>
              <a:rPr lang="zh-CN" altLang="en-US"/>
              <a:t>通道数，宽，高</a:t>
            </a:r>
            <a:r>
              <a:rPr lang="en-US" altLang="zh-CN"/>
              <a:t>)</a:t>
            </a:r>
            <a:r>
              <a:rPr lang="zh-CN" altLang="en-US"/>
              <a:t>分别为（</a:t>
            </a:r>
            <a:r>
              <a:rPr lang="en-US" altLang="zh-CN"/>
              <a:t>4096,7,7</a:t>
            </a:r>
            <a:r>
              <a:rPr lang="zh-CN" altLang="en-US"/>
              <a:t>）、（</a:t>
            </a:r>
            <a:r>
              <a:rPr lang="en-US" altLang="zh-CN"/>
              <a:t>4096,1,1</a:t>
            </a:r>
            <a:r>
              <a:rPr lang="zh-CN" altLang="en-US"/>
              <a:t>）、（</a:t>
            </a:r>
            <a:r>
              <a:rPr lang="en-US" altLang="zh-CN"/>
              <a:t>1000,1,1</a:t>
            </a:r>
            <a:r>
              <a:rPr lang="zh-CN" altLang="en-US"/>
              <a:t>）。所有的层都是卷积层，称为全卷积网络。</a:t>
            </a:r>
            <a:endParaRPr lang="zh-CN" altLang="en-US"/>
          </a:p>
        </p:txBody>
      </p:sp>
      <p:pic>
        <p:nvPicPr>
          <p:cNvPr id="9" name="图片 8"/>
          <p:cNvPicPr>
            <a:picLocks noChangeAspect="1"/>
          </p:cNvPicPr>
          <p:nvPr/>
        </p:nvPicPr>
        <p:blipFill>
          <a:blip r:embed="rId2"/>
          <a:srcRect b="3615"/>
          <a:stretch>
            <a:fillRect/>
          </a:stretch>
        </p:blipFill>
        <p:spPr>
          <a:xfrm>
            <a:off x="7806055" y="2081530"/>
            <a:ext cx="3659505" cy="2068195"/>
          </a:xfrm>
          <a:prstGeom prst="rect">
            <a:avLst/>
          </a:prstGeom>
        </p:spPr>
      </p:pic>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227965" y="257175"/>
            <a:ext cx="10078720" cy="5155565"/>
          </a:xfrm>
          <a:prstGeom prst="rect">
            <a:avLst/>
          </a:prstGeom>
          <a:noFill/>
        </p:spPr>
        <p:txBody>
          <a:bodyPr wrap="square" rtlCol="0" anchor="t">
            <a:noAutofit/>
          </a:bodyPr>
          <a:p>
            <a:r>
              <a:rPr lang="en-US" altLang="zh-CN"/>
              <a:t>     U-Net</a:t>
            </a:r>
            <a:r>
              <a:rPr lang="zh-CN" altLang="en-US"/>
              <a:t>整体的流程是编码和解码，可用于分割，压缩图像和去噪声。也可以用在原图像去噪，做法就是训练的阶段在原图人为的加上噪声，然后放到编码解码器中，下采样可以增加对输入图像的一些小扰动的鲁棒性，比如图像平移，旋转等，减少过拟合的风险，降低运算量，和增加感受野的大小。上采样把抽象的特征再还原解码到原图的尺寸，得到输出。</a:t>
            </a:r>
            <a:endParaRPr lang="zh-CN" altLang="en-US"/>
          </a:p>
          <a:p>
            <a:r>
              <a:rPr lang="en-US" altLang="zh-CN"/>
              <a:t>      </a:t>
            </a:r>
            <a:r>
              <a:rPr lang="zh-CN" altLang="en-US"/>
              <a:t>复制</a:t>
            </a:r>
            <a:r>
              <a:rPr lang="en-US" altLang="zh-CN"/>
              <a:t>+</a:t>
            </a:r>
            <a:r>
              <a:rPr lang="zh-CN" altLang="en-US"/>
              <a:t>剪切特征图可以使浅层网络会保留明显的内容信息，网络层变深，内容会减少，特征会增多，在深层网络添加内容的信息。简单来说就是前期不断的卷积池化来进行下采样，然后再不断卷积上采样，形成一个</a:t>
            </a:r>
            <a:r>
              <a:rPr lang="en-US" altLang="zh-CN"/>
              <a:t>U</a:t>
            </a:r>
            <a:r>
              <a:rPr lang="zh-CN" altLang="en-US"/>
              <a:t>形。而下采样的结果还会合成至对应的上采样结果，实现抽象与细节的结合。</a:t>
            </a:r>
            <a:endParaRPr lang="zh-CN" altLang="en-US"/>
          </a:p>
          <a:p>
            <a:endParaRPr lang="zh-CN" altLang="en-US"/>
          </a:p>
          <a:p>
            <a:r>
              <a:rPr lang="zh-CN" altLang="en-US">
                <a:latin typeface="微软雅黑" panose="020B0503020204020204" charset="-122"/>
                <a:ea typeface="微软雅黑" panose="020B0503020204020204" charset="-122"/>
                <a:cs typeface="微软雅黑" panose="020B0503020204020204" charset="-122"/>
              </a:rPr>
              <a:t>作者提出一个新颖的卷积方式：</a:t>
            </a:r>
            <a:endParaRPr lang="zh-CN" altLang="en-US">
              <a:latin typeface="微软雅黑" panose="020B0503020204020204" charset="-122"/>
              <a:ea typeface="微软雅黑" panose="020B0503020204020204" charset="-122"/>
              <a:cs typeface="微软雅黑" panose="020B0503020204020204" charset="-122"/>
            </a:endParaRPr>
          </a:p>
          <a:p>
            <a:r>
              <a:rPr lang="zh-CN" altLang="en-US">
                <a:latin typeface="微软雅黑" panose="020B0503020204020204" charset="-122"/>
                <a:ea typeface="微软雅黑" panose="020B0503020204020204" charset="-122"/>
                <a:cs typeface="微软雅黑" panose="020B0503020204020204" charset="-122"/>
              </a:rPr>
              <a:t>膨胀卷积</a:t>
            </a:r>
            <a:r>
              <a:rPr lang="en-US" altLang="zh-CN">
                <a:latin typeface="微软雅黑" panose="020B0503020204020204" charset="-122"/>
                <a:ea typeface="微软雅黑" panose="020B0503020204020204" charset="-122"/>
                <a:cs typeface="微软雅黑" panose="020B0503020204020204" charset="-122"/>
              </a:rPr>
              <a:t>-CAN</a:t>
            </a:r>
            <a:r>
              <a:rPr lang="zh-CN" altLang="en-US">
                <a:latin typeface="微软雅黑" panose="020B0503020204020204" charset="-122"/>
                <a:ea typeface="微软雅黑" panose="020B0503020204020204" charset="-122"/>
                <a:cs typeface="微软雅黑" panose="020B0503020204020204" charset="-122"/>
              </a:rPr>
              <a:t>：</a:t>
            </a:r>
            <a:r>
              <a:rPr lang="en-US" altLang="zh-CN">
                <a:latin typeface="微软雅黑" panose="020B0503020204020204" charset="-122"/>
                <a:ea typeface="微软雅黑" panose="020B0503020204020204" charset="-122"/>
                <a:cs typeface="微软雅黑" panose="020B0503020204020204" charset="-122"/>
              </a:rPr>
              <a:t>MULTI-SCALE CONTEXT AGGREGATION BY DILATED CONVOLUTIONS</a:t>
            </a:r>
            <a:r>
              <a:rPr lang="zh-CN" altLang="en-US">
                <a:latin typeface="微软雅黑" panose="020B0503020204020204" charset="-122"/>
                <a:ea typeface="微软雅黑" panose="020B0503020204020204" charset="-122"/>
                <a:cs typeface="微软雅黑" panose="020B0503020204020204" charset="-122"/>
              </a:rPr>
              <a:t>。通过膨胀卷积实现多尺度语义信息融合，增长感受野的区域，从而获得更好的稠密分类结果。目前</a:t>
            </a:r>
            <a:r>
              <a:rPr lang="en-US" altLang="zh-CN">
                <a:latin typeface="微软雅黑" panose="020B0503020204020204" charset="-122"/>
                <a:ea typeface="微软雅黑" panose="020B0503020204020204" charset="-122"/>
                <a:cs typeface="微软雅黑" panose="020B0503020204020204" charset="-122"/>
              </a:rPr>
              <a:t>FCN</a:t>
            </a:r>
            <a:r>
              <a:rPr lang="zh-CN" altLang="en-US">
                <a:latin typeface="微软雅黑" panose="020B0503020204020204" charset="-122"/>
                <a:ea typeface="微软雅黑" panose="020B0503020204020204" charset="-122"/>
                <a:cs typeface="微软雅黑" panose="020B0503020204020204" charset="-122"/>
              </a:rPr>
              <a:t>通过</a:t>
            </a:r>
            <a:r>
              <a:rPr lang="en-US" altLang="zh-CN">
                <a:latin typeface="微软雅黑" panose="020B0503020204020204" charset="-122"/>
                <a:ea typeface="微软雅黑" panose="020B0503020204020204" charset="-122"/>
                <a:cs typeface="微软雅黑" panose="020B0503020204020204" charset="-122"/>
              </a:rPr>
              <a:t>pooing</a:t>
            </a:r>
            <a:r>
              <a:rPr lang="zh-CN" altLang="en-US">
                <a:latin typeface="微软雅黑" panose="020B0503020204020204" charset="-122"/>
                <a:ea typeface="微软雅黑" panose="020B0503020204020204" charset="-122"/>
                <a:cs typeface="微软雅黑" panose="020B0503020204020204" charset="-122"/>
              </a:rPr>
              <a:t>的方式增大感受野代价是空间分辨率降低，这种方式浪费了很多空间信息。相比原来的标准卷积膨胀卷积多了一个超参数</a:t>
            </a:r>
            <a:r>
              <a:rPr lang="en-US" altLang="zh-CN">
                <a:latin typeface="微软雅黑" panose="020B0503020204020204" charset="-122"/>
                <a:ea typeface="微软雅黑" panose="020B0503020204020204" charset="-122"/>
                <a:cs typeface="微软雅黑" panose="020B0503020204020204" charset="-122"/>
              </a:rPr>
              <a:t>-</a:t>
            </a:r>
            <a:r>
              <a:rPr lang="zh-CN" altLang="en-US">
                <a:latin typeface="微软雅黑" panose="020B0503020204020204" charset="-122"/>
                <a:ea typeface="微软雅黑" panose="020B0503020204020204" charset="-122"/>
                <a:cs typeface="微软雅黑" panose="020B0503020204020204" charset="-122"/>
              </a:rPr>
              <a:t>扩张率，指的是</a:t>
            </a:r>
            <a:r>
              <a:rPr lang="en-US" altLang="zh-CN">
                <a:latin typeface="微软雅黑" panose="020B0503020204020204" charset="-122"/>
                <a:ea typeface="微软雅黑" panose="020B0503020204020204" charset="-122"/>
                <a:cs typeface="微软雅黑" panose="020B0503020204020204" charset="-122"/>
              </a:rPr>
              <a:t>kernel</a:t>
            </a:r>
            <a:r>
              <a:rPr lang="zh-CN" altLang="en-US">
                <a:latin typeface="微软雅黑" panose="020B0503020204020204" charset="-122"/>
                <a:ea typeface="微软雅黑" panose="020B0503020204020204" charset="-122"/>
                <a:cs typeface="微软雅黑" panose="020B0503020204020204" charset="-122"/>
              </a:rPr>
              <a:t>各点之前的间隔数量。这样在不丢失分辨率的前提下拥有了更大的感受野。</a:t>
            </a:r>
            <a:endParaRPr lang="zh-CN" altLang="en-US">
              <a:latin typeface="微软雅黑" panose="020B0503020204020204" charset="-122"/>
              <a:ea typeface="微软雅黑" panose="020B0503020204020204" charset="-122"/>
              <a:cs typeface="微软雅黑" panose="020B0503020204020204" charset="-122"/>
            </a:endParaRPr>
          </a:p>
        </p:txBody>
      </p:sp>
      <p:pic>
        <p:nvPicPr>
          <p:cNvPr id="4" name="图片 3"/>
          <p:cNvPicPr>
            <a:picLocks noChangeAspect="1"/>
          </p:cNvPicPr>
          <p:nvPr/>
        </p:nvPicPr>
        <p:blipFill>
          <a:blip r:embed="rId1"/>
          <a:srcRect b="6879"/>
          <a:stretch>
            <a:fillRect/>
          </a:stretch>
        </p:blipFill>
        <p:spPr>
          <a:xfrm>
            <a:off x="5433060" y="4247515"/>
            <a:ext cx="5965825" cy="2045970"/>
          </a:xfrm>
          <a:prstGeom prst="rect">
            <a:avLst/>
          </a:prstGeom>
        </p:spPr>
      </p:pic>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tretch>
            <a:fillRect/>
          </a:stretch>
        </p:blipFill>
        <p:spPr>
          <a:xfrm>
            <a:off x="445770" y="2797810"/>
            <a:ext cx="3995420" cy="3561080"/>
          </a:xfrm>
          <a:prstGeom prst="rect">
            <a:avLst/>
          </a:prstGeom>
        </p:spPr>
      </p:pic>
      <p:sp>
        <p:nvSpPr>
          <p:cNvPr id="3" name="文本框 2"/>
          <p:cNvSpPr txBox="1"/>
          <p:nvPr/>
        </p:nvSpPr>
        <p:spPr>
          <a:xfrm>
            <a:off x="582930" y="636905"/>
            <a:ext cx="10524490" cy="1523365"/>
          </a:xfrm>
          <a:prstGeom prst="rect">
            <a:avLst/>
          </a:prstGeom>
          <a:noFill/>
        </p:spPr>
        <p:txBody>
          <a:bodyPr wrap="square" rtlCol="0" anchor="t">
            <a:noAutofit/>
          </a:bodyPr>
          <a:p>
            <a:r>
              <a:rPr lang="zh-CN" altLang="en-US" b="1"/>
              <a:t>数据集</a:t>
            </a:r>
            <a:r>
              <a:rPr lang="en-US" altLang="zh-CN"/>
              <a:t> </a:t>
            </a:r>
            <a:endParaRPr lang="en-US" altLang="zh-CN"/>
          </a:p>
          <a:p>
            <a:r>
              <a:rPr lang="en-US" altLang="zh-CN"/>
              <a:t>        See in the dark</a:t>
            </a:r>
            <a:r>
              <a:rPr lang="zh-CN" altLang="en-US"/>
              <a:t>（</a:t>
            </a:r>
            <a:r>
              <a:rPr lang="en-US" altLang="zh-CN"/>
              <a:t>SID</a:t>
            </a:r>
            <a:r>
              <a:rPr lang="zh-CN" altLang="en-US"/>
              <a:t>）数据集包含</a:t>
            </a:r>
            <a:r>
              <a:rPr lang="en-US" altLang="zh-CN"/>
              <a:t>5094</a:t>
            </a:r>
            <a:r>
              <a:rPr lang="zh-CN" altLang="en-US"/>
              <a:t>张原始的短曝光图像，每一张都有一个参考的长曝光图像。图像由两台相机</a:t>
            </a:r>
            <a:r>
              <a:rPr lang="en-US" altLang="zh-CN"/>
              <a:t>(</a:t>
            </a:r>
            <a:r>
              <a:rPr lang="zh-CN" altLang="en-US"/>
              <a:t>顶部和底部</a:t>
            </a:r>
            <a:r>
              <a:rPr lang="en-US" altLang="zh-CN"/>
              <a:t>)</a:t>
            </a:r>
            <a:r>
              <a:rPr lang="zh-CN" altLang="en-US"/>
              <a:t>采集，包含室内和室外。比较有价值的一点就是数据集合都是在极其暗的光照条件下进行拍摄的，是第一个建立的有</a:t>
            </a:r>
            <a:r>
              <a:rPr lang="en-US" altLang="zh-CN"/>
              <a:t>groundtruth</a:t>
            </a:r>
            <a:r>
              <a:rPr lang="zh-CN" altLang="en-US"/>
              <a:t>的低光照数据集合。</a:t>
            </a:r>
            <a:endParaRPr lang="zh-CN" altLang="en-US"/>
          </a:p>
        </p:txBody>
      </p:sp>
      <p:pic>
        <p:nvPicPr>
          <p:cNvPr id="4" name="图片 3"/>
          <p:cNvPicPr>
            <a:picLocks noChangeAspect="1"/>
          </p:cNvPicPr>
          <p:nvPr/>
        </p:nvPicPr>
        <p:blipFill>
          <a:blip r:embed="rId2"/>
          <a:stretch>
            <a:fillRect/>
          </a:stretch>
        </p:blipFill>
        <p:spPr>
          <a:xfrm>
            <a:off x="537210" y="1841500"/>
            <a:ext cx="3812540" cy="1878330"/>
          </a:xfrm>
          <a:prstGeom prst="rect">
            <a:avLst/>
          </a:prstGeom>
        </p:spPr>
      </p:pic>
      <p:sp>
        <p:nvSpPr>
          <p:cNvPr id="6" name="文本框 5"/>
          <p:cNvSpPr txBox="1"/>
          <p:nvPr/>
        </p:nvSpPr>
        <p:spPr>
          <a:xfrm>
            <a:off x="9515475" y="3849370"/>
            <a:ext cx="2000250" cy="1238885"/>
          </a:xfrm>
          <a:prstGeom prst="rect">
            <a:avLst/>
          </a:prstGeom>
          <a:noFill/>
        </p:spPr>
        <p:txBody>
          <a:bodyPr wrap="square" rtlCol="0" anchor="t">
            <a:noAutofit/>
          </a:bodyPr>
          <a:p>
            <a:r>
              <a:rPr lang="zh-CN" altLang="en-US"/>
              <a:t>传统的图像处理方法在极端低光条件下容易受到严重的噪声影响，该方法能够有效地抑制图像噪声，生成色彩均衡、逼真的图像。</a:t>
            </a:r>
            <a:endParaRPr lang="zh-CN" altLang="en-US"/>
          </a:p>
        </p:txBody>
      </p:sp>
      <p:pic>
        <p:nvPicPr>
          <p:cNvPr id="7" name="图片 6"/>
          <p:cNvPicPr>
            <a:picLocks noChangeAspect="1"/>
          </p:cNvPicPr>
          <p:nvPr/>
        </p:nvPicPr>
        <p:blipFill>
          <a:blip r:embed="rId3"/>
          <a:stretch>
            <a:fillRect/>
          </a:stretch>
        </p:blipFill>
        <p:spPr>
          <a:xfrm>
            <a:off x="4441190" y="3656965"/>
            <a:ext cx="4705350" cy="3143250"/>
          </a:xfrm>
          <a:prstGeom prst="rect">
            <a:avLst/>
          </a:prstGeom>
        </p:spPr>
      </p:pic>
      <p:pic>
        <p:nvPicPr>
          <p:cNvPr id="2" name="图片 1"/>
          <p:cNvPicPr>
            <a:picLocks noChangeAspect="1"/>
          </p:cNvPicPr>
          <p:nvPr/>
        </p:nvPicPr>
        <p:blipFill>
          <a:blip r:embed="rId4"/>
          <a:stretch>
            <a:fillRect/>
          </a:stretch>
        </p:blipFill>
        <p:spPr>
          <a:xfrm>
            <a:off x="5225415" y="1841500"/>
            <a:ext cx="6080125" cy="1906905"/>
          </a:xfrm>
          <a:prstGeom prst="rect">
            <a:avLst/>
          </a:prstGeom>
        </p:spPr>
      </p:pic>
    </p:spTree>
    <p:custDataLst>
      <p:tags r:id="rId5"/>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405130" y="534035"/>
            <a:ext cx="4700270" cy="3434715"/>
          </a:xfrm>
          <a:prstGeom prst="rect">
            <a:avLst/>
          </a:prstGeom>
        </p:spPr>
      </p:pic>
      <p:pic>
        <p:nvPicPr>
          <p:cNvPr id="2" name="图片 1"/>
          <p:cNvPicPr>
            <a:picLocks noChangeAspect="1"/>
          </p:cNvPicPr>
          <p:nvPr/>
        </p:nvPicPr>
        <p:blipFill>
          <a:blip r:embed="rId2"/>
          <a:stretch>
            <a:fillRect/>
          </a:stretch>
        </p:blipFill>
        <p:spPr>
          <a:xfrm>
            <a:off x="4015105" y="3146425"/>
            <a:ext cx="5584825" cy="3446780"/>
          </a:xfrm>
          <a:prstGeom prst="rect">
            <a:avLst/>
          </a:prstGeom>
        </p:spPr>
      </p:pic>
      <p:pic>
        <p:nvPicPr>
          <p:cNvPr id="5" name="图片 4"/>
          <p:cNvPicPr>
            <a:picLocks noChangeAspect="1"/>
          </p:cNvPicPr>
          <p:nvPr/>
        </p:nvPicPr>
        <p:blipFill>
          <a:blip r:embed="rId3"/>
          <a:stretch>
            <a:fillRect/>
          </a:stretch>
        </p:blipFill>
        <p:spPr>
          <a:xfrm>
            <a:off x="8514715" y="230505"/>
            <a:ext cx="3508375" cy="4681220"/>
          </a:xfrm>
          <a:prstGeom prst="rect">
            <a:avLst/>
          </a:prstGeom>
        </p:spPr>
      </p:pic>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r>
              <a:rPr lang="en-US" altLang="zh-CN"/>
              <a:t>DNF: Decouple and Feedback Network for Seeing in the Dar</a:t>
            </a:r>
            <a:endParaRPr lang="en-US" altLang="zh-CN"/>
          </a:p>
        </p:txBody>
      </p:sp>
      <p:sp>
        <p:nvSpPr>
          <p:cNvPr id="3" name="文本框 2"/>
          <p:cNvSpPr txBox="1"/>
          <p:nvPr/>
        </p:nvSpPr>
        <p:spPr>
          <a:xfrm>
            <a:off x="622935" y="1127125"/>
            <a:ext cx="8807450" cy="2861310"/>
          </a:xfrm>
          <a:prstGeom prst="rect">
            <a:avLst/>
          </a:prstGeom>
          <a:noFill/>
        </p:spPr>
        <p:txBody>
          <a:bodyPr wrap="square" rtlCol="0" anchor="t">
            <a:spAutoFit/>
          </a:bodyPr>
          <a:p>
            <a:r>
              <a:rPr lang="zh-CN" altLang="en-US"/>
              <a:t>研究</a:t>
            </a:r>
            <a:r>
              <a:rPr lang="zh-CN" altLang="en-US"/>
              <a:t>动机：在极低光条件下，直接使用手机拍摄的</a:t>
            </a:r>
            <a:r>
              <a:rPr lang="en-US" altLang="zh-CN"/>
              <a:t>JPEG</a:t>
            </a:r>
            <a:r>
              <a:rPr lang="zh-CN" altLang="en-US"/>
              <a:t>（</a:t>
            </a:r>
            <a:r>
              <a:rPr lang="en-US" altLang="zh-CN"/>
              <a:t>sRGB</a:t>
            </a:r>
            <a:r>
              <a:rPr lang="zh-CN" altLang="en-US"/>
              <a:t>格式）图像质量很差。而相机传感器直接输出的</a:t>
            </a:r>
            <a:r>
              <a:rPr lang="en-US" altLang="zh-CN"/>
              <a:t>RAW</a:t>
            </a:r>
            <a:r>
              <a:rPr lang="zh-CN" altLang="en-US"/>
              <a:t>格式数据因其具有线性响应、噪声分布可追踪、位深更高等独特优势，为低光增强提供了更大的潜力。</a:t>
            </a:r>
            <a:endParaRPr lang="zh-CN" altLang="en-US"/>
          </a:p>
          <a:p>
            <a:r>
              <a:rPr lang="zh-CN" altLang="en-US"/>
              <a:t>然而，现有的基于</a:t>
            </a:r>
            <a:r>
              <a:rPr lang="en-US" altLang="zh-CN"/>
              <a:t>RAW</a:t>
            </a:r>
            <a:r>
              <a:rPr lang="zh-CN" altLang="en-US"/>
              <a:t>数据的深度学习方法存在两大固有局限：</a:t>
            </a:r>
            <a:endParaRPr lang="zh-CN" altLang="en-US"/>
          </a:p>
          <a:p>
            <a:r>
              <a:rPr lang="zh-CN" altLang="en-US" b="1"/>
              <a:t>单阶段方法的</a:t>
            </a:r>
            <a:r>
              <a:rPr lang="en-US" altLang="zh-CN" b="1"/>
              <a:t>“</a:t>
            </a:r>
            <a:r>
              <a:rPr lang="zh-CN" altLang="en-US" b="1"/>
              <a:t>域模糊</a:t>
            </a:r>
            <a:r>
              <a:rPr lang="en-US" altLang="zh-CN" b="1"/>
              <a:t>”</a:t>
            </a:r>
            <a:r>
              <a:rPr lang="zh-CN" altLang="en-US" b="1"/>
              <a:t>问题</a:t>
            </a:r>
            <a:r>
              <a:rPr lang="zh-CN" altLang="en-US"/>
              <a:t>：这些方法（如图</a:t>
            </a:r>
            <a:r>
              <a:rPr lang="en-US" altLang="zh-CN"/>
              <a:t>1a</a:t>
            </a:r>
            <a:r>
              <a:rPr lang="zh-CN" altLang="en-US"/>
              <a:t>）迫使网络直接学习从</a:t>
            </a:r>
            <a:r>
              <a:rPr lang="en-US" altLang="zh-CN"/>
              <a:t>“</a:t>
            </a:r>
            <a:r>
              <a:rPr lang="zh-CN" altLang="en-US"/>
              <a:t>带噪</a:t>
            </a:r>
            <a:r>
              <a:rPr lang="en-US" altLang="zh-CN"/>
              <a:t>RAW</a:t>
            </a:r>
            <a:r>
              <a:rPr lang="zh-CN" altLang="en-US"/>
              <a:t>域</a:t>
            </a:r>
            <a:r>
              <a:rPr lang="en-US" altLang="zh-CN"/>
              <a:t>”</a:t>
            </a:r>
            <a:r>
              <a:rPr lang="zh-CN" altLang="en-US"/>
              <a:t>到</a:t>
            </a:r>
            <a:r>
              <a:rPr lang="en-US" altLang="zh-CN"/>
              <a:t>“</a:t>
            </a:r>
            <a:r>
              <a:rPr lang="zh-CN" altLang="en-US"/>
              <a:t>干净</a:t>
            </a:r>
            <a:r>
              <a:rPr lang="en-US" altLang="zh-CN"/>
              <a:t>sRGB</a:t>
            </a:r>
            <a:r>
              <a:rPr lang="zh-CN" altLang="en-US"/>
              <a:t>域</a:t>
            </a:r>
            <a:r>
              <a:rPr lang="en-US" altLang="zh-CN"/>
              <a:t>”</a:t>
            </a:r>
            <a:r>
              <a:rPr lang="zh-CN" altLang="en-US"/>
              <a:t>的复杂映射。这个混合了</a:t>
            </a:r>
            <a:r>
              <a:rPr lang="en-US" altLang="zh-CN"/>
              <a:t>“</a:t>
            </a:r>
            <a:r>
              <a:rPr lang="zh-CN" altLang="en-US"/>
              <a:t>去噪</a:t>
            </a:r>
            <a:r>
              <a:rPr lang="en-US" altLang="zh-CN"/>
              <a:t>”</a:t>
            </a:r>
            <a:r>
              <a:rPr lang="zh-CN" altLang="en-US"/>
              <a:t>和</a:t>
            </a:r>
            <a:r>
              <a:rPr lang="en-US" altLang="zh-CN"/>
              <a:t>“</a:t>
            </a:r>
            <a:r>
              <a:rPr lang="zh-CN" altLang="en-US"/>
              <a:t>色彩空间转换</a:t>
            </a:r>
            <a:r>
              <a:rPr lang="en-US" altLang="zh-CN"/>
              <a:t>”</a:t>
            </a:r>
            <a:r>
              <a:rPr lang="zh-CN" altLang="en-US"/>
              <a:t>的任务过于复杂，导致网络混淆，使得结果中出现色彩偏差和未处理的噪声。</a:t>
            </a:r>
            <a:endParaRPr lang="zh-CN" altLang="en-US"/>
          </a:p>
          <a:p>
            <a:r>
              <a:rPr lang="zh-CN" altLang="en-US" b="1"/>
              <a:t>多阶段方法的</a:t>
            </a:r>
            <a:r>
              <a:rPr lang="en-US" altLang="zh-CN" b="1"/>
              <a:t>“</a:t>
            </a:r>
            <a:r>
              <a:rPr lang="zh-CN" altLang="en-US" b="1"/>
              <a:t>有损图像级信息流</a:t>
            </a:r>
            <a:r>
              <a:rPr lang="en-US" altLang="zh-CN" b="1"/>
              <a:t>”</a:t>
            </a:r>
            <a:r>
              <a:rPr lang="zh-CN" altLang="en-US" b="1"/>
              <a:t>问题</a:t>
            </a:r>
            <a:r>
              <a:rPr lang="zh-CN" altLang="en-US"/>
              <a:t>：这些方法（如图</a:t>
            </a:r>
            <a:r>
              <a:rPr lang="en-US" altLang="zh-CN"/>
              <a:t>1b</a:t>
            </a:r>
            <a:r>
              <a:rPr lang="zh-CN" altLang="en-US"/>
              <a:t>）通过串联多个子网络进行渐进式增强。但每个阶段仅能将处理后的图像传递给下一阶段，这个图像级的信息流是有损的，会导致错误累积和细节丢失。</a:t>
            </a:r>
            <a:endParaRPr lang="zh-CN" altLang="en-US"/>
          </a:p>
        </p:txBody>
      </p:sp>
      <p:pic>
        <p:nvPicPr>
          <p:cNvPr id="4" name="图片 3"/>
          <p:cNvPicPr>
            <a:picLocks noChangeAspect="1"/>
          </p:cNvPicPr>
          <p:nvPr/>
        </p:nvPicPr>
        <p:blipFill>
          <a:blip r:embed="rId2"/>
          <a:stretch>
            <a:fillRect/>
          </a:stretch>
        </p:blipFill>
        <p:spPr>
          <a:xfrm>
            <a:off x="6944995" y="3729990"/>
            <a:ext cx="4895850" cy="3010535"/>
          </a:xfrm>
          <a:prstGeom prst="rect">
            <a:avLst/>
          </a:prstGeom>
        </p:spPr>
      </p:pic>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316865" y="292100"/>
            <a:ext cx="8306435" cy="4799965"/>
          </a:xfrm>
          <a:prstGeom prst="rect">
            <a:avLst/>
          </a:prstGeom>
          <a:noFill/>
        </p:spPr>
        <p:txBody>
          <a:bodyPr wrap="square" rtlCol="0" anchor="t">
            <a:spAutoFit/>
          </a:bodyPr>
          <a:p>
            <a:r>
              <a:rPr lang="zh-CN" altLang="en-US"/>
              <a:t>创新点一：领域特定任务</a:t>
            </a:r>
            <a:r>
              <a:rPr lang="zh-CN" altLang="en-US" b="1"/>
              <a:t>解耦</a:t>
            </a:r>
            <a:endParaRPr lang="zh-CN" altLang="en-US" b="1"/>
          </a:p>
          <a:p>
            <a:r>
              <a:rPr lang="en-US" altLang="zh-CN"/>
              <a:t>DNF</a:t>
            </a:r>
            <a:r>
              <a:rPr lang="zh-CN" altLang="en-US"/>
              <a:t>将复杂的低光增强任务分解为两个更简单、目标明确的子任务，分别在最适合的领域内完成：</a:t>
            </a:r>
            <a:endParaRPr lang="zh-CN" altLang="en-US"/>
          </a:p>
          <a:p>
            <a:r>
              <a:rPr lang="zh-CN" altLang="en-US"/>
              <a:t>在</a:t>
            </a:r>
            <a:r>
              <a:rPr lang="en-US" altLang="zh-CN"/>
              <a:t>RAW</a:t>
            </a:r>
            <a:r>
              <a:rPr lang="zh-CN" altLang="en-US"/>
              <a:t>域进行去噪：利用</a:t>
            </a:r>
            <a:r>
              <a:rPr lang="en-US" altLang="zh-CN"/>
              <a:t>RAW</a:t>
            </a:r>
            <a:r>
              <a:rPr lang="zh-CN" altLang="en-US"/>
              <a:t>数据中噪声分布可追踪的特性，首先在</a:t>
            </a:r>
            <a:r>
              <a:rPr lang="en-US" altLang="zh-CN"/>
              <a:t>RAW</a:t>
            </a:r>
            <a:r>
              <a:rPr lang="zh-CN" altLang="en-US"/>
              <a:t>域专注于去除噪声。</a:t>
            </a:r>
            <a:endParaRPr lang="zh-CN" altLang="en-US"/>
          </a:p>
          <a:p>
            <a:r>
              <a:rPr lang="zh-CN" altLang="en-US"/>
              <a:t>转换到</a:t>
            </a:r>
            <a:r>
              <a:rPr lang="en-US" altLang="zh-CN"/>
              <a:t>sRGB</a:t>
            </a:r>
            <a:r>
              <a:rPr lang="zh-CN" altLang="en-US"/>
              <a:t>域进行色彩校正：在获得相对干净的</a:t>
            </a:r>
            <a:r>
              <a:rPr lang="en-US" altLang="zh-CN"/>
              <a:t>RAW</a:t>
            </a:r>
            <a:r>
              <a:rPr lang="zh-CN" altLang="en-US"/>
              <a:t>数据后，再进行色彩空间转换和渲染，避免了噪声对色彩转换过程的干扰。</a:t>
            </a:r>
            <a:endParaRPr lang="zh-CN" altLang="en-US"/>
          </a:p>
          <a:p>
            <a:r>
              <a:rPr lang="zh-CN" altLang="en-US"/>
              <a:t>这种解耦设计从根本上解决了</a:t>
            </a:r>
            <a:r>
              <a:rPr lang="en-US" altLang="zh-CN"/>
              <a:t>“</a:t>
            </a:r>
            <a:r>
              <a:rPr lang="zh-CN" altLang="en-US"/>
              <a:t>域模糊</a:t>
            </a:r>
            <a:r>
              <a:rPr lang="en-US" altLang="zh-CN"/>
              <a:t>”</a:t>
            </a:r>
            <a:r>
              <a:rPr lang="zh-CN" altLang="en-US"/>
              <a:t>问题，让网络能够充分发挥不同数据域的优势。</a:t>
            </a:r>
            <a:endParaRPr lang="zh-CN" altLang="en-US"/>
          </a:p>
          <a:p>
            <a:r>
              <a:rPr lang="zh-CN" altLang="en-US"/>
              <a:t>创新点二：去噪先验</a:t>
            </a:r>
            <a:r>
              <a:rPr lang="zh-CN" altLang="en-US" b="1"/>
              <a:t>反馈</a:t>
            </a:r>
            <a:r>
              <a:rPr lang="zh-CN" altLang="en-US"/>
              <a:t>机制</a:t>
            </a:r>
            <a:endParaRPr lang="zh-CN" altLang="en-US"/>
          </a:p>
          <a:p>
            <a:r>
              <a:rPr lang="en-US" altLang="zh-CN"/>
              <a:t>DNF</a:t>
            </a:r>
            <a:r>
              <a:rPr lang="zh-CN" altLang="en-US"/>
              <a:t>摒弃了传统的、有损的图像级信息流，采用了更高效的特征级信息流。其关键机制是</a:t>
            </a:r>
            <a:r>
              <a:rPr lang="en-US" altLang="zh-CN"/>
              <a:t>“</a:t>
            </a:r>
            <a:r>
              <a:rPr lang="zh-CN" altLang="en-US"/>
              <a:t>去噪先验反馈</a:t>
            </a:r>
            <a:r>
              <a:rPr lang="en-US" altLang="zh-CN"/>
              <a:t>”</a:t>
            </a:r>
            <a:r>
              <a:rPr lang="zh-CN" altLang="en-US"/>
              <a:t>：</a:t>
            </a:r>
            <a:endParaRPr lang="zh-CN" altLang="en-US"/>
          </a:p>
          <a:p>
            <a:r>
              <a:rPr lang="zh-CN" altLang="en-US"/>
              <a:t>反馈</a:t>
            </a:r>
            <a:r>
              <a:rPr lang="zh-CN" altLang="en-US"/>
              <a:t>内容：将</a:t>
            </a:r>
            <a:r>
              <a:rPr lang="en-US" altLang="zh-CN"/>
              <a:t>RAW</a:t>
            </a:r>
            <a:r>
              <a:rPr lang="zh-CN" altLang="en-US"/>
              <a:t>域去噪解码器（</a:t>
            </a:r>
            <a:r>
              <a:rPr lang="en-US" altLang="zh-CN"/>
              <a:t>D_raw</a:t>
            </a:r>
            <a:r>
              <a:rPr lang="zh-CN" altLang="en-US"/>
              <a:t>）中提取的多尺度去噪特征（</a:t>
            </a:r>
            <a:r>
              <a:rPr lang="en-US" altLang="zh-CN"/>
              <a:t>F_dn</a:t>
            </a:r>
            <a:r>
              <a:rPr lang="zh-CN" altLang="en-US"/>
              <a:t>），而不仅仅是最终的去噪图像。</a:t>
            </a:r>
            <a:endParaRPr lang="zh-CN" altLang="en-US"/>
          </a:p>
          <a:p>
            <a:r>
              <a:rPr lang="zh-CN" altLang="en-US"/>
              <a:t>反馈</a:t>
            </a:r>
            <a:r>
              <a:rPr lang="zh-CN" altLang="en-US"/>
              <a:t>位置：将这些特征反馈回共享的</a:t>
            </a:r>
            <a:r>
              <a:rPr lang="en-US" altLang="zh-CN"/>
              <a:t>RAW</a:t>
            </a:r>
            <a:r>
              <a:rPr lang="zh-CN" altLang="en-US"/>
              <a:t>编码器（</a:t>
            </a:r>
            <a:r>
              <a:rPr lang="en-US" altLang="zh-CN"/>
              <a:t>E‘_raw</a:t>
            </a:r>
            <a:r>
              <a:rPr lang="zh-CN" altLang="en-US"/>
              <a:t>）的对应层级。</a:t>
            </a:r>
            <a:endParaRPr lang="zh-CN" altLang="en-US"/>
          </a:p>
          <a:p>
            <a:r>
              <a:rPr lang="zh-CN" altLang="en-US"/>
              <a:t>如何融合：通过专门设计的门控融合模块（</a:t>
            </a:r>
            <a:r>
              <a:rPr lang="en-US" altLang="zh-CN"/>
              <a:t>GFM</a:t>
            </a:r>
            <a:r>
              <a:rPr lang="zh-CN" altLang="en-US"/>
              <a:t>），自适应地将去噪先验特征与编码器中的原始特征融合。</a:t>
            </a:r>
            <a:r>
              <a:rPr lang="en-US" altLang="zh-CN"/>
              <a:t>GFM</a:t>
            </a:r>
            <a:r>
              <a:rPr lang="zh-CN" altLang="en-US"/>
              <a:t>能智能地选择有用的细节信息，抑制残留噪声。</a:t>
            </a:r>
            <a:endParaRPr lang="zh-CN" altLang="en-US"/>
          </a:p>
        </p:txBody>
      </p:sp>
      <p:pic>
        <p:nvPicPr>
          <p:cNvPr id="4" name="图片 3"/>
          <p:cNvPicPr/>
          <p:nvPr/>
        </p:nvPicPr>
        <p:blipFill>
          <a:blip r:embed="rId1"/>
          <a:stretch>
            <a:fillRect/>
          </a:stretch>
        </p:blipFill>
        <p:spPr>
          <a:xfrm>
            <a:off x="8168005" y="4970145"/>
            <a:ext cx="4023995" cy="1795780"/>
          </a:xfrm>
          <a:prstGeom prst="rect">
            <a:avLst/>
          </a:prstGeom>
        </p:spPr>
      </p:pic>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001395" y="578485"/>
            <a:ext cx="6173470" cy="3088005"/>
          </a:xfrm>
          <a:prstGeom prst="rect">
            <a:avLst/>
          </a:prstGeom>
          <a:noFill/>
        </p:spPr>
        <p:txBody>
          <a:bodyPr wrap="square" rtlCol="0" anchor="t">
            <a:noAutofit/>
          </a:bodyPr>
          <a:p>
            <a:r>
              <a:rPr lang="zh-CN" altLang="en-US" b="1"/>
              <a:t>通道独立去噪块（</a:t>
            </a:r>
            <a:r>
              <a:rPr lang="en-US" altLang="zh-CN" b="1"/>
              <a:t>CID Block</a:t>
            </a:r>
            <a:r>
              <a:rPr lang="zh-CN" altLang="en-US" b="1"/>
              <a:t>）</a:t>
            </a:r>
            <a:r>
              <a:rPr lang="zh-CN" altLang="en-US"/>
              <a:t>：用于</a:t>
            </a:r>
            <a:r>
              <a:rPr lang="en-US" altLang="zh-CN"/>
              <a:t>RAW</a:t>
            </a:r>
            <a:r>
              <a:rPr lang="zh-CN" altLang="en-US"/>
              <a:t>域的编码器和解码器。采用大核深度可分离卷积，基于</a:t>
            </a:r>
            <a:r>
              <a:rPr lang="en-US" altLang="zh-CN"/>
              <a:t>RAW</a:t>
            </a:r>
            <a:r>
              <a:rPr lang="zh-CN" altLang="en-US"/>
              <a:t>数据不同通道噪声独立的先验知识，进行高效去噪。</a:t>
            </a:r>
            <a:endParaRPr lang="zh-CN" altLang="en-US"/>
          </a:p>
          <a:p>
            <a:r>
              <a:rPr lang="zh-CN" altLang="en-US" b="1"/>
              <a:t>矩阵化色彩校正块（</a:t>
            </a:r>
            <a:r>
              <a:rPr lang="en-US" altLang="zh-CN" b="1"/>
              <a:t>MCC Block</a:t>
            </a:r>
            <a:r>
              <a:rPr lang="zh-CN" altLang="en-US" b="1"/>
              <a:t>）</a:t>
            </a:r>
            <a:r>
              <a:rPr lang="zh-CN" altLang="en-US"/>
              <a:t>：用于</a:t>
            </a:r>
            <a:r>
              <a:rPr lang="en-US" altLang="zh-CN"/>
              <a:t>sRGB</a:t>
            </a:r>
            <a:r>
              <a:rPr lang="zh-CN" altLang="en-US"/>
              <a:t>域的解码器。受</a:t>
            </a:r>
            <a:r>
              <a:rPr lang="en-US" altLang="zh-CN"/>
              <a:t>ISP</a:t>
            </a:r>
            <a:r>
              <a:rPr lang="zh-CN" altLang="en-US"/>
              <a:t>管线中色彩矩阵变换的启发，使用变换自注意力机制进行全局色彩校正，并结合卷积进行局部细节优化。</a:t>
            </a:r>
            <a:endParaRPr lang="zh-CN" altLang="en-US"/>
          </a:p>
          <a:p>
            <a:r>
              <a:rPr lang="zh-CN" altLang="en-US" b="1"/>
              <a:t>残差切换机制（</a:t>
            </a:r>
            <a:r>
              <a:rPr lang="en-US" altLang="zh-CN" b="1"/>
              <a:t>RSM</a:t>
            </a:r>
            <a:r>
              <a:rPr lang="zh-CN" altLang="en-US" b="1"/>
              <a:t>）</a:t>
            </a:r>
            <a:r>
              <a:rPr lang="zh-CN" altLang="en-US"/>
              <a:t>：这是一个精巧的设计。为了让同一个共享编码器能在</a:t>
            </a:r>
            <a:r>
              <a:rPr lang="en-US" altLang="zh-CN"/>
              <a:t>“</a:t>
            </a:r>
            <a:r>
              <a:rPr lang="zh-CN" altLang="en-US"/>
              <a:t>去噪阶段</a:t>
            </a:r>
            <a:r>
              <a:rPr lang="en-US" altLang="zh-CN"/>
              <a:t>”</a:t>
            </a:r>
            <a:r>
              <a:rPr lang="zh-CN" altLang="en-US"/>
              <a:t>和</a:t>
            </a:r>
            <a:r>
              <a:rPr lang="en-US" altLang="zh-CN"/>
              <a:t>“</a:t>
            </a:r>
            <a:r>
              <a:rPr lang="zh-CN" altLang="en-US"/>
              <a:t>色彩恢复阶段</a:t>
            </a:r>
            <a:r>
              <a:rPr lang="en-US" altLang="zh-CN"/>
              <a:t>”</a:t>
            </a:r>
            <a:r>
              <a:rPr lang="zh-CN" altLang="en-US"/>
              <a:t>执行两种矛盾的功能（前者估计噪声，后者重建信号），</a:t>
            </a:r>
            <a:r>
              <a:rPr lang="en-US" altLang="zh-CN"/>
              <a:t>RSM</a:t>
            </a:r>
            <a:r>
              <a:rPr lang="zh-CN" altLang="en-US"/>
              <a:t>通过开关局部残差连接来实现。如图所示，没有</a:t>
            </a:r>
            <a:r>
              <a:rPr lang="en-US" altLang="zh-CN"/>
              <a:t>RSM</a:t>
            </a:r>
            <a:r>
              <a:rPr lang="zh-CN" altLang="en-US"/>
              <a:t>，编码器无法区分这两个任务，导致特征模糊。</a:t>
            </a:r>
            <a:endParaRPr lang="zh-CN" altLang="en-US"/>
          </a:p>
        </p:txBody>
      </p:sp>
      <p:pic>
        <p:nvPicPr>
          <p:cNvPr id="4" name="图片 3"/>
          <p:cNvPicPr>
            <a:picLocks noChangeAspect="1"/>
          </p:cNvPicPr>
          <p:nvPr/>
        </p:nvPicPr>
        <p:blipFill>
          <a:blip r:embed="rId1"/>
          <a:stretch>
            <a:fillRect/>
          </a:stretch>
        </p:blipFill>
        <p:spPr>
          <a:xfrm>
            <a:off x="1417320" y="3728085"/>
            <a:ext cx="4251960" cy="2948305"/>
          </a:xfrm>
          <a:prstGeom prst="rect">
            <a:avLst/>
          </a:prstGeom>
        </p:spPr>
      </p:pic>
      <p:sp>
        <p:nvSpPr>
          <p:cNvPr id="5" name="文本框 4"/>
          <p:cNvSpPr txBox="1"/>
          <p:nvPr/>
        </p:nvSpPr>
        <p:spPr>
          <a:xfrm>
            <a:off x="7517130" y="3235325"/>
            <a:ext cx="4046220" cy="2825115"/>
          </a:xfrm>
          <a:prstGeom prst="rect">
            <a:avLst/>
          </a:prstGeom>
          <a:noFill/>
        </p:spPr>
        <p:txBody>
          <a:bodyPr wrap="square" rtlCol="0" anchor="t">
            <a:noAutofit/>
          </a:bodyPr>
          <a:p>
            <a:r>
              <a:rPr lang="en-US" altLang="zh-CN"/>
              <a:t>DNF</a:t>
            </a:r>
            <a:r>
              <a:rPr lang="zh-CN" altLang="en-US"/>
              <a:t>核心</a:t>
            </a:r>
            <a:r>
              <a:rPr lang="zh-CN" altLang="en-US"/>
              <a:t>思想：通过</a:t>
            </a:r>
            <a:r>
              <a:rPr lang="en-US" altLang="zh-CN"/>
              <a:t>“</a:t>
            </a:r>
            <a:r>
              <a:rPr lang="zh-CN" altLang="en-US"/>
              <a:t>领域特定任务解耦</a:t>
            </a:r>
            <a:r>
              <a:rPr lang="en-US" altLang="zh-CN"/>
              <a:t>”</a:t>
            </a:r>
            <a:r>
              <a:rPr lang="zh-CN" altLang="en-US"/>
              <a:t>将低光增强这个复杂问题分解为去噪和色彩校正两个明确的子任务，再通过</a:t>
            </a:r>
            <a:r>
              <a:rPr lang="en-US" altLang="zh-CN"/>
              <a:t>“</a:t>
            </a:r>
            <a:r>
              <a:rPr lang="zh-CN" altLang="en-US"/>
              <a:t>去噪先验反馈</a:t>
            </a:r>
            <a:r>
              <a:rPr lang="en-US" altLang="zh-CN"/>
              <a:t>”</a:t>
            </a:r>
            <a:r>
              <a:rPr lang="zh-CN" altLang="en-US"/>
              <a:t>机制建立特征级的、丰富的信息流来连接这两个子任务，从而同时解决了单阶段方法的域模糊问题和多阶段方法的信息损失问题，实现了高性能、高效率的低光图像增强。</a:t>
            </a:r>
            <a:endParaRPr lang="zh-CN" altLang="en-US"/>
          </a:p>
        </p:txBody>
      </p:sp>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170815" y="167640"/>
            <a:ext cx="6805930" cy="3937000"/>
          </a:xfrm>
          <a:prstGeom prst="rect">
            <a:avLst/>
          </a:prstGeom>
        </p:spPr>
      </p:pic>
      <p:pic>
        <p:nvPicPr>
          <p:cNvPr id="2" name="图片 1"/>
          <p:cNvPicPr/>
          <p:nvPr/>
        </p:nvPicPr>
        <p:blipFill>
          <a:blip r:embed="rId2"/>
          <a:stretch>
            <a:fillRect/>
          </a:stretch>
        </p:blipFill>
        <p:spPr>
          <a:xfrm>
            <a:off x="5015230" y="3338830"/>
            <a:ext cx="7060565" cy="3338195"/>
          </a:xfrm>
          <a:prstGeom prst="rect">
            <a:avLst/>
          </a:prstGeom>
        </p:spPr>
      </p:pic>
      <p:sp>
        <p:nvSpPr>
          <p:cNvPr id="4" name="文本框 3"/>
          <p:cNvSpPr txBox="1"/>
          <p:nvPr/>
        </p:nvSpPr>
        <p:spPr>
          <a:xfrm>
            <a:off x="5413375" y="628650"/>
            <a:ext cx="6565900" cy="1583690"/>
          </a:xfrm>
          <a:prstGeom prst="rect">
            <a:avLst/>
          </a:prstGeom>
          <a:noFill/>
        </p:spPr>
        <p:txBody>
          <a:bodyPr wrap="square" rtlCol="0" anchor="t">
            <a:noAutofit/>
          </a:bodyPr>
          <a:p>
            <a:r>
              <a:rPr lang="zh-CN" altLang="en-US"/>
              <a:t>模块化设计：共享编码器、信息增强、纹理增强、色彩校正、门控融合等模块划分合理，符合现代深度学习模型的设计思想。</a:t>
            </a:r>
            <a:endParaRPr lang="zh-CN" altLang="en-US"/>
          </a:p>
          <a:p>
            <a:endParaRPr lang="zh-CN" altLang="en-US"/>
          </a:p>
          <a:p>
            <a:r>
              <a:rPr lang="zh-CN" altLang="en-US"/>
              <a:t>技术前瞻性：包含了</a:t>
            </a:r>
            <a:r>
              <a:rPr lang="en-US" altLang="zh-CN"/>
              <a:t>“</a:t>
            </a:r>
            <a:r>
              <a:rPr lang="zh-CN" altLang="en-US"/>
              <a:t>门控融合</a:t>
            </a:r>
            <a:r>
              <a:rPr lang="en-US" altLang="zh-CN"/>
              <a:t>”</a:t>
            </a:r>
            <a:r>
              <a:rPr lang="zh-CN" altLang="en-US"/>
              <a:t>这类自适应加权的高级概念，并设计了针对纹理和色彩的不同优化路径。</a:t>
            </a:r>
            <a:endParaRPr lang="zh-CN" altLang="en-US"/>
          </a:p>
        </p:txBody>
      </p:sp>
      <p:sp>
        <p:nvSpPr>
          <p:cNvPr id="5" name="文本框 4"/>
          <p:cNvSpPr txBox="1"/>
          <p:nvPr/>
        </p:nvSpPr>
        <p:spPr>
          <a:xfrm>
            <a:off x="452120" y="5430520"/>
            <a:ext cx="4403725" cy="926465"/>
          </a:xfrm>
          <a:prstGeom prst="rect">
            <a:avLst/>
          </a:prstGeom>
          <a:noFill/>
        </p:spPr>
        <p:txBody>
          <a:bodyPr wrap="square" rtlCol="0" anchor="t">
            <a:noAutofit/>
          </a:bodyPr>
          <a:p>
            <a:r>
              <a:rPr lang="zh-CN" altLang="en-US"/>
              <a:t>低光</a:t>
            </a:r>
            <a:r>
              <a:rPr lang="en-US" altLang="zh-CN"/>
              <a:t>RAW</a:t>
            </a:r>
            <a:r>
              <a:rPr lang="zh-CN" altLang="en-US"/>
              <a:t>输入</a:t>
            </a:r>
            <a:r>
              <a:rPr lang="en-US" altLang="zh-CN"/>
              <a:t> </a:t>
            </a:r>
            <a:r>
              <a:rPr lang="en-US" altLang="en-US"/>
              <a:t>→</a:t>
            </a:r>
            <a:r>
              <a:rPr lang="en-US" altLang="zh-CN"/>
              <a:t> </a:t>
            </a:r>
            <a:r>
              <a:rPr lang="zh-CN" altLang="en-US"/>
              <a:t>放大</a:t>
            </a:r>
            <a:r>
              <a:rPr lang="en-US" altLang="zh-CN"/>
              <a:t> </a:t>
            </a:r>
            <a:r>
              <a:rPr lang="en-US" altLang="en-US"/>
              <a:t>→</a:t>
            </a:r>
            <a:r>
              <a:rPr lang="en-US" altLang="zh-CN"/>
              <a:t> </a:t>
            </a:r>
            <a:r>
              <a:rPr lang="zh-CN" altLang="en-US"/>
              <a:t>在</a:t>
            </a:r>
            <a:r>
              <a:rPr lang="en-US" altLang="zh-CN"/>
              <a:t>RAW</a:t>
            </a:r>
            <a:r>
              <a:rPr lang="zh-CN" altLang="en-US"/>
              <a:t>域进行核心去噪</a:t>
            </a:r>
            <a:r>
              <a:rPr lang="en-US" altLang="zh-CN"/>
              <a:t> </a:t>
            </a:r>
            <a:r>
              <a:rPr lang="en-US" altLang="en-US"/>
              <a:t>→</a:t>
            </a:r>
            <a:r>
              <a:rPr lang="en-US" altLang="zh-CN"/>
              <a:t> </a:t>
            </a:r>
            <a:r>
              <a:rPr lang="zh-CN" altLang="en-US"/>
              <a:t>利用去噪结果指导色彩还原</a:t>
            </a:r>
            <a:r>
              <a:rPr lang="en-US" altLang="zh-CN"/>
              <a:t> </a:t>
            </a:r>
            <a:r>
              <a:rPr lang="en-US" altLang="en-US"/>
              <a:t>→</a:t>
            </a:r>
            <a:r>
              <a:rPr lang="en-US" altLang="zh-CN"/>
              <a:t> </a:t>
            </a:r>
            <a:r>
              <a:rPr lang="zh-CN" altLang="en-US"/>
              <a:t>输出清晰、鲜艳的最终图像。</a:t>
            </a:r>
            <a:endParaRPr lang="zh-CN" altLang="en-US"/>
          </a:p>
        </p:txBody>
      </p:sp>
      <p:sp>
        <p:nvSpPr>
          <p:cNvPr id="6" name="文本框 5"/>
          <p:cNvSpPr txBox="1"/>
          <p:nvPr/>
        </p:nvSpPr>
        <p:spPr>
          <a:xfrm>
            <a:off x="170815" y="4104640"/>
            <a:ext cx="4722495" cy="368300"/>
          </a:xfrm>
          <a:prstGeom prst="rect">
            <a:avLst/>
          </a:prstGeom>
          <a:noFill/>
        </p:spPr>
        <p:txBody>
          <a:bodyPr wrap="square" rtlCol="0" anchor="t">
            <a:spAutoFit/>
          </a:bodyPr>
          <a:p>
            <a:r>
              <a:rPr lang="zh-CN" altLang="en-US"/>
              <a:t>纹理增强路径</a:t>
            </a:r>
            <a:r>
              <a:rPr lang="en-US" altLang="zh-CN"/>
              <a:t>+</a:t>
            </a:r>
            <a:r>
              <a:rPr lang="zh-CN" altLang="en-US"/>
              <a:t>色彩校正路径</a:t>
            </a:r>
            <a:r>
              <a:rPr lang="en-US" altLang="zh-CN"/>
              <a:t>+</a:t>
            </a:r>
            <a:r>
              <a:rPr lang="zh-CN" altLang="en-US"/>
              <a:t>门控融合模块</a:t>
            </a:r>
            <a:endParaRPr lang="zh-CN" altLang="en-US"/>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424815" y="341630"/>
            <a:ext cx="6136005" cy="3279775"/>
          </a:xfrm>
          <a:prstGeom prst="rect">
            <a:avLst/>
          </a:prstGeom>
        </p:spPr>
      </p:pic>
      <p:sp>
        <p:nvSpPr>
          <p:cNvPr id="2" name="文本框 1"/>
          <p:cNvSpPr txBox="1"/>
          <p:nvPr/>
        </p:nvSpPr>
        <p:spPr>
          <a:xfrm>
            <a:off x="3970655" y="341630"/>
            <a:ext cx="2459355" cy="829945"/>
          </a:xfrm>
          <a:prstGeom prst="rect">
            <a:avLst/>
          </a:prstGeom>
          <a:noFill/>
        </p:spPr>
        <p:txBody>
          <a:bodyPr wrap="square" rtlCol="0" anchor="t">
            <a:spAutoFit/>
          </a:bodyPr>
          <a:p>
            <a:r>
              <a:rPr lang="zh-CN" altLang="en-US" sz="2400"/>
              <a:t>注意力机制</a:t>
            </a:r>
            <a:r>
              <a:rPr lang="en-US" altLang="zh-CN" sz="2400"/>
              <a:t>+</a:t>
            </a:r>
            <a:endParaRPr lang="en-US" altLang="zh-CN" sz="2400"/>
          </a:p>
          <a:p>
            <a:r>
              <a:rPr lang="zh-CN" altLang="en-US" sz="2400"/>
              <a:t>多尺度特征融合</a:t>
            </a:r>
            <a:endParaRPr lang="zh-CN" altLang="en-US" sz="2400"/>
          </a:p>
        </p:txBody>
      </p:sp>
      <p:sp>
        <p:nvSpPr>
          <p:cNvPr id="4" name="文本框 3"/>
          <p:cNvSpPr txBox="1"/>
          <p:nvPr/>
        </p:nvSpPr>
        <p:spPr>
          <a:xfrm>
            <a:off x="424815" y="3717290"/>
            <a:ext cx="11306810" cy="2030095"/>
          </a:xfrm>
          <a:prstGeom prst="rect">
            <a:avLst/>
          </a:prstGeom>
          <a:noFill/>
        </p:spPr>
        <p:txBody>
          <a:bodyPr wrap="square" rtlCol="0" anchor="t">
            <a:spAutoFit/>
          </a:bodyPr>
          <a:p>
            <a:r>
              <a:rPr lang="zh-CN" altLang="en-US" b="1"/>
              <a:t>上路</a:t>
            </a:r>
            <a:r>
              <a:rPr lang="zh-CN" altLang="en-US"/>
              <a:t>：全局信息引导通路（</a:t>
            </a:r>
            <a:r>
              <a:rPr lang="en-US" altLang="zh-CN"/>
              <a:t>Global Guidance</a:t>
            </a:r>
            <a:r>
              <a:rPr lang="zh-CN" altLang="en-US"/>
              <a:t>）</a:t>
            </a:r>
            <a:endParaRPr lang="zh-CN" altLang="en-US"/>
          </a:p>
          <a:p>
            <a:r>
              <a:rPr lang="zh-CN" altLang="en-US"/>
              <a:t>功能：充当</a:t>
            </a:r>
            <a:r>
              <a:rPr lang="en-US" altLang="zh-CN"/>
              <a:t>“</a:t>
            </a:r>
            <a:r>
              <a:rPr lang="zh-CN" altLang="en-US"/>
              <a:t>总指挥</a:t>
            </a:r>
            <a:r>
              <a:rPr lang="en-US" altLang="zh-CN"/>
              <a:t>”</a:t>
            </a:r>
            <a:r>
              <a:rPr lang="zh-CN" altLang="en-US"/>
              <a:t>的角色。它不处理细节，而是纵观全局，找到图像中哪些部分更重要。</a:t>
            </a:r>
            <a:endParaRPr lang="zh-CN" altLang="en-US"/>
          </a:p>
          <a:p>
            <a:r>
              <a:rPr lang="zh-CN" altLang="en-US"/>
              <a:t>流程：</a:t>
            </a:r>
            <a:r>
              <a:rPr lang="en-US" altLang="zh-CN"/>
              <a:t>AvgPool</a:t>
            </a:r>
            <a:r>
              <a:rPr lang="zh-CN" altLang="en-US"/>
              <a:t>（平均池化）</a:t>
            </a:r>
            <a:r>
              <a:rPr lang="en-US" altLang="en-US"/>
              <a:t>→</a:t>
            </a:r>
            <a:r>
              <a:rPr lang="en-US" altLang="zh-CN"/>
              <a:t> 1x1 Conv</a:t>
            </a:r>
            <a:r>
              <a:rPr lang="zh-CN" altLang="en-US"/>
              <a:t>（压缩通道信息）</a:t>
            </a:r>
            <a:r>
              <a:rPr lang="en-US" altLang="en-US"/>
              <a:t>→</a:t>
            </a:r>
            <a:r>
              <a:rPr lang="en-US" altLang="zh-CN"/>
              <a:t> Sigmoid</a:t>
            </a:r>
            <a:r>
              <a:rPr lang="zh-CN" altLang="en-US"/>
              <a:t>（生成注意力权重图）。</a:t>
            </a:r>
            <a:endParaRPr lang="zh-CN" altLang="en-US"/>
          </a:p>
          <a:p>
            <a:r>
              <a:rPr lang="zh-CN" altLang="en-US"/>
              <a:t>输出：一张与输入特征图空间尺寸相同的</a:t>
            </a:r>
            <a:r>
              <a:rPr lang="en-US" altLang="zh-CN"/>
              <a:t>“</a:t>
            </a:r>
            <a:r>
              <a:rPr lang="zh-CN" altLang="en-US"/>
              <a:t>注意力热图</a:t>
            </a:r>
            <a:r>
              <a:rPr lang="en-US" altLang="zh-CN"/>
              <a:t>”</a:t>
            </a:r>
            <a:r>
              <a:rPr lang="zh-CN" altLang="en-US"/>
              <a:t>，其中每个像素的值在</a:t>
            </a:r>
            <a:r>
              <a:rPr lang="en-US" altLang="zh-CN"/>
              <a:t>0</a:t>
            </a:r>
            <a:r>
              <a:rPr lang="zh-CN" altLang="en-US"/>
              <a:t>到</a:t>
            </a:r>
            <a:r>
              <a:rPr lang="en-US" altLang="zh-CN"/>
              <a:t>1</a:t>
            </a:r>
            <a:r>
              <a:rPr lang="zh-CN" altLang="en-US"/>
              <a:t>之间，代表该位置的重要性。</a:t>
            </a:r>
            <a:endParaRPr lang="zh-CN" altLang="en-US"/>
          </a:p>
          <a:p>
            <a:r>
              <a:rPr lang="zh-CN" altLang="en-US" b="1"/>
              <a:t>下路</a:t>
            </a:r>
            <a:r>
              <a:rPr lang="zh-CN" altLang="en-US"/>
              <a:t>：局部信息提取通路（</a:t>
            </a:r>
            <a:r>
              <a:rPr lang="en-US" altLang="zh-CN"/>
              <a:t>Local Feature Extraction</a:t>
            </a:r>
            <a:r>
              <a:rPr lang="zh-CN" altLang="en-US"/>
              <a:t>）</a:t>
            </a:r>
            <a:endParaRPr lang="zh-CN" altLang="en-US"/>
          </a:p>
          <a:p>
            <a:r>
              <a:rPr lang="zh-CN" altLang="en-US"/>
              <a:t>功能：充当</a:t>
            </a:r>
            <a:r>
              <a:rPr lang="en-US" altLang="zh-CN"/>
              <a:t>“</a:t>
            </a:r>
            <a:r>
              <a:rPr lang="zh-CN" altLang="en-US"/>
              <a:t>细节工程师</a:t>
            </a:r>
            <a:r>
              <a:rPr lang="en-US" altLang="zh-CN"/>
              <a:t>”</a:t>
            </a:r>
            <a:r>
              <a:rPr lang="zh-CN" altLang="en-US"/>
              <a:t>的角色。它通过标准的卷积操作来提取局部的、细节化的特征。</a:t>
            </a:r>
            <a:endParaRPr lang="zh-CN" altLang="en-US"/>
          </a:p>
          <a:p>
            <a:r>
              <a:rPr lang="zh-CN" altLang="en-US"/>
              <a:t>流程：</a:t>
            </a:r>
            <a:r>
              <a:rPr lang="en-US" altLang="zh-CN"/>
              <a:t>3x3 Conv</a:t>
            </a:r>
            <a:r>
              <a:rPr lang="en-US" altLang="en-US"/>
              <a:t>→</a:t>
            </a:r>
            <a:r>
              <a:rPr lang="en-US" altLang="zh-CN"/>
              <a:t> ReLU</a:t>
            </a:r>
            <a:r>
              <a:rPr lang="zh-CN" altLang="en-US"/>
              <a:t>（激活）</a:t>
            </a:r>
            <a:r>
              <a:rPr lang="en-US" altLang="en-US"/>
              <a:t>→</a:t>
            </a:r>
            <a:r>
              <a:rPr lang="en-US" altLang="zh-CN"/>
              <a:t> 3x3 Conv</a:t>
            </a:r>
            <a:r>
              <a:rPr lang="zh-CN" altLang="en-US"/>
              <a:t>。两次卷积结构，用于捕获局部模式。</a:t>
            </a:r>
            <a:endParaRPr lang="zh-CN" altLang="en-US"/>
          </a:p>
        </p:txBody>
      </p:sp>
    </p:spTree>
    <p:custDataLst>
      <p:tags r:id="rId2"/>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264160" y="268605"/>
            <a:ext cx="7986395" cy="2058670"/>
          </a:xfrm>
          <a:prstGeom prst="rect">
            <a:avLst/>
          </a:prstGeom>
        </p:spPr>
      </p:pic>
      <p:sp>
        <p:nvSpPr>
          <p:cNvPr id="4" name="文本框 3"/>
          <p:cNvSpPr txBox="1"/>
          <p:nvPr/>
        </p:nvSpPr>
        <p:spPr>
          <a:xfrm>
            <a:off x="807720" y="2464435"/>
            <a:ext cx="7061835" cy="1198880"/>
          </a:xfrm>
          <a:prstGeom prst="rect">
            <a:avLst/>
          </a:prstGeom>
          <a:noFill/>
        </p:spPr>
        <p:txBody>
          <a:bodyPr wrap="square" rtlCol="0" anchor="t">
            <a:spAutoFit/>
          </a:bodyPr>
          <a:p>
            <a:r>
              <a:rPr lang="zh-CN" altLang="en-US">
                <a:sym typeface="+mn-ea"/>
              </a:rPr>
              <a:t>面向低光图像增强的端到端深度学习模型。</a:t>
            </a:r>
            <a:endParaRPr lang="zh-CN" altLang="en-US">
              <a:sym typeface="+mn-ea"/>
            </a:endParaRPr>
          </a:p>
          <a:p>
            <a:r>
              <a:rPr lang="zh-CN" altLang="en-US">
                <a:sym typeface="+mn-ea"/>
              </a:rPr>
              <a:t>其核心思想是</a:t>
            </a:r>
            <a:r>
              <a:rPr lang="en-US" altLang="zh-CN">
                <a:sym typeface="+mn-ea"/>
              </a:rPr>
              <a:t>“</a:t>
            </a:r>
            <a:r>
              <a:rPr lang="zh-CN" altLang="en-US">
                <a:sym typeface="+mn-ea"/>
              </a:rPr>
              <a:t>分解与协同</a:t>
            </a:r>
            <a:r>
              <a:rPr lang="en-US" altLang="zh-CN">
                <a:sym typeface="+mn-ea"/>
              </a:rPr>
              <a:t>”</a:t>
            </a:r>
            <a:r>
              <a:rPr lang="zh-CN" altLang="en-US">
                <a:sym typeface="+mn-ea"/>
              </a:rPr>
              <a:t>，通过两条并行的、专门化的处理路径分别提取和增强图像的不同属性（如纹理与色彩），最后进行智能融合，以同时输出高质量的</a:t>
            </a:r>
            <a:r>
              <a:rPr lang="en-US" altLang="zh-CN">
                <a:sym typeface="+mn-ea"/>
              </a:rPr>
              <a:t>RAW</a:t>
            </a:r>
            <a:r>
              <a:rPr lang="zh-CN" altLang="en-US">
                <a:sym typeface="+mn-ea"/>
              </a:rPr>
              <a:t>格式和</a:t>
            </a:r>
            <a:r>
              <a:rPr lang="en-US" altLang="zh-CN">
                <a:sym typeface="+mn-ea"/>
              </a:rPr>
              <a:t>RGB</a:t>
            </a:r>
            <a:r>
              <a:rPr lang="zh-CN" altLang="en-US">
                <a:sym typeface="+mn-ea"/>
              </a:rPr>
              <a:t>格式图像。</a:t>
            </a:r>
            <a:endParaRPr lang="zh-CN" altLang="en-US">
              <a:sym typeface="+mn-ea"/>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4.xml><?xml version="1.0" encoding="utf-8"?>
<p:tagLst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8.xml><?xml version="1.0" encoding="utf-8"?>
<p:tagLst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2"/>
</p:tagLst>
</file>

<file path=ppt/tags/tag70.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44"/>
</p:tagLst>
</file>

<file path=ppt/tags/tag71.xml><?xml version="1.0" encoding="utf-8"?>
<p:tagLst xmlns:p="http://schemas.openxmlformats.org/presentationml/2006/main">
  <p:tag name="KSO_WM_UNIT_TYPE" val="f"/>
  <p:tag name="KSO_WM_UNIT_SUBTYPE" val="g"/>
  <p:tag name="KSO_WM_UNIT_INDEX" val="2"/>
  <p:tag name="KSO_WM_BEAUTIFY_FLAG" val="#wm#"/>
  <p:tag name="KSO_WM_TAG_VERSION" val="3.0"/>
  <p:tag name="KSO_WM_UNIT_PRESET_TEXT" val="公司名"/>
  <p:tag name="KSO_WM_UNIT_ID" val="_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11"/>
</p:tagLst>
</file>

<file path=ppt/tags/tag72.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9"/>
</p:tagLst>
</file>

<file path=ppt/tags/tag73.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74.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40"/>
</p:tagLst>
</file>

<file path=ppt/tags/tag75.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6.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7.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8.xml><?xml version="1.0" encoding="utf-8"?>
<p:tagLst xmlns:p="http://schemas.openxmlformats.org/presentationml/2006/main">
  <p:tag name="KSO_WM_UNIT_TYPE" val="i"/>
  <p:tag name="KSO_WM_UNIT_INDEX" val="1"/>
  <p:tag name="KSO_WM_BEAUTIFY_FLAG" val="#wm#"/>
  <p:tag name="KSO_WM_TAG_VERSION" val="3.0"/>
  <p:tag name="KSO_WM_UNIT_ID" val="_3*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9.xml><?xml version="1.0" encoding="utf-8"?>
<p:tagLst xmlns:p="http://schemas.openxmlformats.org/presentationml/2006/main">
  <p:tag name="KSO_WM_UNIT_TYPE" val="i"/>
  <p:tag name="KSO_WM_UNIT_INDEX" val="2"/>
  <p:tag name="KSO_WM_BEAUTIFY_FLAG" val="#wm#"/>
  <p:tag name="KSO_WM_TAG_VERSION" val="3.0"/>
  <p:tag name="KSO_WM_UNIT_ID" val="_3*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0.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1.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2.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3.xml><?xml version="1.0" encoding="utf-8"?>
<p:tagLst xmlns:p="http://schemas.openxmlformats.org/presentationml/2006/main">
  <p:tag name="KSO_WM_UNIT_TYPE" val="i"/>
  <p:tag name="KSO_WM_UNIT_INDEX" val="3"/>
  <p:tag name="KSO_WM_BEAUTIFY_FLAG" val="#wm#"/>
  <p:tag name="KSO_WM_TAG_VERSION" val="3.0"/>
  <p:tag name="KSO_WM_UNIT_ID" val="_3*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4.xml><?xml version="1.0" encoding="utf-8"?>
<p:tagLst xmlns:p="http://schemas.openxmlformats.org/presentationml/2006/main">
  <p:tag name="KSO_WM_UNIT_TYPE" val="a"/>
  <p:tag name="KSO_WM_UNIT_INDEX" val="1"/>
  <p:tag name="KSO_WM_BEAUTIFY_FLAG" val="#wm#"/>
  <p:tag name="KSO_WM_TAG_VERSION" val="3.0"/>
  <p:tag name="KSO_WM_UNIT_PRESET_TEXT" val="标题"/>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3"/>
</p:tagLst>
</file>

<file path=ppt/tags/tag85.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6.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7.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8.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9.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0.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1.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6"/>
</p:tagLst>
</file>

<file path=ppt/tags/tag92.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4*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69"/>
</p:tagLst>
</file>

<file path=ppt/tags/tag93.xml><?xml version="1.0" encoding="utf-8"?>
<p:tagLst xmlns:p="http://schemas.openxmlformats.org/presentationml/2006/main">
  <p:tag name="KSO_WM_UNIT_TYPE" val="e"/>
  <p:tag name="KSO_WM_UNIT_INDEX" val="1"/>
  <p:tag name="KSO_WM_BEAUTIFY_FLAG" val="#wm#"/>
  <p:tag name="KSO_WM_TAG_VERSION" val="3.0"/>
  <p:tag name="KSO_WM_UNIT_PRESET_TEXT" val="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2"/>
</p:tagLst>
</file>

<file path=ppt/tags/tag94.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0"/>
</p:tagLst>
</file>

<file path=ppt/tags/tag95.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5*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96.xml><?xml version="1.0" encoding="utf-8"?>
<p:tagLst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0;第二级&#10;第三级&#10;第四级&#10;第五级"/>
  <p:tag name="KSO_WM_UNIT_ID" val="_5*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97.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8.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9.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0.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标题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 name="KSO_WM_UNIT_VALUE" val="20"/>
</p:tagLst>
</file>

<file path=ppt/tags/tag101.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0;第二级&#10;第三级&#10;第四级&#10;第五级"/>
  <p:tag name="KSO_WM_UNIT_ID" val="_6*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 name="KSO_WM_UNIT_VALUE" val="162"/>
</p:tagLst>
</file>

<file path=ppt/tags/tag102.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标题样式"/>
  <p:tag name="KSO_WM_UNIT_ID" val="_6*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103.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0;第二级&#10;第三级&#10;第四级&#10;第五级"/>
  <p:tag name="KSO_WM_UNIT_ID" val="_6*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Lst>
</file>

<file path=ppt/tags/tag104.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5.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6.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7.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6*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0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09.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0.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1.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2.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3.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4.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5.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408"/>
</p:tagLst>
</file>

<file path=ppt/tags/tag116.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7.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8.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9.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0*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41"/>
</p:tagLst>
</file>

<file path=ppt/tags/tag120.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1.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2.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3.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24.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5.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6.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7.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8.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9.xml><?xml version="1.0" encoding="utf-8"?>
<p:tagLst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0.xml><?xml version="1.0" encoding="utf-8"?>
<p:tagLst xmlns:p="http://schemas.openxmlformats.org/presentationml/2006/main">
  <p:tag name="KSO_WM_UNIT_TYPE" val="a"/>
  <p:tag name="KSO_WM_UNIT_INDEX" val="1"/>
  <p:tag name="KSO_WM_BEAUTIFY_FLAG" val="#wm#"/>
  <p:tag name="KSO_WM_TAG_VERSION" val="3.0"/>
  <p:tag name="KSO_WM_UNIT_PRESET_TEXT" val="单击编辑母版标题"/>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1"/>
</p:tagLst>
</file>

<file path=ppt/tags/tag131.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4"/>
</p:tagLst>
</file>

<file path=ppt/tags/tag132.xml><?xml version="1.0" encoding="utf-8"?>
<p:tagLst xmlns:p="http://schemas.openxmlformats.org/presentationml/2006/main">
  <p:tag name="KSO_WM_UNIT_TYPE" val="f"/>
  <p:tag name="KSO_WM_UNIT_SUBTYPE" val="g"/>
  <p:tag name="KSO_WM_UNIT_INDEX" val="2"/>
  <p:tag name="KSO_WM_BEAUTIFY_FLAG" val="#wm#"/>
  <p:tag name="KSO_WM_TAG_VERSION" val="3.0"/>
  <p:tag name="KSO_WM_UNIT_PRESET_TEXT" val="公司名"/>
  <p:tag name="KSO_WM_UNIT_ID" val="_1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133.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9"/>
</p:tagLst>
</file>

<file path=ppt/tags/tag134.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5.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6.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0"/>
  <p:tag name="KSO_WM_TEMPLATE_CATEGORY" val="custom"/>
  <p:tag name="KSO_WM_TEMPLATE_INDEX" val="20238646"/>
</p:tagLst>
</file>

<file path=ppt/tags/tag137.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50"/>
  <p:tag name="KSO_WM_TEMPLATE_CATEGORY" val="custom"/>
  <p:tag name="KSO_WM_TEMPLATE_INDEX" val="20238646"/>
</p:tagLst>
</file>

<file path=ppt/tags/tag138.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9.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0.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1.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8646"/>
  <p:tag name="KSO_WM_TEMPLATE_CATEGORY" val="custom"/>
  <p:tag name="KSO_WM_TEMPLATE_MASTER_TYPE" val="0"/>
</p:tagLst>
</file>

<file path=ppt/tags/tag142.xml><?xml version="1.0" encoding="utf-8"?>
<p:tagLst xmlns:p="http://schemas.openxmlformats.org/presentationml/2006/main">
  <p:tag name="KSO_WM_UNIT_TYPE" val="a"/>
  <p:tag name="KSO_WM_UNIT_INDEX" val="1"/>
  <p:tag name="KSO_WM_BEAUTIFY_FLAG" val="#wm#"/>
  <p:tag name="KSO_WM_TAG_VERSION" val="3.0"/>
  <p:tag name="KSO_WM_UNIT_ID" val="custom20238646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46"/>
  <p:tag name="KSO_WM_TEMPLATE_CATEGORY" val="custom"/>
  <p:tag name="KSO_WM_UNIT_ISCONTENTSTITLE" val="0"/>
  <p:tag name="KSO_WM_UNIT_VALUE" val="32"/>
  <p:tag name="KSO_WM_UNIT_PRESET_TEXT" val="单击添加文档标题"/>
  <p:tag name="KSO_WM_UNIT_TEXT_TYPE" val="1"/>
</p:tagLst>
</file>

<file path=ppt/tags/tag143.xml><?xml version="1.0" encoding="utf-8"?>
<p:tagLst xmlns:p="http://schemas.openxmlformats.org/presentationml/2006/main">
  <p:tag name="KSO_WM_UNIT_TYPE" val="b"/>
  <p:tag name="KSO_WM_UNIT_INDEX" val="1"/>
  <p:tag name="KSO_WM_BEAUTIFY_FLAG" val="#wm#"/>
  <p:tag name="KSO_WM_TAG_VERSION" val="3.0"/>
  <p:tag name="KSO_WM_UNIT_ID" val="custom20238646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46"/>
  <p:tag name="KSO_WM_TEMPLATE_CATEGORY" val="custom"/>
  <p:tag name="KSO_WM_UNIT_ISCONTENTSTITLE" val="0"/>
  <p:tag name="KSO_WM_UNIT_PRESET_TEXT" val="添加文档副标题"/>
  <p:tag name="KSO_WM_UNIT_TEXT_TYPE" val="1"/>
</p:tagLst>
</file>

<file path=ppt/tags/tag144.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ID" val="custom20238646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46"/>
  <p:tag name="KSO_WM_TEMPLATE_CATEGORY" val="custom"/>
  <p:tag name="KSO_WM_UNIT_TEXT_LAYER_COUNT" val="1"/>
</p:tagLst>
</file>

<file path=ppt/tags/tag145.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8646"/>
  <p:tag name="KSO_WM_TEMPLATE_CATEGORY" val="custom"/>
  <p:tag name="KSO_WM_SLIDE_INDEX" val="1"/>
  <p:tag name="KSO_WM_SLIDE_ID" val="custom20238646_1"/>
  <p:tag name="KSO_WM_TEMPLATE_MASTER_TYPE" val="0"/>
  <p:tag name="KSO_WM_SLIDE_LAYOUT" val="a_b_f"/>
  <p:tag name="KSO_WM_SLIDE_LAYOUT_CNT" val="1_1_2"/>
  <p:tag name="KSO_WM_SLIDE_THEME_ID" val="3403927"/>
  <p:tag name="KSO_WM_SLIDE_THEME_NAME" val="简约风渐变几何通用模板"/>
</p:tagLst>
</file>

<file path=ppt/tags/tag14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47.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40"/>
</p:tagLst>
</file>

<file path=ppt/tags/tag148.xml><?xml version="1.0" encoding="utf-8"?>
<p:tagLst xmlns:p="http://schemas.openxmlformats.org/presentationml/2006/main">
  <p:tag name="KSO_WM_BEAUTIFY_FLAG" val="#wm#"/>
  <p:tag name="KSO_WM_TEMPLATE_CATEGORY" val="custom"/>
  <p:tag name="KSO_WM_TEMPLATE_INDEX" val="20238646"/>
</p:tagLst>
</file>

<file path=ppt/tags/tag14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50.xml><?xml version="1.0" encoding="utf-8"?>
<p:tagLst xmlns:p="http://schemas.openxmlformats.org/presentationml/2006/main">
  <p:tag name="KSO_WM_BEAUTIFY_FLAG" val="#wm#"/>
  <p:tag name="KSO_WM_TEMPLATE_CATEGORY" val="custom"/>
  <p:tag name="KSO_WM_TEMPLATE_INDEX" val="20238646"/>
  <p:tag name="KSO_WM_SLIDE_TYPE" val="text"/>
  <p:tag name="KSO_WM_TEMPLATE_SUBCATEGORY" val="29"/>
  <p:tag name="KSO_WM_TEMPLATE_COLOR_TYPE" val="0"/>
  <p:tag name="KSO_WM_TAG_VERSION" val="3.0"/>
  <p:tag name="KSO_WM_SLIDE_SUBTYPE" val="pureTxt"/>
  <p:tag name="KSO_WM_SLIDE_ITEM_CNT" val="0"/>
  <p:tag name="KSO_WM_SLIDE_INDEX" val="8"/>
  <p:tag name="KSO_WM_SLIDE_ID" val="custom20238646_8"/>
  <p:tag name="KSO_WM_TEMPLATE_MASTER_TYPE" val="0"/>
  <p:tag name="KSO_WM_SLIDE_LAYOUT" val="a_f"/>
  <p:tag name="KSO_WM_SLIDE_LAYOUT_CNT" val="1_1"/>
  <p:tag name="KSO_WM_SLIDE_SIZE" val="850*457"/>
  <p:tag name="KSO_WM_SLIDE_POSITION" val="54*28"/>
</p:tagLst>
</file>

<file path=ppt/tags/tag151.xml><?xml version="1.0" encoding="utf-8"?>
<p:tagLst xmlns:p="http://schemas.openxmlformats.org/presentationml/2006/main">
  <p:tag name="KSO_WM_BEAUTIFY_FLAG" val="#wm#"/>
  <p:tag name="KSO_WM_TEMPLATE_CATEGORY" val="custom"/>
  <p:tag name="KSO_WM_TEMPLATE_INDEX" val="20238646"/>
</p:tagLst>
</file>

<file path=ppt/tags/tag152.xml><?xml version="1.0" encoding="utf-8"?>
<p:tagLst xmlns:p="http://schemas.openxmlformats.org/presentationml/2006/main">
  <p:tag name="KSO_WM_BEAUTIFY_FLAG" val="#wm#"/>
  <p:tag name="KSO_WM_TEMPLATE_CATEGORY" val="custom"/>
  <p:tag name="KSO_WM_TEMPLATE_INDEX" val="20238646"/>
</p:tagLst>
</file>

<file path=ppt/tags/tag153.xml><?xml version="1.0" encoding="utf-8"?>
<p:tagLst xmlns:p="http://schemas.openxmlformats.org/presentationml/2006/main">
  <p:tag name="KSO_WM_BEAUTIFY_FLAG" val="#wm#"/>
  <p:tag name="KSO_WM_TEMPLATE_CATEGORY" val="custom"/>
  <p:tag name="KSO_WM_TEMPLATE_INDEX" val="20238646"/>
</p:tagLst>
</file>

<file path=ppt/tags/tag154.xml><?xml version="1.0" encoding="utf-8"?>
<p:tagLst xmlns:p="http://schemas.openxmlformats.org/presentationml/2006/main">
  <p:tag name="KSO_WM_BEAUTIFY_FLAG" val="#wm#"/>
  <p:tag name="KSO_WM_TEMPLATE_CATEGORY" val="custom"/>
  <p:tag name="KSO_WM_TEMPLATE_INDEX" val="20238646"/>
</p:tagLst>
</file>

<file path=ppt/tags/tag155.xml><?xml version="1.0" encoding="utf-8"?>
<p:tagLst xmlns:p="http://schemas.openxmlformats.org/presentationml/2006/main">
  <p:tag name="KSO_WM_BEAUTIFY_FLAG" val="#wm#"/>
  <p:tag name="KSO_WM_TEMPLATE_CATEGORY" val="custom"/>
  <p:tag name="KSO_WM_TEMPLATE_INDEX" val="20238646"/>
</p:tagLst>
</file>

<file path=ppt/tags/tag156.xml><?xml version="1.0" encoding="utf-8"?>
<p:tagLst xmlns:p="http://schemas.openxmlformats.org/presentationml/2006/main">
  <p:tag name="KSO_WM_BEAUTIFY_FLAG" val="#wm#"/>
  <p:tag name="KSO_WM_TEMPLATE_CATEGORY" val="custom"/>
  <p:tag name="KSO_WM_TEMPLATE_INDEX" val="20238646"/>
</p:tagLst>
</file>

<file path=ppt/tags/tag157.xml><?xml version="1.0" encoding="utf-8"?>
<p:tagLst xmlns:p="http://schemas.openxmlformats.org/presentationml/2006/main">
  <p:tag name="KSO_WM_BEAUTIFY_FLAG" val="#wm#"/>
  <p:tag name="KSO_WM_TEMPLATE_CATEGORY" val="custom"/>
  <p:tag name="KSO_WM_TEMPLATE_INDEX" val="20238646"/>
</p:tagLst>
</file>

<file path=ppt/tags/tag15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59.xml><?xml version="1.0" encoding="utf-8"?>
<p:tagLst xmlns:p="http://schemas.openxmlformats.org/presentationml/2006/main">
  <p:tag name="KSO_WM_BEAUTIFY_FLAG" val="#wm#"/>
  <p:tag name="KSO_WM_TEMPLATE_CATEGORY" val="custom"/>
  <p:tag name="KSO_WM_TEMPLATE_INDEX" val="20238646"/>
</p:tagLst>
</file>

<file path=ppt/tags/tag160.xml><?xml version="1.0" encoding="utf-8"?>
<p:tagLst xmlns:p="http://schemas.openxmlformats.org/presentationml/2006/main">
  <p:tag name="KSO_WM_BEAUTIFY_FLAG" val="#wm#"/>
  <p:tag name="KSO_WM_TEMPLATE_CATEGORY" val="custom"/>
  <p:tag name="KSO_WM_TEMPLATE_INDEX" val="20238646"/>
</p:tagLst>
</file>

<file path=ppt/tags/tag161.xml><?xml version="1.0" encoding="utf-8"?>
<p:tagLst xmlns:p="http://schemas.openxmlformats.org/presentationml/2006/main">
  <p:tag name="KSO_WM_BEAUTIFY_FLAG" val="#wm#"/>
  <p:tag name="KSO_WM_TEMPLATE_CATEGORY" val="custom"/>
  <p:tag name="KSO_WM_TEMPLATE_INDEX" val="20238646"/>
</p:tagLst>
</file>

<file path=ppt/tags/tag162.xml><?xml version="1.0" encoding="utf-8"?>
<p:tagLst xmlns:p="http://schemas.openxmlformats.org/presentationml/2006/main">
  <p:tag name="KSO_WM_BEAUTIFY_FLAG" val="#wm#"/>
  <p:tag name="KSO_WM_TEMPLATE_CATEGORY" val="custom"/>
  <p:tag name="KSO_WM_TEMPLATE_INDEX" val="20238646"/>
</p:tagLst>
</file>

<file path=ppt/tags/tag163.xml><?xml version="1.0" encoding="utf-8"?>
<p:tagLst xmlns:p="http://schemas.openxmlformats.org/presentationml/2006/main">
  <p:tag name="KSO_WM_BEAUTIFY_FLAG" val="#wm#"/>
  <p:tag name="KSO_WM_TEMPLATE_CATEGORY" val="custom"/>
  <p:tag name="KSO_WM_TEMPLATE_INDEX" val="20238646"/>
</p:tagLst>
</file>

<file path=ppt/tags/tag164.xml><?xml version="1.0" encoding="utf-8"?>
<p:tagLst xmlns:p="http://schemas.openxmlformats.org/presentationml/2006/main">
  <p:tag name="KSO_WM_BEAUTIFY_FLAG" val="#wm#"/>
  <p:tag name="KSO_WM_TEMPLATE_CATEGORY" val="custom"/>
  <p:tag name="KSO_WM_TEMPLATE_INDEX" val="20238646"/>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简约风渐变几何通用模板">
  <a:themeElements>
    <a:clrScheme name="自定义 4">
      <a:dk1>
        <a:srgbClr val="000000"/>
      </a:dk1>
      <a:lt1>
        <a:srgbClr val="FFFFFF"/>
      </a:lt1>
      <a:dk2>
        <a:srgbClr val="262626"/>
      </a:dk2>
      <a:lt2>
        <a:srgbClr val="F6F6F6"/>
      </a:lt2>
      <a:accent1>
        <a:srgbClr val="BC9E80"/>
      </a:accent1>
      <a:accent2>
        <a:srgbClr val="F3AE35"/>
      </a:accent2>
      <a:accent3>
        <a:srgbClr val="BDBF2F"/>
      </a:accent3>
      <a:accent4>
        <a:srgbClr val="4EBAC2"/>
      </a:accent4>
      <a:accent5>
        <a:srgbClr val="E39865"/>
      </a:accent5>
      <a:accent6>
        <a:srgbClr val="B687DA"/>
      </a:accent6>
      <a:hlink>
        <a:srgbClr val="304FFE"/>
      </a:hlink>
      <a:folHlink>
        <a:srgbClr val="492067"/>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4554</Words>
  <Application>WPS 演示</Application>
  <PresentationFormat>宽屏</PresentationFormat>
  <Paragraphs>118</Paragraphs>
  <Slides>16</Slides>
  <Notes>4</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16</vt:i4>
      </vt:variant>
    </vt:vector>
  </HeadingPairs>
  <TitlesOfParts>
    <vt:vector size="26" baseType="lpstr">
      <vt:lpstr>Arial</vt:lpstr>
      <vt:lpstr>宋体</vt:lpstr>
      <vt:lpstr>Wingdings</vt:lpstr>
      <vt:lpstr>Wingdings</vt:lpstr>
      <vt:lpstr>微软雅黑</vt:lpstr>
      <vt:lpstr>Verdana</vt:lpstr>
      <vt:lpstr>Arial Unicode MS</vt:lpstr>
      <vt:lpstr>Calibri</vt:lpstr>
      <vt:lpstr>WPS</vt:lpstr>
      <vt:lpstr>简约风渐变几何通用模板</vt:lpstr>
      <vt:lpstr>20251117汇报</vt:lpstr>
      <vt:lpstr>完成任务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DNF: Decouple and Feedback Network for Seeing in the Dar</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丨丨c</cp:lastModifiedBy>
  <cp:revision>184</cp:revision>
  <dcterms:created xsi:type="dcterms:W3CDTF">2019-06-19T02:08:00Z</dcterms:created>
  <dcterms:modified xsi:type="dcterms:W3CDTF">2025-11-17T11:01:03Z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2A40547D2B4F45B58CEDD44D0F25320A_11</vt:lpwstr>
  </property>
</Properties>
</file>