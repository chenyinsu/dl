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5"/>
  </p:notesMasterIdLst>
  <p:sldIdLst>
    <p:sldId id="291" r:id="rId4"/>
    <p:sldId id="264" r:id="rId5"/>
    <p:sldId id="292" r:id="rId6"/>
    <p:sldId id="293" r:id="rId7"/>
    <p:sldId id="294" r:id="rId8"/>
    <p:sldId id="295" r:id="rId9"/>
    <p:sldId id="296" r:id="rId10"/>
    <p:sldId id="299" r:id="rId11"/>
    <p:sldId id="301" r:id="rId12"/>
    <p:sldId id="297" r:id="rId13"/>
    <p:sldId id="288" r:id="rId14"/>
    <p:sldId id="30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1.png"/><Relationship Id="rId2" Type="http://schemas.openxmlformats.org/officeDocument/2006/relationships/tags" Target="../tags/tag85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1.png"/><Relationship Id="rId2" Type="http://schemas.openxmlformats.org/officeDocument/2006/relationships/tags" Target="../tags/tag12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矩形 1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3" name="椭圆 42"/>
          <p:cNvSpPr/>
          <p:nvPr userDrawn="1">
            <p:custDataLst>
              <p:tags r:id="rId8"/>
            </p:custDataLst>
          </p:nvPr>
        </p:nvSpPr>
        <p:spPr>
          <a:xfrm rot="900000">
            <a:off x="5811677" y="952529"/>
            <a:ext cx="4952943" cy="4952943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1023853" y="3063673"/>
            <a:ext cx="10515600" cy="1800000"/>
          </a:xfrm>
        </p:spPr>
        <p:txBody>
          <a:bodyPr wrap="square" anchor="t">
            <a:normAutofit/>
          </a:bodyPr>
          <a:lstStyle>
            <a:lvl1pPr algn="l">
              <a:lnSpc>
                <a:spcPct val="100000"/>
              </a:lnSpc>
              <a:defRPr sz="5400" b="1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1023853" y="1513966"/>
            <a:ext cx="10515600" cy="1457452"/>
          </a:xfrm>
        </p:spPr>
        <p:txBody>
          <a:bodyPr wrap="square"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40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023618" y="504000"/>
            <a:ext cx="2880000" cy="50400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023853" y="4925628"/>
            <a:ext cx="2303547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8"/>
            </p:custDataLst>
          </p:nvPr>
        </p:nvSpPr>
        <p:spPr>
          <a:xfrm>
            <a:off x="75048" y="1292920"/>
            <a:ext cx="4272161" cy="427216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467485" y="2386012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椭圆 8"/>
          <p:cNvSpPr/>
          <p:nvPr userDrawn="1">
            <p:custDataLst>
              <p:tags r:id="rId8"/>
            </p:custDataLst>
          </p:nvPr>
        </p:nvSpPr>
        <p:spPr>
          <a:xfrm>
            <a:off x="6411944" y="931202"/>
            <a:ext cx="4399471" cy="4399471"/>
          </a:xfrm>
          <a:prstGeom prst="ellipse">
            <a:avLst/>
          </a:prstGeom>
          <a:gradFill flip="none" rotWithShape="1">
            <a:gsLst>
              <a:gs pos="34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00792" y="3016638"/>
            <a:ext cx="6252908" cy="2513584"/>
          </a:xfrm>
        </p:spPr>
        <p:txBody>
          <a:bodyPr wrap="square" anchor="t">
            <a:normAutofit/>
          </a:bodyPr>
          <a:lstStyle>
            <a:lvl1pPr algn="l">
              <a:defRPr sz="60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4300855" y="1257935"/>
            <a:ext cx="6252845" cy="1671320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1149382" y="1866277"/>
            <a:ext cx="3043199" cy="2587225"/>
          </a:xfrm>
        </p:spPr>
        <p:txBody>
          <a:bodyPr wrap="none" anchor="ctr">
            <a:normAutofit/>
          </a:bodyPr>
          <a:lstStyle>
            <a:lvl1pPr marL="0" indent="0" algn="r">
              <a:buNone/>
              <a:defRPr sz="11500" b="1"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椭圆 7"/>
          <p:cNvSpPr/>
          <p:nvPr userDrawn="1">
            <p:custDataLst>
              <p:tags r:id="rId8"/>
            </p:custDataLst>
          </p:nvPr>
        </p:nvSpPr>
        <p:spPr>
          <a:xfrm flipH="1">
            <a:off x="1427380" y="952529"/>
            <a:ext cx="4952943" cy="4952943"/>
          </a:xfrm>
          <a:prstGeom prst="ellipse">
            <a:avLst/>
          </a:prstGeom>
          <a:gradFill flip="none" rotWithShape="1">
            <a:gsLst>
              <a:gs pos="30000">
                <a:schemeClr val="accent1">
                  <a:lumMod val="45000"/>
                  <a:lumOff val="55000"/>
                  <a:alpha val="0"/>
                </a:schemeClr>
              </a:gs>
              <a:gs pos="100000">
                <a:schemeClr val="accent1"/>
              </a:gs>
            </a:gsLst>
            <a:lin ang="19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133601" y="2849163"/>
            <a:ext cx="9126462" cy="1800000"/>
          </a:xfrm>
        </p:spPr>
        <p:txBody>
          <a:bodyPr wrap="square" anchor="t">
            <a:normAutofit/>
          </a:bodyPr>
          <a:lstStyle>
            <a:lvl1pPr algn="r">
              <a:lnSpc>
                <a:spcPct val="100000"/>
              </a:lnSpc>
              <a:defRPr sz="6600">
                <a:solidFill>
                  <a:srgbClr val="3C3C3C"/>
                </a:solidFill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0"/>
            </p:custDataLst>
          </p:nvPr>
        </p:nvSpPr>
        <p:spPr>
          <a:xfrm>
            <a:off x="2133600" y="1400810"/>
            <a:ext cx="9126220" cy="1368425"/>
          </a:xfrm>
        </p:spPr>
        <p:txBody>
          <a:bodyPr wrap="square" anchor="b">
            <a:normAutofit/>
          </a:bodyPr>
          <a:lstStyle>
            <a:lvl1pPr marL="0" indent="0" algn="r">
              <a:lnSpc>
                <a:spcPct val="100000"/>
              </a:lnSpc>
              <a:buNone/>
              <a:defRPr sz="4400" b="1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380490" y="5580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公司名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956063" y="4849527"/>
            <a:ext cx="2304000" cy="50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4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40.xml"/><Relationship Id="rId18" Type="http://schemas.openxmlformats.org/officeDocument/2006/relationships/tags" Target="../tags/tag139.xml"/><Relationship Id="rId17" Type="http://schemas.openxmlformats.org/officeDocument/2006/relationships/tags" Target="../tags/tag138.xml"/><Relationship Id="rId16" Type="http://schemas.openxmlformats.org/officeDocument/2006/relationships/tags" Target="../tags/tag137.xml"/><Relationship Id="rId15" Type="http://schemas.openxmlformats.org/officeDocument/2006/relationships/tags" Target="../tags/tag136.xml"/><Relationship Id="rId14" Type="http://schemas.openxmlformats.org/officeDocument/2006/relationships/tags" Target="../tags/tag135.xml"/><Relationship Id="rId13" Type="http://schemas.openxmlformats.org/officeDocument/2006/relationships/image" Target="../media/image1.png"/><Relationship Id="rId12" Type="http://schemas.openxmlformats.org/officeDocument/2006/relationships/tags" Target="../tags/tag134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图案&#10;&#10;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rgbClr val="3C3C3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rgbClr val="3C3C3C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rgbClr val="3C3C3C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rgbClr val="3C3C3C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rgbClr val="3C3C3C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rgbClr val="3C3C3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7.xml"/><Relationship Id="rId2" Type="http://schemas.openxmlformats.org/officeDocument/2006/relationships/image" Target="../media/image2.png"/><Relationship Id="rId1" Type="http://schemas.openxmlformats.org/officeDocument/2006/relationships/tags" Target="../tags/tag15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1.xml"/><Relationship Id="rId2" Type="http://schemas.openxmlformats.org/officeDocument/2006/relationships/image" Target="../media/image3.png"/><Relationship Id="rId1" Type="http://schemas.openxmlformats.org/officeDocument/2006/relationships/tags" Target="../tags/tag16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5.xml"/><Relationship Id="rId2" Type="http://schemas.openxmlformats.org/officeDocument/2006/relationships/image" Target="../media/image4.png"/><Relationship Id="rId1" Type="http://schemas.openxmlformats.org/officeDocument/2006/relationships/tags" Target="../tags/tag16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3.xml"/><Relationship Id="rId7" Type="http://schemas.openxmlformats.org/officeDocument/2006/relationships/tags" Target="../tags/tag168.xml"/><Relationship Id="rId6" Type="http://schemas.openxmlformats.org/officeDocument/2006/relationships/image" Target="../media/image8.png"/><Relationship Id="rId5" Type="http://schemas.openxmlformats.org/officeDocument/2006/relationships/tags" Target="../tags/tag16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tags" Target="../tags/tag166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7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22985" y="2717800"/>
            <a:ext cx="7930515" cy="1097280"/>
          </a:xfrm>
        </p:spPr>
        <p:txBody>
          <a:bodyPr/>
          <a:lstStyle/>
          <a:p>
            <a:r>
              <a:rPr lang="zh-CN" altLang="en-US"/>
              <a:t>深度学习</a:t>
            </a:r>
            <a:r>
              <a:rPr lang="en-US" altLang="zh-CN"/>
              <a:t>-</a:t>
            </a:r>
            <a:r>
              <a:rPr lang="zh-CN" altLang="en-US"/>
              <a:t>低光图像增强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023620" y="1374775"/>
            <a:ext cx="4166235" cy="708025"/>
          </a:xfrm>
        </p:spPr>
        <p:txBody>
          <a:bodyPr/>
          <a:lstStyle/>
          <a:p>
            <a:r>
              <a:rPr lang="en-US" altLang="zh-CN"/>
              <a:t>20251208</a:t>
            </a:r>
            <a:r>
              <a:rPr lang="zh-CN" altLang="en-US"/>
              <a:t>汇报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汇报人：陈银素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541610"/>
            <a:ext cx="10800000" cy="720000"/>
          </a:xfrm>
        </p:spPr>
        <p:txBody>
          <a:bodyPr/>
          <a:p>
            <a:r>
              <a:rPr lang="zh-CN" altLang="en-US" sz="4000"/>
              <a:t>完成</a:t>
            </a:r>
            <a:r>
              <a:rPr lang="zh-CN" altLang="en-US" sz="4000"/>
              <a:t>任务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653540"/>
            <a:ext cx="7246620" cy="3738880"/>
          </a:xfrm>
        </p:spPr>
        <p:txBody>
          <a:bodyPr>
            <a:noAutofit/>
          </a:bodyPr>
          <a:p>
            <a:r>
              <a:rPr lang="zh-CN" altLang="en-US" sz="2800" b="1"/>
              <a:t>梳理实验过程、填写技术交底书</a:t>
            </a:r>
            <a:endParaRPr lang="zh-CN" altLang="en-US" sz="2800" b="1"/>
          </a:p>
          <a:p>
            <a:r>
              <a:rPr lang="zh-CN" altLang="en-US" sz="2800" b="1"/>
              <a:t>学会连服务器</a:t>
            </a:r>
            <a:r>
              <a:rPr lang="en-US" altLang="zh-CN" sz="2800" b="1"/>
              <a:t>+</a:t>
            </a:r>
            <a:r>
              <a:rPr lang="zh-CN" altLang="en-US" sz="2800" b="1"/>
              <a:t>阅读</a:t>
            </a:r>
            <a:r>
              <a:rPr lang="en-US" altLang="zh-CN" sz="2800" b="1"/>
              <a:t>DNF</a:t>
            </a:r>
            <a:r>
              <a:rPr lang="zh-CN" altLang="en-US" sz="2800" b="1"/>
              <a:t>代码</a:t>
            </a:r>
            <a:endParaRPr lang="zh-CN" altLang="en-US" sz="2800" b="1"/>
          </a:p>
          <a:p>
            <a:r>
              <a:rPr lang="zh-CN" altLang="en-US" sz="2800" b="1"/>
              <a:t>明确新构思中需要修改的代码部分</a:t>
            </a:r>
            <a:endParaRPr lang="zh-CN" altLang="en-US" sz="28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内容占位符 3"/>
          <p:cNvSpPr/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 lnSpcReduction="10000"/>
          </a:bodyPr>
          <a:p>
            <a:r>
              <a:rPr lang="en-US" altLang="zh-CN"/>
              <a:t>DNF</a:t>
            </a:r>
            <a:r>
              <a:rPr lang="zh-CN" altLang="en-US"/>
              <a:t>框架的核心思想是通过</a:t>
            </a:r>
            <a:r>
              <a:rPr lang="en-US" altLang="zh-CN"/>
              <a:t>“</a:t>
            </a:r>
            <a:r>
              <a:rPr lang="zh-CN" altLang="en-US" b="1"/>
              <a:t>域特定任务解耦</a:t>
            </a:r>
            <a:r>
              <a:rPr lang="en-US" altLang="zh-CN"/>
              <a:t>”</a:t>
            </a:r>
            <a:r>
              <a:rPr lang="zh-CN" altLang="en-US"/>
              <a:t>来厘清复杂任务，并通过</a:t>
            </a:r>
            <a:r>
              <a:rPr lang="en-US" altLang="zh-CN"/>
              <a:t>“</a:t>
            </a:r>
            <a:r>
              <a:rPr lang="zh-CN" altLang="en-US" b="1"/>
              <a:t>去噪先验反馈机制</a:t>
            </a:r>
            <a:r>
              <a:rPr lang="en-US" altLang="zh-CN"/>
              <a:t>”</a:t>
            </a:r>
            <a:r>
              <a:rPr lang="zh-CN" altLang="en-US"/>
              <a:t>来优化信息流动，从而克服之前方法的固有缺陷，实现了性能的显著突破。</a:t>
            </a:r>
            <a:endParaRPr lang="zh-CN" altLang="en-US"/>
          </a:p>
          <a:p>
            <a:r>
              <a:rPr lang="zh-CN" altLang="en-US"/>
              <a:t>为解决传统单阶段方法因</a:t>
            </a:r>
            <a:r>
              <a:rPr lang="en-US" altLang="zh-CN"/>
              <a:t>“</a:t>
            </a:r>
            <a:r>
              <a:rPr lang="zh-CN" altLang="en-US"/>
              <a:t>域模糊</a:t>
            </a:r>
            <a:r>
              <a:rPr lang="en-US" altLang="zh-CN"/>
              <a:t>”</a:t>
            </a:r>
            <a:r>
              <a:rPr lang="zh-CN" altLang="en-US"/>
              <a:t>导致的色彩偏移与噪声残留问题，</a:t>
            </a:r>
            <a:r>
              <a:rPr lang="en-US" altLang="zh-CN"/>
              <a:t>DNF</a:t>
            </a:r>
            <a:r>
              <a:rPr lang="zh-CN" altLang="en-US"/>
              <a:t>提出一种</a:t>
            </a:r>
            <a:r>
              <a:rPr lang="zh-CN" altLang="en-US" b="1"/>
              <a:t>任务解耦</a:t>
            </a:r>
            <a:r>
              <a:rPr lang="zh-CN" altLang="en-US"/>
              <a:t>方案，将低光图像增强分解为两个连续且域特定的子任务：首先在</a:t>
            </a:r>
            <a:r>
              <a:rPr lang="en-US" altLang="zh-CN"/>
              <a:t>RAW</a:t>
            </a:r>
            <a:r>
              <a:rPr lang="zh-CN" altLang="en-US"/>
              <a:t>域进行去噪，利用该域噪声分布可追踪、信号线性的特性从源头抑制噪声；再将去噪后的数据转换至</a:t>
            </a:r>
            <a:r>
              <a:rPr lang="en-US" altLang="zh-CN"/>
              <a:t>sRGB</a:t>
            </a:r>
            <a:r>
              <a:rPr lang="zh-CN" altLang="en-US"/>
              <a:t>域进行色彩恢复，使网络可专注于色彩校正而免受噪声干扰。</a:t>
            </a:r>
            <a:endParaRPr lang="zh-CN" altLang="en-US"/>
          </a:p>
          <a:p>
            <a:r>
              <a:rPr lang="zh-CN" altLang="en-US"/>
              <a:t>为实现该流程，模型分别设计了通道独立去噪块（</a:t>
            </a:r>
            <a:r>
              <a:rPr lang="en-US" altLang="zh-CN"/>
              <a:t>CID Block</a:t>
            </a:r>
            <a:r>
              <a:rPr lang="zh-CN" altLang="en-US"/>
              <a:t>）与矩阵化色彩校正块（</a:t>
            </a:r>
            <a:r>
              <a:rPr lang="en-US" altLang="zh-CN"/>
              <a:t>MCC Block</a:t>
            </a:r>
            <a:r>
              <a:rPr lang="zh-CN" altLang="en-US"/>
              <a:t>）：</a:t>
            </a:r>
            <a:r>
              <a:rPr lang="en-US" altLang="zh-CN"/>
              <a:t>CID</a:t>
            </a:r>
            <a:r>
              <a:rPr lang="zh-CN" altLang="en-US"/>
              <a:t>块采用大核深度卷积实现通道内空间去噪，避免通道间信息混合；</a:t>
            </a:r>
            <a:r>
              <a:rPr lang="en-US" altLang="zh-CN"/>
              <a:t>MCC</a:t>
            </a:r>
            <a:r>
              <a:rPr lang="zh-CN" altLang="en-US"/>
              <a:t>块则通过转置自注意力生成全局色彩变换矩阵，实现高效色彩转换。整个流程通过引入干净</a:t>
            </a:r>
            <a:r>
              <a:rPr lang="en-US" altLang="zh-CN"/>
              <a:t>RAW</a:t>
            </a:r>
            <a:r>
              <a:rPr lang="zh-CN" altLang="en-US"/>
              <a:t>图像作为中间监督，为各子任务提供明确目标，从而构建出精准、高效的低光图像增强系统。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991869"/>
            <a:ext cx="10800000" cy="4873625"/>
          </a:xfrm>
        </p:spPr>
        <p:txBody>
          <a:bodyPr>
            <a:normAutofit lnSpcReduction="10000"/>
          </a:bodyPr>
          <a:p>
            <a:r>
              <a:rPr lang="en-US" altLang="zh-CN"/>
              <a:t>DNF</a:t>
            </a:r>
            <a:r>
              <a:rPr lang="zh-CN" altLang="en-US"/>
              <a:t>模型通过引入</a:t>
            </a:r>
            <a:r>
              <a:rPr lang="zh-CN" altLang="en-US" b="1"/>
              <a:t>特征级反馈机制</a:t>
            </a:r>
            <a:r>
              <a:rPr lang="zh-CN" altLang="en-US"/>
              <a:t>，有效解决了传统多阶段方法中因图像级数据流导致的信息丢失问题。该方案的核心在于构建一个闭环特征优化系统：输入图像首先经过共享的</a:t>
            </a:r>
            <a:r>
              <a:rPr lang="en-US" altLang="zh-CN"/>
              <a:t>RAW</a:t>
            </a:r>
            <a:r>
              <a:rPr lang="zh-CN" altLang="en-US"/>
              <a:t>编码器</a:t>
            </a:r>
            <a:r>
              <a:rPr lang="en-US" altLang="zh-CN"/>
              <a:t>-</a:t>
            </a:r>
            <a:r>
              <a:rPr lang="zh-CN" altLang="en-US"/>
              <a:t>解码器结构（</a:t>
            </a:r>
            <a:r>
              <a:rPr lang="en-US" altLang="zh-CN"/>
              <a:t>E_raw/D_raw</a:t>
            </a:r>
            <a:r>
              <a:rPr lang="zh-CN" altLang="en-US"/>
              <a:t>）进行初步去噪，生成多尺度去噪特征</a:t>
            </a:r>
            <a:r>
              <a:rPr lang="en-US" altLang="zh-CN"/>
              <a:t>F_dn</a:t>
            </a:r>
            <a:r>
              <a:rPr lang="zh-CN" altLang="en-US"/>
              <a:t>；这些特征随后通过反馈路径重新注入</a:t>
            </a:r>
            <a:r>
              <a:rPr lang="en-US" altLang="zh-CN"/>
              <a:t>RAW</a:t>
            </a:r>
            <a:r>
              <a:rPr lang="zh-CN" altLang="en-US"/>
              <a:t>编码器（</a:t>
            </a:r>
            <a:r>
              <a:rPr lang="en-US" altLang="zh-CN"/>
              <a:t>E_raw'</a:t>
            </a:r>
            <a:r>
              <a:rPr lang="zh-CN" altLang="en-US"/>
              <a:t>）的对应层级，作为去噪先验指导二次特征提取。为优化特征融合过程，设计了门控融合模块（</a:t>
            </a:r>
            <a:r>
              <a:rPr lang="en-US" altLang="zh-CN"/>
              <a:t>GFM</a:t>
            </a:r>
            <a:r>
              <a:rPr lang="zh-CN" altLang="en-US"/>
              <a:t>），通过门控信号实现对编码器当前特征与反馈特征的通道</a:t>
            </a:r>
            <a:r>
              <a:rPr lang="en-US" altLang="zh-CN"/>
              <a:t>/</a:t>
            </a:r>
            <a:r>
              <a:rPr lang="zh-CN" altLang="en-US"/>
              <a:t>空间自适应加权融合。同时，创新性地提出残差切换机制（</a:t>
            </a:r>
            <a:r>
              <a:rPr lang="en-US" altLang="zh-CN"/>
              <a:t>RSM</a:t>
            </a:r>
            <a:r>
              <a:rPr lang="zh-CN" altLang="en-US"/>
              <a:t>），通过动态控制</a:t>
            </a:r>
            <a:r>
              <a:rPr lang="en-US" altLang="zh-CN"/>
              <a:t>CID Block</a:t>
            </a:r>
            <a:r>
              <a:rPr lang="zh-CN" altLang="en-US"/>
              <a:t>中局部残差连接的开关状态，使同一编码器能够分别适配噪声估计（关闭局部残差）和信号重建（开启局部残差）两种工作模式。这种设计既保证了参数效率，又确保了在不同处理阶段的功能专一性，最终实现细节保持与噪声抑制的平衡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700404"/>
            <a:ext cx="10800000" cy="487362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zh-CN"/>
              <a:t>1.</a:t>
            </a:r>
            <a:r>
              <a:rPr lang="zh-CN" altLang="en-US" b="1"/>
              <a:t>后处理环节的感知质量优化不足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DNF</a:t>
            </a:r>
            <a:r>
              <a:rPr lang="zh-CN" altLang="en-US"/>
              <a:t>的核心贡献在于解决了从</a:t>
            </a:r>
            <a:r>
              <a:rPr lang="en-US" altLang="zh-CN"/>
              <a:t>RAW</a:t>
            </a:r>
            <a:r>
              <a:rPr lang="zh-CN" altLang="en-US"/>
              <a:t>域到</a:t>
            </a:r>
            <a:r>
              <a:rPr lang="en-US" altLang="zh-CN"/>
              <a:t>sRGB</a:t>
            </a:r>
            <a:r>
              <a:rPr lang="zh-CN" altLang="en-US"/>
              <a:t>域的</a:t>
            </a:r>
            <a:r>
              <a:rPr lang="en-US" altLang="zh-CN"/>
              <a:t>“</a:t>
            </a:r>
            <a:r>
              <a:rPr lang="zh-CN" altLang="en-US"/>
              <a:t>基础重建</a:t>
            </a:r>
            <a:r>
              <a:rPr lang="en-US" altLang="zh-CN"/>
              <a:t>”</a:t>
            </a:r>
            <a:r>
              <a:rPr lang="zh-CN" altLang="en-US"/>
              <a:t>问题，但其</a:t>
            </a:r>
            <a:r>
              <a:rPr lang="en-US" altLang="zh-CN"/>
              <a:t>sRGB</a:t>
            </a:r>
            <a:r>
              <a:rPr lang="zh-CN" altLang="en-US"/>
              <a:t>分支的输出相对直接。模型成功实现了去噪与色彩转换的解耦任务，但在生成图像的最终视觉质量优化方面存在不足。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具体表现为：缺乏一个专精的、多阶段的后期处理流水线来对纹理锐利度、色彩饱和度与准确性、全局对比度等感知质量指标进行深度优化。其架构设计焦点集中于解决跨域重建的核心矛盾，将</a:t>
            </a:r>
            <a:r>
              <a:rPr lang="en-US" altLang="zh-CN"/>
              <a:t>“</a:t>
            </a:r>
            <a:r>
              <a:rPr lang="zh-CN" altLang="en-US"/>
              <a:t>重建后</a:t>
            </a:r>
            <a:r>
              <a:rPr lang="en-US" altLang="zh-CN"/>
              <a:t>”</a:t>
            </a:r>
            <a:r>
              <a:rPr lang="zh-CN" altLang="en-US"/>
              <a:t>的质量提升环节寄托于端到端的网络自我学习，而非通过明确的模块化设计进行引导，这可能导致结果在噪声抑制和色彩大体正确的基础上，细节表现力与视觉感染力仍有提升空间。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43255" y="390524"/>
            <a:ext cx="10800000" cy="4873625"/>
          </a:xfrm>
        </p:spPr>
        <p:txBody>
          <a:bodyPr/>
          <a:p>
            <a:r>
              <a:rPr lang="en-US" altLang="zh-CN" b="1"/>
              <a:t>2.</a:t>
            </a:r>
            <a:r>
              <a:rPr lang="zh-CN" altLang="en-US" b="1"/>
              <a:t>视觉质量导向的高层反馈机制尚不完善</a:t>
            </a:r>
            <a:endParaRPr lang="zh-CN" altLang="en-US" b="1"/>
          </a:p>
          <a:p>
            <a:r>
              <a:rPr lang="en-US" altLang="zh-CN"/>
              <a:t>DNF</a:t>
            </a:r>
            <a:r>
              <a:rPr lang="zh-CN" altLang="en-US"/>
              <a:t>的</a:t>
            </a:r>
            <a:r>
              <a:rPr lang="en-US" altLang="zh-CN"/>
              <a:t>“</a:t>
            </a:r>
            <a:r>
              <a:rPr lang="zh-CN" altLang="en-US"/>
              <a:t>去噪先验反馈</a:t>
            </a:r>
            <a:r>
              <a:rPr lang="en-US" altLang="zh-CN"/>
              <a:t>”</a:t>
            </a:r>
            <a:r>
              <a:rPr lang="zh-CN" altLang="en-US"/>
              <a:t>本质上是一种特征级的中期反馈机制。该机制将</a:t>
            </a:r>
            <a:r>
              <a:rPr lang="en-US" altLang="zh-CN"/>
              <a:t>RAW</a:t>
            </a:r>
            <a:r>
              <a:rPr lang="zh-CN" altLang="en-US"/>
              <a:t>域学习到的去噪信息反馈至编码器，其主要优化目标是提升信号与噪声的分离能力。然而，这种反馈的信号来源层级较低（侧重于中间层特征表征），并未直接以最终输出图像的高级视觉质量指标（如纹理清晰度、色彩逼真度）作为指导信号。因此，</a:t>
            </a:r>
            <a:r>
              <a:rPr lang="en-US" altLang="zh-CN"/>
              <a:t>sRGB</a:t>
            </a:r>
            <a:r>
              <a:rPr lang="zh-CN" altLang="en-US"/>
              <a:t>解码器在图像重建过程中，缺乏来自最终输出结果的、以感知质量为导向的直接</a:t>
            </a:r>
            <a:r>
              <a:rPr lang="en-US" altLang="zh-CN"/>
              <a:t>“</a:t>
            </a:r>
            <a:r>
              <a:rPr lang="zh-CN" altLang="en-US"/>
              <a:t>评价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纠正</a:t>
            </a:r>
            <a:r>
              <a:rPr lang="en-US" altLang="zh-CN"/>
              <a:t>”</a:t>
            </a:r>
            <a:r>
              <a:rPr lang="zh-CN" altLang="en-US"/>
              <a:t>，限制了模型在感知最优意义上的进一步优化潜力。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 descr="e9ed4ff9-2a6a-407a-8950-2c630e32d16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905" y="4088765"/>
            <a:ext cx="7818120" cy="257111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b="1"/>
              <a:t>3.</a:t>
            </a:r>
            <a:r>
              <a:rPr lang="zh-CN" altLang="en-US" b="1"/>
              <a:t>信息源单一限制了对复杂场景的增强能力</a:t>
            </a:r>
            <a:endParaRPr lang="zh-CN" altLang="en-US" b="1"/>
          </a:p>
          <a:p>
            <a:pPr marL="0" indent="0">
              <a:buNone/>
            </a:pPr>
            <a:r>
              <a:rPr lang="en-US" altLang="zh-CN"/>
              <a:t>DNF</a:t>
            </a:r>
            <a:r>
              <a:rPr lang="zh-CN" altLang="en-US"/>
              <a:t>的架构设计主要针对单一路径的</a:t>
            </a:r>
            <a:r>
              <a:rPr lang="en-US" altLang="zh-CN"/>
              <a:t>RAW</a:t>
            </a:r>
            <a:r>
              <a:rPr lang="zh-CN" altLang="en-US"/>
              <a:t>数据进行处理。其门控融合模块（</a:t>
            </a:r>
            <a:r>
              <a:rPr lang="en-US" altLang="zh-CN"/>
              <a:t>GFM</a:t>
            </a:r>
            <a:r>
              <a:rPr lang="zh-CN" altLang="en-US"/>
              <a:t>）虽能有效融合编码器特征与反馈的先验特征，但这些信息源本质上仍来自同一输入图像的不同处理阶段。在面对复杂成像场景时，该架构未充分考虑引入多源、异构数据（如同时利用短曝光低光图像和长曝光正常光图像）来获取互补信息。由于缺乏对多曝光融合等更丰富先验信息引入机制的支持，模型在复杂条件下的适应能力和增强潜力受到一定限制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3190" y="70485"/>
            <a:ext cx="11117580" cy="65322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27215" y="933450"/>
            <a:ext cx="355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245745" y="1301749"/>
          <a:ext cx="11249660" cy="3121025"/>
        </p:xfrm>
        <a:graphic>
          <a:graphicData uri="http://schemas.openxmlformats.org/drawingml/2006/table">
            <a:tbl>
              <a:tblPr/>
              <a:tblGrid>
                <a:gridCol w="3585845"/>
                <a:gridCol w="25200"/>
                <a:gridCol w="3656965"/>
                <a:gridCol w="3981450"/>
              </a:tblGrid>
              <a:tr h="266065">
                <a:tc>
                  <a:txBody>
                    <a:bodyPr/>
                    <a:p>
                      <a:r>
                        <a:rPr lang="zh-CN" altLang="en-US" sz="1600"/>
                        <a:t>变化点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具体作用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技术价值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0050">
                <a:tc>
                  <a:txBody>
                    <a:bodyPr/>
                    <a:p>
                      <a:r>
                        <a:rPr lang="en-US" altLang="zh-CN" sz="1600"/>
                        <a:t>① </a:t>
                      </a:r>
                      <a:r>
                        <a:rPr lang="zh-CN" altLang="en-US" sz="1600"/>
                        <a:t>文件路径处理逻辑更健壮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解决不同平台</a:t>
                      </a:r>
                      <a:r>
                        <a:rPr lang="en-US" altLang="zh-CN" sz="1600"/>
                        <a:t>/</a:t>
                      </a:r>
                      <a:r>
                        <a:rPr lang="zh-CN" altLang="en-US" sz="1600"/>
                        <a:t>数据结构导致的路径错误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提升数据加载稳定性，可适配更多工程环境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3715">
                <a:tc>
                  <a:txBody>
                    <a:bodyPr/>
                    <a:p>
                      <a:r>
                        <a:rPr lang="en-US" altLang="zh-CN" sz="1600"/>
                        <a:t>② </a:t>
                      </a:r>
                      <a:r>
                        <a:rPr lang="zh-CN" altLang="en-US" sz="1600"/>
                        <a:t>手动替换 </a:t>
                      </a:r>
                      <a:r>
                        <a:rPr lang="en-US" altLang="zh-CN" sz="1600"/>
                        <a:t>RAW </a:t>
                      </a:r>
                      <a:r>
                        <a:rPr lang="zh-CN" altLang="en-US" sz="1600"/>
                        <a:t>目录 </a:t>
                      </a:r>
                      <a:r>
                        <a:rPr lang="en-US" altLang="zh-CN" sz="1600"/>
                        <a:t>→ NPY </a:t>
                      </a:r>
                      <a:r>
                        <a:rPr lang="zh-CN" altLang="en-US" sz="1600"/>
                        <a:t>目录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支持直接读取你自制的 </a:t>
                      </a:r>
                      <a:r>
                        <a:rPr lang="en-US" altLang="zh-CN" sz="1600"/>
                        <a:t>.npy </a:t>
                      </a:r>
                      <a:r>
                        <a:rPr lang="zh-CN" altLang="en-US" sz="1600"/>
                        <a:t>数据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运行效率提升 </a:t>
                      </a:r>
                      <a:r>
                        <a:rPr lang="en-US" altLang="zh-CN" sz="1600"/>
                        <a:t>8</a:t>
                      </a:r>
                      <a:r>
                        <a:rPr lang="zh-CN" altLang="en-US" sz="1600"/>
                        <a:t>～</a:t>
                      </a:r>
                      <a:r>
                        <a:rPr lang="en-US" altLang="zh-CN" sz="1600"/>
                        <a:t>20</a:t>
                      </a:r>
                      <a:r>
                        <a:rPr lang="zh-CN" altLang="en-US" sz="1600"/>
                        <a:t>倍、减少 </a:t>
                      </a:r>
                      <a:r>
                        <a:rPr lang="en-US" altLang="zh-CN" sz="1600"/>
                        <a:t>RAW </a:t>
                      </a:r>
                      <a:r>
                        <a:rPr lang="zh-CN" altLang="en-US" sz="1600"/>
                        <a:t>解码开销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r>
                        <a:rPr lang="en-US" altLang="zh-CN" sz="1600"/>
                        <a:t>③ </a:t>
                      </a:r>
                      <a:r>
                        <a:rPr lang="zh-CN" altLang="en-US" sz="1600"/>
                        <a:t>自适应数据裁剪位置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样本多样性更高，避免过拟合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强化模型泛化能力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3715">
                <a:tc>
                  <a:txBody>
                    <a:bodyPr/>
                    <a:p>
                      <a:r>
                        <a:rPr lang="en-US" altLang="zh-CN" sz="1600"/>
                        <a:t>④ </a:t>
                      </a:r>
                      <a:r>
                        <a:rPr lang="zh-CN" altLang="en-US" sz="1600"/>
                        <a:t>训练增强策略显式开关控制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可自由选择增强策略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增强可控性，支持消融与对比实验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3715">
                <a:tc>
                  <a:txBody>
                    <a:bodyPr/>
                    <a:p>
                      <a:r>
                        <a:rPr lang="en-US" altLang="zh-CN" sz="1600"/>
                        <a:t>⑤ </a:t>
                      </a:r>
                      <a:r>
                        <a:rPr lang="zh-CN" altLang="en-US" sz="1600"/>
                        <a:t>黑白电平均衡正则化统一处理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不同机型 </a:t>
                      </a:r>
                      <a:r>
                        <a:rPr lang="en-US" altLang="zh-CN" sz="1600"/>
                        <a:t>RAW </a:t>
                      </a:r>
                      <a:r>
                        <a:rPr lang="zh-CN" altLang="en-US" sz="1600"/>
                        <a:t>归一化一致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为跨设备训练做铺垫，便于模型迁移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9415">
                <a:tc>
                  <a:txBody>
                    <a:bodyPr/>
                    <a:p>
                      <a:r>
                        <a:rPr lang="en-US" altLang="zh-CN" sz="1600"/>
                        <a:t>⑥ </a:t>
                      </a:r>
                      <a:r>
                        <a:rPr lang="zh-CN" altLang="en-US" sz="1600"/>
                        <a:t>曝光比自动计算与限制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防止极大曝光差导致训练失效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提升曝光恢复的数值稳定性与鲁棒性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57175">
                <a:tc>
                  <a:txBody>
                    <a:bodyPr/>
                    <a:p>
                      <a:r>
                        <a:rPr lang="en-US" altLang="zh-CN" sz="1600"/>
                        <a:t>⑦ </a:t>
                      </a:r>
                      <a:r>
                        <a:rPr lang="zh-CN" altLang="en-US" sz="1600"/>
                        <a:t>增加计时监控指标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可用于性能优化和瓶颈分析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600"/>
                        <a:t>有助于工程落地，加速推理性能优化</a:t>
                      </a:r>
                      <a:endParaRPr lang="zh-CN" altLang="en-US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6380" y="222250"/>
            <a:ext cx="7044055" cy="65195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70675" y="323215"/>
            <a:ext cx="4777740" cy="5634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7472045" y="1063625"/>
            <a:ext cx="4591050" cy="51898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仅用于</a:t>
            </a:r>
            <a:r>
              <a:rPr lang="en-US" altLang="zh-CN">
                <a:sym typeface="+mn-ea"/>
              </a:rPr>
              <a:t> RAW </a:t>
            </a:r>
            <a:r>
              <a:rPr lang="zh-CN" altLang="en-US">
                <a:sym typeface="+mn-ea"/>
              </a:rPr>
              <a:t>去噪</a:t>
            </a:r>
            <a:r>
              <a:rPr lang="en-US" altLang="zh-CN">
                <a:sym typeface="+mn-ea"/>
              </a:rPr>
              <a:t>  </a:t>
            </a:r>
            <a:endParaRPr lang="en-US" altLang="zh-CN"/>
          </a:p>
          <a:p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面向去噪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光照增强</a:t>
            </a:r>
            <a:r>
              <a:rPr lang="en-US" altLang="zh-CN">
                <a:sym typeface="+mn-ea"/>
              </a:rPr>
              <a:t> + </a:t>
            </a:r>
            <a:r>
              <a:rPr lang="zh-CN" altLang="en-US">
                <a:sym typeface="+mn-ea"/>
              </a:rPr>
              <a:t>多分支协同增强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RAW</a:t>
            </a:r>
            <a:r>
              <a:rPr lang="en-US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统一预处理流程</a:t>
            </a:r>
            <a:endParaRPr lang="zh-CN" altLang="en-US"/>
          </a:p>
          <a:p>
            <a:r>
              <a:rPr lang="en-US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区分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短曝光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长曝光特征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分别处理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单一路径到解码器</a:t>
            </a:r>
            <a:endParaRPr lang="zh-CN" altLang="en-US"/>
          </a:p>
          <a:p>
            <a:r>
              <a:rPr lang="en-US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局部增强</a:t>
            </a:r>
            <a:r>
              <a:rPr lang="en-US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全局增强</a:t>
            </a:r>
            <a:r>
              <a:rPr lang="en-US" altLang="zh-CN">
                <a:sym typeface="+mn-ea"/>
              </a:rPr>
              <a:t> / </a:t>
            </a:r>
            <a:r>
              <a:rPr lang="zh-CN" altLang="en-US">
                <a:sym typeface="+mn-ea"/>
              </a:rPr>
              <a:t>纹理增强三分支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增加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门控融合</a:t>
            </a:r>
            <a:r>
              <a:rPr lang="en-US" altLang="zh-CN">
                <a:sym typeface="+mn-ea"/>
              </a:rPr>
              <a:t> G(F_L,F_G)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仅输出</a:t>
            </a:r>
            <a:r>
              <a:rPr lang="en-US" altLang="zh-CN">
                <a:sym typeface="+mn-ea"/>
              </a:rPr>
              <a:t> clean RGB</a:t>
            </a:r>
            <a:endParaRPr lang="en-US" altLang="zh-CN"/>
          </a:p>
          <a:p>
            <a:r>
              <a:rPr lang="en-US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同时输出</a:t>
            </a:r>
            <a:r>
              <a:rPr lang="en-US" altLang="zh-CN">
                <a:sym typeface="+mn-ea"/>
              </a:rPr>
              <a:t> RAW</a:t>
            </a:r>
            <a:r>
              <a:rPr lang="zh-CN" altLang="en-US">
                <a:sym typeface="+mn-ea"/>
              </a:rPr>
              <a:t>增强特征</a:t>
            </a:r>
            <a:r>
              <a:rPr lang="en-US" altLang="zh-CN">
                <a:sym typeface="+mn-ea"/>
              </a:rPr>
              <a:t> + RGB</a:t>
            </a:r>
            <a:r>
              <a:rPr lang="zh-CN" altLang="en-US">
                <a:sym typeface="+mn-ea"/>
              </a:rPr>
              <a:t>结果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路径依赖性强</a:t>
            </a:r>
            <a:endParaRPr lang="zh-CN" altLang="en-US"/>
          </a:p>
          <a:p>
            <a:r>
              <a:rPr lang="en-US" altLang="en-US">
                <a:sym typeface="+mn-ea"/>
              </a:rPr>
              <a:t>→</a:t>
            </a:r>
            <a:r>
              <a:rPr lang="zh-CN" altLang="en-US">
                <a:sym typeface="+mn-ea"/>
              </a:rPr>
              <a:t>引入</a:t>
            </a:r>
            <a:r>
              <a:rPr lang="en-US" altLang="zh-CN">
                <a:sym typeface="+mn-ea"/>
              </a:rPr>
              <a:t> clean path </a:t>
            </a:r>
            <a:r>
              <a:rPr lang="zh-CN" altLang="en-US">
                <a:sym typeface="+mn-ea"/>
              </a:rPr>
              <a:t>解析</a:t>
            </a:r>
            <a:r>
              <a:rPr lang="en-US" altLang="zh-CN">
                <a:sym typeface="+mn-ea"/>
              </a:rPr>
              <a:t> robustness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连接服务器</a:t>
            </a:r>
            <a:r>
              <a:rPr lang="en-US" altLang="zh-CN"/>
              <a:t>+DNF</a:t>
            </a:r>
            <a:r>
              <a:rPr lang="zh-CN" altLang="en-US"/>
              <a:t>代码</a:t>
            </a:r>
            <a:r>
              <a:rPr lang="zh-CN" altLang="en-US"/>
              <a:t>阅读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85" y="1786890"/>
            <a:ext cx="6792595" cy="27412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250" y="62865"/>
            <a:ext cx="5440045" cy="31883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435" y="3429000"/>
            <a:ext cx="5166995" cy="3429000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667375" y="3186430"/>
            <a:ext cx="6524625" cy="34855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6220" y="360045"/>
            <a:ext cx="10763250" cy="1295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335" y="2881630"/>
            <a:ext cx="9801860" cy="39033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4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2"/>
</p:tagLst>
</file>

<file path=ppt/tags/tag7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4"/>
</p:tagLst>
</file>

<file path=ppt/tags/tag71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11"/>
</p:tagLst>
</file>

<file path=ppt/tags/tag72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7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3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3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3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</p:tagLst>
</file>

<file path=ppt/tags/tag8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4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4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4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6"/>
</p:tagLst>
</file>

<file path=ppt/tags/tag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4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69"/>
</p:tagLst>
</file>

<file path=ppt/tags/tag93.xml><?xml version="1.0" encoding="utf-8"?>
<p:tagLst xmlns:p="http://schemas.openxmlformats.org/presentationml/2006/main">
  <p:tag name="KSO_WM_UNIT_TYPE" val="e"/>
  <p:tag name="KSO_WM_UNIT_INDEX" val="1"/>
  <p:tag name="KSO_WM_BEAUTIFY_FLAG" val="#wm#"/>
  <p:tag name="KSO_WM_TAG_VERSION" val="3.0"/>
  <p:tag name="KSO_WM_UNIT_PRESET_TEXT" val="编号"/>
  <p:tag name="KSO_WM_UNIT_ID" val="_4*e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VALUE" val="2"/>
</p:tagLst>
</file>

<file path=ppt/tags/tag9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</p:tagLst>
</file>

<file path=ppt/tags/tag9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6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5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9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0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6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</p:tagLst>
</file>

<file path=ppt/tags/tag101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  <p:tag name="KSO_WM_UNIT_VALUE" val="162"/>
</p:tagLst>
</file>

<file path=ppt/tags/tag102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6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</p:tagLst>
</file>

<file path=ppt/tags/tag103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6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TEXT_LAYER_COUNT" val="1"/>
</p:tagLst>
</file>

<file path=ppt/tags/tag10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6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10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7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5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9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408"/>
</p:tagLst>
</file>

<file path=ppt/tags/tag11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0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41"/>
</p:tagLst>
</file>

<file path=ppt/tags/tag1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2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7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8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9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11"/>
</p:tagLst>
</file>

<file path=ppt/tags/tag13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4"/>
</p:tagLst>
</file>

<file path=ppt/tags/tag132.xml><?xml version="1.0" encoding="utf-8"?>
<p:tagLst xmlns:p="http://schemas.openxmlformats.org/presentationml/2006/main">
  <p:tag name="KSO_WM_UNIT_TYPE" val="f"/>
  <p:tag name="KSO_WM_UNIT_SUBTYPE" val="g"/>
  <p:tag name="KSO_WM_UNIT_INDEX" val="2"/>
  <p:tag name="KSO_WM_BEAUTIFY_FLAG" val="#wm#"/>
  <p:tag name="KSO_WM_TAG_VERSION" val="3.0"/>
  <p:tag name="KSO_WM_UNIT_PRESET_TEXT" val="公司名"/>
  <p:tag name="KSO_WM_UNIT_ID" val="_1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</p:tagLst>
</file>

<file path=ppt/tags/tag133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9"/>
</p:tagLst>
</file>

<file path=ppt/tags/tag13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30"/>
  <p:tag name="KSO_WM_TEMPLATE_CATEGORY" val="custom"/>
  <p:tag name="KSO_WM_TEMPLATE_INDEX" val="20238646"/>
</p:tagLst>
</file>

<file path=ppt/tags/tag13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50"/>
  <p:tag name="KSO_WM_TEMPLATE_CATEGORY" val="custom"/>
  <p:tag name="KSO_WM_TEMPLATE_INDEX" val="20238646"/>
</p:tagLst>
</file>

<file path=ppt/tags/tag13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1.xml><?xml version="1.0" encoding="utf-8"?>
<p:tagLst xmlns:p="http://schemas.openxmlformats.org/presentationml/2006/main">
  <p:tag name="KSO_WM_TEMPLATE_SUBCATEGORY" val="29"/>
  <p:tag name="KSO_WM_TEMPLATE_COLOR_TYPE" val="0"/>
  <p:tag name="KSO_WM_TAG_VERSION" val="3.0"/>
  <p:tag name="KSO_WM_TEMPLATE_THUMBS_INDEX" val="1、9"/>
  <p:tag name="KSO_WM_BEAUTIFY_FLAG" val="#wm#"/>
  <p:tag name="KSO_WM_TEMPLATE_INDEX" val="20238646"/>
  <p:tag name="KSO_WM_TEMPLATE_CATEGORY" val="custom"/>
  <p:tag name="KSO_WM_TEMPLATE_MASTER_TYPE" val="0"/>
</p:tagLst>
</file>

<file path=ppt/tags/tag14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646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VALUE" val="32"/>
  <p:tag name="KSO_WM_UNIT_PRESET_TEXT" val="单击添加文档标题"/>
  <p:tag name="KSO_WM_UNIT_TEXT_TYPE" val="1"/>
</p:tagLst>
</file>

<file path=ppt/tags/tag14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ID" val="custom20238646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ISCONTENTSTITLE" val="0"/>
  <p:tag name="KSO_WM_UNIT_PRESET_TEXT" val="添加文档副标题"/>
  <p:tag name="KSO_WM_UNIT_TEXT_TYPE" val="1"/>
</p:tagLst>
</file>

<file path=ppt/tags/tag14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646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646"/>
  <p:tag name="KSO_WM_TEMPLATE_CATEGORY" val="custom"/>
  <p:tag name="KSO_WM_UNIT_TEXT_LAYER_COUNT" val="1"/>
</p:tagLst>
</file>

<file path=ppt/tags/tag145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TEMPLATE_THUMBS_INDEX" val="1、9"/>
  <p:tag name="KSO_WM_BEAUTIFY_FLAG" val="#wm#"/>
  <p:tag name="KSO_WM_TEMPLATE_INDEX" val="20238646"/>
  <p:tag name="KSO_WM_TEMPLATE_CATEGORY" val="custom"/>
  <p:tag name="KSO_WM_SLIDE_INDEX" val="1"/>
  <p:tag name="KSO_WM_SLIDE_ID" val="custom20238646_1"/>
  <p:tag name="KSO_WM_TEMPLATE_MASTER_TYPE" val="0"/>
  <p:tag name="KSO_WM_SLIDE_LAYOUT" val="a_b_f"/>
  <p:tag name="KSO_WM_SLIDE_LAYOUT_CNT" val="1_1_2"/>
</p:tagLst>
</file>

<file path=ppt/tags/tag14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4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4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5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58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6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6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6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5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6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6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</p:tagLst>
</file>

<file path=ppt/tags/tag170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2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VALUE" val="340"/>
</p:tagLst>
</file>

<file path=ppt/tags/tag171.xml><?xml version="1.0" encoding="utf-8"?>
<p:tagLst xmlns:p="http://schemas.openxmlformats.org/presentationml/2006/main">
  <p:tag name="KSO_WM_BEAUTIFY_FLAG" val="#wm#"/>
  <p:tag name="KSO_WM_TEMPLATE_CATEGORY" val="custom"/>
  <p:tag name="KSO_WM_TEMPLATE_INDEX" val="2023864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简约风渐变几何通用模板">
  <a:themeElements>
    <a:clrScheme name="自定义 4">
      <a:dk1>
        <a:srgbClr val="000000"/>
      </a:dk1>
      <a:lt1>
        <a:srgbClr val="FFFFFF"/>
      </a:lt1>
      <a:dk2>
        <a:srgbClr val="262626"/>
      </a:dk2>
      <a:lt2>
        <a:srgbClr val="F6F6F6"/>
      </a:lt2>
      <a:accent1>
        <a:srgbClr val="BC9E80"/>
      </a:accent1>
      <a:accent2>
        <a:srgbClr val="F3AE35"/>
      </a:accent2>
      <a:accent3>
        <a:srgbClr val="BDBF2F"/>
      </a:accent3>
      <a:accent4>
        <a:srgbClr val="4EBAC2"/>
      </a:accent4>
      <a:accent5>
        <a:srgbClr val="E39865"/>
      </a:accent5>
      <a:accent6>
        <a:srgbClr val="B687DA"/>
      </a:accent6>
      <a:hlink>
        <a:srgbClr val="304FFE"/>
      </a:hlink>
      <a:folHlink>
        <a:srgbClr val="492067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WPS 演示</Application>
  <PresentationFormat>宽屏</PresentationFormat>
  <Paragraphs>99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Verdana</vt:lpstr>
      <vt:lpstr>微软雅黑</vt:lpstr>
      <vt:lpstr>Arial Unicode MS</vt:lpstr>
      <vt:lpstr>Calibri</vt:lpstr>
      <vt:lpstr>WPS</vt:lpstr>
      <vt:lpstr>简约风渐变几何通用模板</vt:lpstr>
      <vt:lpstr>深度学习-低光图像增强</vt:lpstr>
      <vt:lpstr>完成任务</vt:lpstr>
      <vt:lpstr>精读论文分享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连接服务器+DNF代码阅读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丨丨c</cp:lastModifiedBy>
  <cp:revision>212</cp:revision>
  <dcterms:created xsi:type="dcterms:W3CDTF">2019-06-19T02:08:00Z</dcterms:created>
  <dcterms:modified xsi:type="dcterms:W3CDTF">2025-12-08T13:27:49Z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2A40547D2B4F45B58CEDD44D0F25320A_11</vt:lpwstr>
  </property>
</Properties>
</file>