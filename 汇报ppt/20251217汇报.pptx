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1"/>
  </p:notesMasterIdLst>
  <p:sldIdLst>
    <p:sldId id="291" r:id="rId4"/>
    <p:sldId id="264" r:id="rId5"/>
    <p:sldId id="301" r:id="rId6"/>
    <p:sldId id="292" r:id="rId7"/>
    <p:sldId id="293" r:id="rId8"/>
    <p:sldId id="302" r:id="rId9"/>
    <p:sldId id="30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1.png"/><Relationship Id="rId2" Type="http://schemas.openxmlformats.org/officeDocument/2006/relationships/tags" Target="../tags/tag6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image" Target="../media/image1.png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image" Target="../media/image1.png"/><Relationship Id="rId2" Type="http://schemas.openxmlformats.org/officeDocument/2006/relationships/tags" Target="../tags/tag85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image" Target="../media/image1.png"/><Relationship Id="rId2" Type="http://schemas.openxmlformats.org/officeDocument/2006/relationships/tags" Target="../tags/tag12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3" name="椭圆 42"/>
          <p:cNvSpPr/>
          <p:nvPr userDrawn="1">
            <p:custDataLst>
              <p:tags r:id="rId8"/>
            </p:custDataLst>
          </p:nvPr>
        </p:nvSpPr>
        <p:spPr>
          <a:xfrm rot="900000">
            <a:off x="5811677" y="952529"/>
            <a:ext cx="4952943" cy="4952943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9"/>
            </p:custDataLst>
          </p:nvPr>
        </p:nvSpPr>
        <p:spPr>
          <a:xfrm>
            <a:off x="1023853" y="3063673"/>
            <a:ext cx="10515600" cy="1800000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5400" b="1">
                <a:solidFill>
                  <a:srgbClr val="3C3C3C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0"/>
            </p:custDataLst>
          </p:nvPr>
        </p:nvSpPr>
        <p:spPr>
          <a:xfrm>
            <a:off x="1023853" y="1513966"/>
            <a:ext cx="10515600" cy="1457452"/>
          </a:xfrm>
        </p:spPr>
        <p:txBody>
          <a:bodyPr wrap="square"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40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102361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1023853" y="4925628"/>
            <a:ext cx="2303547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椭圆 9"/>
          <p:cNvSpPr/>
          <p:nvPr userDrawn="1">
            <p:custDataLst>
              <p:tags r:id="rId8"/>
            </p:custDataLst>
          </p:nvPr>
        </p:nvSpPr>
        <p:spPr>
          <a:xfrm>
            <a:off x="75048" y="1292920"/>
            <a:ext cx="4272161" cy="4272161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467485" y="2386012"/>
            <a:ext cx="2880000" cy="1081088"/>
          </a:xfrm>
        </p:spPr>
        <p:txBody>
          <a:bodyPr wrap="square" anchor="b">
            <a:normAutofit/>
          </a:bodyPr>
          <a:lstStyle>
            <a:lvl1pPr>
              <a:defRPr sz="6000">
                <a:solidFill>
                  <a:srgbClr val="3C3C3C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椭圆 8"/>
          <p:cNvSpPr/>
          <p:nvPr userDrawn="1">
            <p:custDataLst>
              <p:tags r:id="rId8"/>
            </p:custDataLst>
          </p:nvPr>
        </p:nvSpPr>
        <p:spPr>
          <a:xfrm>
            <a:off x="6411944" y="931202"/>
            <a:ext cx="4399471" cy="4399471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/>
              </a:gs>
            </a:gsLst>
            <a:lin ang="19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300792" y="3016638"/>
            <a:ext cx="6252908" cy="2513584"/>
          </a:xfrm>
        </p:spPr>
        <p:txBody>
          <a:bodyPr wrap="square" anchor="t">
            <a:normAutofit/>
          </a:bodyPr>
          <a:lstStyle>
            <a:lvl1pPr algn="l">
              <a:defRPr sz="6000">
                <a:solidFill>
                  <a:srgbClr val="3C3C3C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0"/>
            </p:custDataLst>
          </p:nvPr>
        </p:nvSpPr>
        <p:spPr>
          <a:xfrm>
            <a:off x="4300855" y="1257935"/>
            <a:ext cx="6252845" cy="1671320"/>
          </a:xfrm>
        </p:spPr>
        <p:txBody>
          <a:bodyPr wrap="square" anchor="b"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1149382" y="1866277"/>
            <a:ext cx="3043199" cy="2587225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115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椭圆 7"/>
          <p:cNvSpPr/>
          <p:nvPr userDrawn="1">
            <p:custDataLst>
              <p:tags r:id="rId8"/>
            </p:custDataLst>
          </p:nvPr>
        </p:nvSpPr>
        <p:spPr>
          <a:xfrm flipH="1">
            <a:off x="1427380" y="952529"/>
            <a:ext cx="4952943" cy="4952943"/>
          </a:xfrm>
          <a:prstGeom prst="ellipse">
            <a:avLst/>
          </a:prstGeom>
          <a:gradFill flip="none" rotWithShape="1">
            <a:gsLst>
              <a:gs pos="30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/>
              </a:gs>
            </a:gsLst>
            <a:lin ang="19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2133601" y="2849163"/>
            <a:ext cx="9126462" cy="1800000"/>
          </a:xfrm>
        </p:spPr>
        <p:txBody>
          <a:bodyPr wrap="square" anchor="t">
            <a:normAutofit/>
          </a:bodyPr>
          <a:lstStyle>
            <a:lvl1pPr algn="r">
              <a:lnSpc>
                <a:spcPct val="100000"/>
              </a:lnSpc>
              <a:defRPr sz="6600">
                <a:solidFill>
                  <a:srgbClr val="3C3C3C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0"/>
            </p:custDataLst>
          </p:nvPr>
        </p:nvSpPr>
        <p:spPr>
          <a:xfrm>
            <a:off x="2133600" y="1400810"/>
            <a:ext cx="9126220" cy="1368425"/>
          </a:xfrm>
        </p:spPr>
        <p:txBody>
          <a:bodyPr wrap="square"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4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8380490" y="55800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8956063" y="4849527"/>
            <a:ext cx="2304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141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40.xml"/><Relationship Id="rId18" Type="http://schemas.openxmlformats.org/officeDocument/2006/relationships/tags" Target="../tags/tag139.xml"/><Relationship Id="rId17" Type="http://schemas.openxmlformats.org/officeDocument/2006/relationships/tags" Target="../tags/tag138.xml"/><Relationship Id="rId16" Type="http://schemas.openxmlformats.org/officeDocument/2006/relationships/tags" Target="../tags/tag137.xml"/><Relationship Id="rId15" Type="http://schemas.openxmlformats.org/officeDocument/2006/relationships/tags" Target="../tags/tag136.xml"/><Relationship Id="rId14" Type="http://schemas.openxmlformats.org/officeDocument/2006/relationships/tags" Target="../tags/tag135.xml"/><Relationship Id="rId13" Type="http://schemas.openxmlformats.org/officeDocument/2006/relationships/image" Target="../media/image1.png"/><Relationship Id="rId12" Type="http://schemas.openxmlformats.org/officeDocument/2006/relationships/tags" Target="../tags/tag134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描述已自动生成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rgbClr val="3C3C3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rgbClr val="3C3C3C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rgbClr val="3C3C3C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rgbClr val="3C3C3C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rgbClr val="3C3C3C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rgbClr val="3C3C3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50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149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5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15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5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tags" Target="../tags/tag153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56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15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8.xml"/><Relationship Id="rId2" Type="http://schemas.openxmlformats.org/officeDocument/2006/relationships/image" Target="../media/image14.png"/><Relationship Id="rId1" Type="http://schemas.openxmlformats.org/officeDocument/2006/relationships/tags" Target="../tags/tag1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22985" y="2717800"/>
            <a:ext cx="7930515" cy="1097280"/>
          </a:xfrm>
        </p:spPr>
        <p:txBody>
          <a:bodyPr/>
          <a:lstStyle/>
          <a:p>
            <a:r>
              <a:rPr lang="zh-CN" altLang="en-US"/>
              <a:t>深度学习</a:t>
            </a:r>
            <a:r>
              <a:rPr lang="en-US" altLang="zh-CN"/>
              <a:t>-</a:t>
            </a:r>
            <a:r>
              <a:rPr lang="zh-CN" altLang="en-US"/>
              <a:t>低光图像增强</a:t>
            </a:r>
            <a:endParaRPr lang="zh-CN" altLang="en-US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023620" y="1374775"/>
            <a:ext cx="4166235" cy="708025"/>
          </a:xfrm>
        </p:spPr>
        <p:txBody>
          <a:bodyPr/>
          <a:lstStyle/>
          <a:p>
            <a:r>
              <a:rPr lang="en-US" altLang="zh-CN"/>
              <a:t>20251217</a:t>
            </a:r>
            <a:r>
              <a:rPr lang="zh-CN" altLang="en-US"/>
              <a:t>汇报</a:t>
            </a:r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汇报人：陈银素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541610"/>
            <a:ext cx="10800000" cy="720000"/>
          </a:xfrm>
        </p:spPr>
        <p:txBody>
          <a:bodyPr/>
          <a:p>
            <a:r>
              <a:rPr lang="zh-CN" altLang="en-US" sz="4000"/>
              <a:t>完成</a:t>
            </a:r>
            <a:r>
              <a:rPr lang="zh-CN" altLang="en-US" sz="4000"/>
              <a:t>任务</a:t>
            </a:r>
            <a:endParaRPr lang="zh-CN" altLang="en-US" sz="4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653540"/>
            <a:ext cx="7246620" cy="2106295"/>
          </a:xfrm>
        </p:spPr>
        <p:txBody>
          <a:bodyPr>
            <a:noAutofit/>
          </a:bodyPr>
          <a:p>
            <a:r>
              <a:rPr lang="zh-CN" altLang="en-US" sz="2800" b="1"/>
              <a:t>梳理实验</a:t>
            </a:r>
            <a:r>
              <a:rPr lang="zh-CN" altLang="en-US" sz="2800" b="1"/>
              <a:t>过程</a:t>
            </a:r>
            <a:endParaRPr lang="zh-CN" altLang="en-US" sz="2800" b="1"/>
          </a:p>
          <a:p>
            <a:r>
              <a:rPr lang="zh-CN" altLang="en-US" sz="2800" b="1"/>
              <a:t>修改</a:t>
            </a:r>
            <a:r>
              <a:rPr lang="zh-CN" altLang="en-US" sz="2800" b="1"/>
              <a:t>完善技术交底书</a:t>
            </a:r>
            <a:endParaRPr lang="zh-CN" altLang="en-US" sz="2800" b="1"/>
          </a:p>
          <a:p>
            <a:r>
              <a:rPr lang="zh-CN" altLang="en-US" sz="2800" b="1"/>
              <a:t>连服务器</a:t>
            </a:r>
            <a:r>
              <a:rPr lang="en-US" altLang="zh-CN" sz="2800" b="1"/>
              <a:t>+</a:t>
            </a:r>
            <a:r>
              <a:rPr lang="zh-CN" altLang="en-US" sz="2800" b="1"/>
              <a:t>跑对比</a:t>
            </a:r>
            <a:r>
              <a:rPr lang="zh-CN" altLang="en-US" sz="2800" b="1"/>
              <a:t>实验</a:t>
            </a:r>
            <a:endParaRPr lang="zh-CN" altLang="en-US" sz="2800" b="1"/>
          </a:p>
          <a:p>
            <a:pPr marL="0" indent="0">
              <a:buNone/>
            </a:pPr>
            <a:endParaRPr lang="zh-CN" altLang="en-US" sz="2800" b="1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内容占位符 7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1285" y="90805"/>
            <a:ext cx="5319395" cy="42259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255" y="2704465"/>
            <a:ext cx="6374765" cy="20427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515" y="4923790"/>
            <a:ext cx="8253095" cy="17957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内容占位符 2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r="24604"/>
          <a:stretch>
            <a:fillRect/>
          </a:stretch>
        </p:blipFill>
        <p:spPr>
          <a:xfrm>
            <a:off x="746125" y="2960370"/>
            <a:ext cx="8044815" cy="38379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045" y="273685"/>
            <a:ext cx="4279900" cy="4406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95" y="93980"/>
            <a:ext cx="5525770" cy="37439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8595" y="285115"/>
            <a:ext cx="6400800" cy="2095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530" y="1136650"/>
            <a:ext cx="6394450" cy="2438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8255" y="2543810"/>
            <a:ext cx="4385310" cy="42443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290" y="3429000"/>
            <a:ext cx="2550795" cy="327025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26110" y="508635"/>
            <a:ext cx="3431540" cy="59302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6095" y="139700"/>
            <a:ext cx="7512685" cy="37134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802505" y="4531995"/>
            <a:ext cx="70821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代码定义了两个融合模块：</a:t>
            </a:r>
            <a:endParaRPr lang="zh-CN" altLang="en-US"/>
          </a:p>
          <a:p>
            <a:r>
              <a:rPr lang="en-US" altLang="zh-CN"/>
              <a:t>PDConvFuse​ - </a:t>
            </a:r>
            <a:r>
              <a:rPr lang="zh-CN" altLang="en-US"/>
              <a:t>简单的点卷积</a:t>
            </a:r>
            <a:r>
              <a:rPr lang="en-US" altLang="zh-CN"/>
              <a:t>+</a:t>
            </a:r>
            <a:r>
              <a:rPr lang="zh-CN" altLang="en-US"/>
              <a:t>深度可分离卷积融合</a:t>
            </a:r>
            <a:endParaRPr lang="zh-CN" altLang="en-US"/>
          </a:p>
          <a:p>
            <a:r>
              <a:rPr lang="en-US" altLang="zh-CN"/>
              <a:t>GFM​ - </a:t>
            </a:r>
            <a:r>
              <a:rPr lang="zh-CN" altLang="en-US"/>
              <a:t>更复杂的门控融合模块（</a:t>
            </a:r>
            <a:r>
              <a:rPr lang="en-US" altLang="zh-CN"/>
              <a:t>Gated Fusion Module</a:t>
            </a:r>
            <a:r>
              <a:rPr lang="zh-CN" altLang="en-US"/>
              <a:t>）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0030" y="271780"/>
            <a:ext cx="9015095" cy="43148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954270" y="4645660"/>
            <a:ext cx="695452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# </a:t>
            </a:r>
            <a:r>
              <a:rPr lang="zh-CN" altLang="en-US"/>
              <a:t>基于</a:t>
            </a:r>
            <a:r>
              <a:rPr lang="en-US" altLang="zh-CN"/>
              <a:t>GFM</a:t>
            </a:r>
            <a:r>
              <a:rPr lang="zh-CN" altLang="en-US"/>
              <a:t>的融合机制</a:t>
            </a:r>
            <a:endParaRPr lang="zh-CN" altLang="en-US"/>
          </a:p>
          <a:p>
            <a:r>
              <a:rPr lang="en-US" altLang="zh-CN"/>
              <a:t>x = torch.cat([x_texture, x_color], dim=1)  # </a:t>
            </a:r>
            <a:r>
              <a:rPr lang="zh-CN" altLang="en-US"/>
              <a:t>拼接</a:t>
            </a:r>
            <a:endParaRPr lang="zh-CN" altLang="en-US"/>
          </a:p>
          <a:p>
            <a:r>
              <a:rPr lang="en-US" altLang="zh-CN"/>
              <a:t>x = self.pwconv(x)  # </a:t>
            </a:r>
            <a:r>
              <a:rPr lang="zh-CN" altLang="en-US"/>
              <a:t>扩展维度</a:t>
            </a:r>
            <a:endParaRPr lang="zh-CN" altLang="en-US"/>
          </a:p>
          <a:p>
            <a:r>
              <a:rPr lang="en-US" altLang="zh-CN"/>
              <a:t>x1, x2 = self.dwconv(x).chunk(2, dim=1)  # </a:t>
            </a:r>
            <a:r>
              <a:rPr lang="zh-CN" altLang="en-US"/>
              <a:t>深度卷积后拆分</a:t>
            </a:r>
            <a:endParaRPr lang="zh-CN" altLang="en-US"/>
          </a:p>
          <a:p>
            <a:r>
              <a:rPr lang="en-US" altLang="zh-CN"/>
              <a:t>x = F.gelu(x1) * x2  # </a:t>
            </a:r>
            <a:r>
              <a:rPr lang="zh-CN" altLang="en-US"/>
              <a:t>门控交互</a:t>
            </a:r>
            <a:endParaRPr lang="zh-CN" altLang="en-US"/>
          </a:p>
          <a:p>
            <a:r>
              <a:rPr lang="en-US" altLang="zh-CN"/>
              <a:t>x = self.project_out(x)  # </a:t>
            </a:r>
            <a:r>
              <a:rPr lang="zh-CN" altLang="en-US"/>
              <a:t>降维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2"/>
</p:tagLst>
</file>

<file path=ppt/tags/tag7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4"/>
</p:tagLst>
</file>

<file path=ppt/tags/tag71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1"/>
</p:tagLst>
</file>

<file path=ppt/tags/tag7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9"/>
</p:tagLst>
</file>

<file path=ppt/tags/tag7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7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7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8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9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69"/>
</p:tagLst>
</file>

<file path=ppt/tags/tag93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"/>
</p:tagLst>
</file>

<file path=ppt/tags/tag9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</p:tagLst>
</file>

<file path=ppt/tags/tag9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96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9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101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UNIT_VALUE" val="162"/>
</p:tagLst>
</file>

<file path=ppt/tags/tag102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03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10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0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408"/>
</p:tagLst>
</file>

<file path=ppt/tags/tag116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12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2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1"/>
</p:tagLst>
</file>

<file path=ppt/tags/tag13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4"/>
</p:tagLst>
</file>

<file path=ppt/tags/tag132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33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9"/>
</p:tagLst>
</file>

<file path=ppt/tags/tag13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20238646"/>
</p:tagLst>
</file>

<file path=ppt/tags/tag13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50"/>
  <p:tag name="KSO_WM_TEMPLATE_CATEGORY" val="custom"/>
  <p:tag name="KSO_WM_TEMPLATE_INDEX" val="20238646"/>
</p:tagLst>
</file>

<file path=ppt/tags/tag13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46"/>
  <p:tag name="KSO_WM_TEMPLATE_CATEGORY" val="custom"/>
  <p:tag name="KSO_WM_TEMPLATE_MASTER_TYPE" val="0"/>
</p:tagLst>
</file>

<file path=ppt/tags/tag1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46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46"/>
  <p:tag name="KSO_WM_TEMPLATE_CATEGORY" val="custom"/>
  <p:tag name="KSO_WM_UNIT_ISCONTENTSTITLE" val="0"/>
  <p:tag name="KSO_WM_UNIT_VALUE" val="32"/>
  <p:tag name="KSO_WM_UNIT_PRESET_TEXT" val="单击添加文档标题"/>
  <p:tag name="KSO_WM_UNIT_TEXT_TYPE" val="1"/>
</p:tagLst>
</file>

<file path=ppt/tags/tag14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8646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46"/>
  <p:tag name="KSO_WM_TEMPLATE_CATEGORY" val="custom"/>
  <p:tag name="KSO_WM_UNIT_ISCONTENTSTITLE" val="0"/>
  <p:tag name="KSO_WM_UNIT_PRESET_TEXT" val="添加文档副标题"/>
  <p:tag name="KSO_WM_UNIT_TEXT_TYPE" val="1"/>
</p:tagLst>
</file>

<file path=ppt/tags/tag14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646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46"/>
  <p:tag name="KSO_WM_TEMPLATE_CATEGORY" val="custom"/>
  <p:tag name="KSO_WM_UNIT_TEXT_LAYER_COUNT" val="1"/>
</p:tagLst>
</file>

<file path=ppt/tags/tag145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8646"/>
  <p:tag name="KSO_WM_TEMPLATE_CATEGORY" val="custom"/>
  <p:tag name="KSO_WM_SLIDE_INDEX" val="1"/>
  <p:tag name="KSO_WM_SLIDE_ID" val="custom20238646_1"/>
  <p:tag name="KSO_WM_TEMPLATE_MASTER_TYPE" val="0"/>
  <p:tag name="KSO_WM_SLIDE_LAYOUT" val="a_b_f"/>
  <p:tag name="KSO_WM_SLIDE_LAYOUT_CNT" val="1_1_2"/>
</p:tagLst>
</file>

<file path=ppt/tags/tag14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4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ags/tag14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50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ags/tag15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52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ags/tag15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54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ags/tag15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56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ags/tag15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58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简约风渐变几何通用模板">
  <a:themeElements>
    <a:clrScheme name="自定义 4">
      <a:dk1>
        <a:srgbClr val="000000"/>
      </a:dk1>
      <a:lt1>
        <a:srgbClr val="FFFFFF"/>
      </a:lt1>
      <a:dk2>
        <a:srgbClr val="262626"/>
      </a:dk2>
      <a:lt2>
        <a:srgbClr val="F6F6F6"/>
      </a:lt2>
      <a:accent1>
        <a:srgbClr val="BC9E80"/>
      </a:accent1>
      <a:accent2>
        <a:srgbClr val="F3AE35"/>
      </a:accent2>
      <a:accent3>
        <a:srgbClr val="BDBF2F"/>
      </a:accent3>
      <a:accent4>
        <a:srgbClr val="4EBAC2"/>
      </a:accent4>
      <a:accent5>
        <a:srgbClr val="E39865"/>
      </a:accent5>
      <a:accent6>
        <a:srgbClr val="B687DA"/>
      </a:accent6>
      <a:hlink>
        <a:srgbClr val="304FFE"/>
      </a:hlink>
      <a:folHlink>
        <a:srgbClr val="492067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</Words>
  <Application>WPS 演示</Application>
  <PresentationFormat>宽屏</PresentationFormat>
  <Paragraphs>24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Verdana</vt:lpstr>
      <vt:lpstr>微软雅黑</vt:lpstr>
      <vt:lpstr>Arial Unicode MS</vt:lpstr>
      <vt:lpstr>Calibri</vt:lpstr>
      <vt:lpstr>WPS</vt:lpstr>
      <vt:lpstr>简约风渐变几何通用模板</vt:lpstr>
      <vt:lpstr>深度学习-低光图像增强</vt:lpstr>
      <vt:lpstr>完成任务</vt:lpstr>
      <vt:lpstr>PowerPoint 演示文稿</vt:lpstr>
      <vt:lpstr>单击此处编辑母版标题样式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丨丨c</cp:lastModifiedBy>
  <cp:revision>220</cp:revision>
  <dcterms:created xsi:type="dcterms:W3CDTF">2019-06-19T02:08:00Z</dcterms:created>
  <dcterms:modified xsi:type="dcterms:W3CDTF">2025-12-17T07:06:49Z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2A40547D2B4F45B58CEDD44D0F25320A_11</vt:lpwstr>
  </property>
</Properties>
</file>