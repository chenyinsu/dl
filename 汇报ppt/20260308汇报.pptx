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9"/>
  </p:notesMasterIdLst>
  <p:sldIdLst>
    <p:sldId id="291" r:id="rId4"/>
    <p:sldId id="264" r:id="rId5"/>
    <p:sldId id="304" r:id="rId6"/>
    <p:sldId id="308" r:id="rId7"/>
    <p:sldId id="309" r:id="rId8"/>
    <p:sldId id="305" r:id="rId9"/>
    <p:sldId id="310" r:id="rId10"/>
    <p:sldId id="306" r:id="rId11"/>
    <p:sldId id="313" r:id="rId12"/>
    <p:sldId id="311" r:id="rId13"/>
    <p:sldId id="312" r:id="rId14"/>
    <p:sldId id="307" r:id="rId15"/>
    <p:sldId id="301" r:id="rId16"/>
    <p:sldId id="292" r:id="rId17"/>
    <p:sldId id="303"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image" Target="../media/image1.png"/><Relationship Id="rId2" Type="http://schemas.openxmlformats.org/officeDocument/2006/relationships/tags" Target="../tags/tag6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image" Target="../media/image1.png"/><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image" Target="../media/image1.png"/><Relationship Id="rId2" Type="http://schemas.openxmlformats.org/officeDocument/2006/relationships/tags" Target="../tags/tag85.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image" Target="../media/image1.png"/><Relationship Id="rId2" Type="http://schemas.openxmlformats.org/officeDocument/2006/relationships/tags" Target="../tags/tag124.xml"/><Relationship Id="rId12" Type="http://schemas.openxmlformats.org/officeDocument/2006/relationships/tags" Target="../tags/tag133.xml"/><Relationship Id="rId11" Type="http://schemas.openxmlformats.org/officeDocument/2006/relationships/tags" Target="../tags/tag132.xml"/><Relationship Id="rId10" Type="http://schemas.openxmlformats.org/officeDocument/2006/relationships/tags" Target="../tags/tag13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custDataLst>
              <p:tags r:id="rId2"/>
            </p:custDataLst>
          </p:nvPr>
        </p:nvPicPr>
        <p:blipFill>
          <a:blip r:embed="rId3"/>
          <a:stretch>
            <a:fillRect/>
          </a:stretch>
        </p:blipFill>
        <p:spPr>
          <a:xfrm>
            <a:off x="0" y="0"/>
            <a:ext cx="12192000" cy="6858000"/>
          </a:xfrm>
          <a:prstGeom prst="rect">
            <a:avLst/>
          </a:prstGeom>
        </p:spPr>
      </p:pic>
      <p:sp>
        <p:nvSpPr>
          <p:cNvPr id="13" name="矩形 12"/>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43" name="椭圆 42"/>
          <p:cNvSpPr/>
          <p:nvPr userDrawn="1">
            <p:custDataLst>
              <p:tags r:id="rId8"/>
            </p:custDataLst>
          </p:nvPr>
        </p:nvSpPr>
        <p:spPr>
          <a:xfrm rot="900000">
            <a:off x="5811677" y="952529"/>
            <a:ext cx="4952943" cy="4952943"/>
          </a:xfrm>
          <a:prstGeom prst="ellipse">
            <a:avLst/>
          </a:prstGeom>
          <a:gradFill flip="none" rotWithShape="1">
            <a:gsLst>
              <a:gs pos="34000">
                <a:schemeClr val="accent1">
                  <a:lumMod val="45000"/>
                  <a:lumOff val="55000"/>
                  <a:alpha val="0"/>
                </a:schemeClr>
              </a:gs>
              <a:gs pos="100000">
                <a:schemeClr val="accent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9"/>
            </p:custDataLst>
          </p:nvPr>
        </p:nvSpPr>
        <p:spPr>
          <a:xfrm>
            <a:off x="1023853" y="3063673"/>
            <a:ext cx="10515600" cy="1800000"/>
          </a:xfrm>
        </p:spPr>
        <p:txBody>
          <a:bodyPr wrap="square" anchor="t">
            <a:normAutofit/>
          </a:bodyPr>
          <a:lstStyle>
            <a:lvl1pPr algn="l">
              <a:lnSpc>
                <a:spcPct val="100000"/>
              </a:lnSpc>
              <a:defRPr sz="5400" b="1">
                <a:solidFill>
                  <a:srgbClr val="3C3C3C"/>
                </a:solidFill>
              </a:defRPr>
            </a:lvl1pPr>
          </a:lstStyle>
          <a:p>
            <a:r>
              <a:rPr lang="zh-CN" altLang="en-US" dirty="0"/>
              <a:t>单击此处编辑母版标题样式</a:t>
            </a:r>
            <a:endParaRPr lang="zh-CN" altLang="en-US" dirty="0"/>
          </a:p>
        </p:txBody>
      </p:sp>
      <p:sp>
        <p:nvSpPr>
          <p:cNvPr id="3" name="副标题 2"/>
          <p:cNvSpPr>
            <a:spLocks noGrp="1"/>
          </p:cNvSpPr>
          <p:nvPr>
            <p:ph type="subTitle" idx="1" hasCustomPrompt="1"/>
            <p:custDataLst>
              <p:tags r:id="rId10"/>
            </p:custDataLst>
          </p:nvPr>
        </p:nvSpPr>
        <p:spPr>
          <a:xfrm>
            <a:off x="1023853" y="1513966"/>
            <a:ext cx="10515600" cy="1457452"/>
          </a:xfrm>
        </p:spPr>
        <p:txBody>
          <a:bodyPr wrap="square" anchor="b">
            <a:normAutofit/>
          </a:bodyPr>
          <a:lstStyle>
            <a:lvl1pPr marL="0" indent="0" algn="l">
              <a:lnSpc>
                <a:spcPct val="100000"/>
              </a:lnSpc>
              <a:buNone/>
              <a:defRPr sz="40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 name="公司名占位符 6"/>
          <p:cNvSpPr>
            <a:spLocks noGrp="1"/>
          </p:cNvSpPr>
          <p:nvPr>
            <p:ph type="body" sz="quarter" idx="13" hasCustomPrompt="1"/>
            <p:custDataLst>
              <p:tags r:id="rId11"/>
            </p:custDataLst>
          </p:nvPr>
        </p:nvSpPr>
        <p:spPr>
          <a:xfrm>
            <a:off x="1023618" y="504000"/>
            <a:ext cx="2880000" cy="504000"/>
          </a:xfrm>
        </p:spPr>
        <p:txBody>
          <a:bodyPr wrap="square" anchor="ctr">
            <a:normAutofit/>
          </a:bodyPr>
          <a:lstStyle>
            <a:lvl1pPr marL="0" indent="0">
              <a:lnSpc>
                <a:spcPct val="100000"/>
              </a:lnSpc>
              <a:buNone/>
              <a:defRPr sz="1800" b="1">
                <a:solidFill>
                  <a:schemeClr val="accent1"/>
                </a:solidFill>
              </a:defRPr>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2"/>
            </p:custDataLst>
          </p:nvPr>
        </p:nvSpPr>
        <p:spPr>
          <a:xfrm>
            <a:off x="1023853" y="4925628"/>
            <a:ext cx="2303547"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0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3" name="图片 2" descr="背景图案&#10;&#10;描述已自动生成"/>
          <p:cNvPicPr>
            <a:picLocks noChangeAspect="1"/>
          </p:cNvPicPr>
          <p:nvPr userDrawn="1">
            <p:custDataLst>
              <p:tags r:id="rId2"/>
            </p:custDataLst>
          </p:nvPr>
        </p:nvPicPr>
        <p:blipFill>
          <a:blip r:embed="rId3"/>
          <a:stretch>
            <a:fillRect/>
          </a:stretch>
        </p:blipFill>
        <p:spPr>
          <a:xfrm>
            <a:off x="0" y="0"/>
            <a:ext cx="12192000" cy="6858000"/>
          </a:xfrm>
          <a:prstGeom prst="rect">
            <a:avLst/>
          </a:prstGeom>
        </p:spPr>
      </p:pic>
      <p:sp>
        <p:nvSpPr>
          <p:cNvPr id="5" name="矩形 4"/>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6"/>
            </p:custDataLst>
          </p:nvPr>
        </p:nvSpPr>
        <p:spPr/>
        <p:txBody>
          <a:bodyPr/>
          <a:lstStyle/>
          <a:p>
            <a:endParaRPr lang="zh-CN" altLang="en-US"/>
          </a:p>
        </p:txBody>
      </p:sp>
      <p:sp>
        <p:nvSpPr>
          <p:cNvPr id="9" name="灯片编号占位符 5"/>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
        <p:nvSpPr>
          <p:cNvPr id="10" name="椭圆 9"/>
          <p:cNvSpPr/>
          <p:nvPr userDrawn="1">
            <p:custDataLst>
              <p:tags r:id="rId8"/>
            </p:custDataLst>
          </p:nvPr>
        </p:nvSpPr>
        <p:spPr>
          <a:xfrm>
            <a:off x="75048" y="1292920"/>
            <a:ext cx="4272161" cy="4272161"/>
          </a:xfrm>
          <a:prstGeom prst="ellipse">
            <a:avLst/>
          </a:prstGeom>
          <a:gradFill flip="none" rotWithShape="1">
            <a:gsLst>
              <a:gs pos="34000">
                <a:schemeClr val="accent1">
                  <a:lumMod val="45000"/>
                  <a:lumOff val="55000"/>
                  <a:alpha val="0"/>
                </a:schemeClr>
              </a:gs>
              <a:gs pos="100000">
                <a:schemeClr val="accent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9"/>
            </p:custDataLst>
          </p:nvPr>
        </p:nvSpPr>
        <p:spPr>
          <a:xfrm>
            <a:off x="1467485" y="2386012"/>
            <a:ext cx="2880000" cy="1081088"/>
          </a:xfrm>
        </p:spPr>
        <p:txBody>
          <a:bodyPr wrap="square" anchor="b">
            <a:normAutofit/>
          </a:bodyPr>
          <a:lstStyle>
            <a:lvl1pPr>
              <a:defRPr sz="6000">
                <a:solidFill>
                  <a:srgbClr val="3C3C3C"/>
                </a:solidFill>
              </a:defRPr>
            </a:lvl1pPr>
          </a:lstStyle>
          <a:p>
            <a:r>
              <a:rPr lang="zh-CN" altLang="en-US" dirty="0"/>
              <a:t>标题</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custDataLst>
              <p:tags r:id="rId2"/>
            </p:custDataLst>
          </p:nvPr>
        </p:nvPicPr>
        <p:blipFill>
          <a:blip r:embed="rId3"/>
          <a:stretch>
            <a:fillRect/>
          </a:stretch>
        </p:blipFill>
        <p:spPr>
          <a:xfrm>
            <a:off x="0" y="0"/>
            <a:ext cx="12192000" cy="6858000"/>
          </a:xfrm>
          <a:prstGeom prst="rect">
            <a:avLst/>
          </a:prstGeom>
        </p:spPr>
      </p:pic>
      <p:sp>
        <p:nvSpPr>
          <p:cNvPr id="11" name="矩形 10"/>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6"/>
            </p:custDataLst>
          </p:nvPr>
        </p:nvSpPr>
        <p:spPr/>
        <p:txBody>
          <a:bodyPr/>
          <a:lstStyle/>
          <a:p>
            <a:endParaRPr lang="zh-CN" altLang="en-US"/>
          </a:p>
        </p:txBody>
      </p:sp>
      <p:sp>
        <p:nvSpPr>
          <p:cNvPr id="6"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
        <p:nvSpPr>
          <p:cNvPr id="9" name="椭圆 8"/>
          <p:cNvSpPr/>
          <p:nvPr userDrawn="1">
            <p:custDataLst>
              <p:tags r:id="rId8"/>
            </p:custDataLst>
          </p:nvPr>
        </p:nvSpPr>
        <p:spPr>
          <a:xfrm>
            <a:off x="6411944" y="931202"/>
            <a:ext cx="4399471" cy="4399471"/>
          </a:xfrm>
          <a:prstGeom prst="ellipse">
            <a:avLst/>
          </a:prstGeom>
          <a:gradFill flip="none" rotWithShape="1">
            <a:gsLst>
              <a:gs pos="34000">
                <a:schemeClr val="accent1">
                  <a:lumMod val="45000"/>
                  <a:lumOff val="55000"/>
                  <a:alpha val="0"/>
                </a:schemeClr>
              </a:gs>
              <a:gs pos="100000">
                <a:schemeClr val="accent1"/>
              </a:gs>
            </a:gsLst>
            <a:lin ang="19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9"/>
            </p:custDataLst>
          </p:nvPr>
        </p:nvSpPr>
        <p:spPr>
          <a:xfrm>
            <a:off x="4300792" y="3016638"/>
            <a:ext cx="6252908" cy="2513584"/>
          </a:xfrm>
        </p:spPr>
        <p:txBody>
          <a:bodyPr wrap="square" anchor="t">
            <a:normAutofit/>
          </a:bodyPr>
          <a:lstStyle>
            <a:lvl1pPr algn="l">
              <a:defRPr sz="6000">
                <a:solidFill>
                  <a:srgbClr val="3C3C3C"/>
                </a:solidFill>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10"/>
            </p:custDataLst>
          </p:nvPr>
        </p:nvSpPr>
        <p:spPr>
          <a:xfrm>
            <a:off x="4300855" y="1257935"/>
            <a:ext cx="6252845" cy="1671320"/>
          </a:xfrm>
        </p:spPr>
        <p:txBody>
          <a:bodyPr wrap="square" anchor="b">
            <a:normAutofit/>
          </a:bodyPr>
          <a:lstStyle>
            <a:lvl1pPr marL="0" indent="0" algn="l">
              <a:buNone/>
              <a:defRPr sz="2400" b="1">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8" name="节编号 3"/>
          <p:cNvSpPr>
            <a:spLocks noGrp="1"/>
          </p:cNvSpPr>
          <p:nvPr>
            <p:ph type="body" sz="quarter" idx="13" hasCustomPrompt="1"/>
            <p:custDataLst>
              <p:tags r:id="rId11"/>
            </p:custDataLst>
          </p:nvPr>
        </p:nvSpPr>
        <p:spPr>
          <a:xfrm>
            <a:off x="1149382" y="1866277"/>
            <a:ext cx="3043199" cy="2587225"/>
          </a:xfrm>
        </p:spPr>
        <p:txBody>
          <a:bodyPr wrap="none" anchor="ctr">
            <a:normAutofit/>
          </a:bodyPr>
          <a:lstStyle>
            <a:lvl1pPr marL="0" indent="0" algn="r">
              <a:buNone/>
              <a:defRPr sz="11500" b="1">
                <a:solidFill>
                  <a:schemeClr val="accent1"/>
                </a:solidFill>
                <a:latin typeface="+mn-ea"/>
                <a:ea typeface="+mn-ea"/>
              </a:defRPr>
            </a:lvl1pPr>
          </a:lstStyle>
          <a:p>
            <a:pPr lvl="0"/>
            <a:r>
              <a:rPr lang="zh-CN" altLang="en-US" dirty="0"/>
              <a:t>编号</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custDataLst>
              <p:tags r:id="rId2"/>
            </p:custDataLst>
          </p:nvPr>
        </p:nvPicPr>
        <p:blipFill>
          <a:blip r:embed="rId3"/>
          <a:stretch>
            <a:fillRect/>
          </a:stretch>
        </p:blipFill>
        <p:spPr>
          <a:xfrm flipH="1">
            <a:off x="0" y="0"/>
            <a:ext cx="12192000" cy="6858000"/>
          </a:xfrm>
          <a:prstGeom prst="rect">
            <a:avLst/>
          </a:prstGeom>
        </p:spPr>
      </p:pic>
      <p:sp>
        <p:nvSpPr>
          <p:cNvPr id="11" name="矩形 10"/>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8" name="椭圆 7"/>
          <p:cNvSpPr/>
          <p:nvPr userDrawn="1">
            <p:custDataLst>
              <p:tags r:id="rId8"/>
            </p:custDataLst>
          </p:nvPr>
        </p:nvSpPr>
        <p:spPr>
          <a:xfrm flipH="1">
            <a:off x="1427380" y="952529"/>
            <a:ext cx="4952943" cy="4952943"/>
          </a:xfrm>
          <a:prstGeom prst="ellipse">
            <a:avLst/>
          </a:prstGeom>
          <a:gradFill flip="none" rotWithShape="1">
            <a:gsLst>
              <a:gs pos="30000">
                <a:schemeClr val="accent1">
                  <a:lumMod val="45000"/>
                  <a:lumOff val="55000"/>
                  <a:alpha val="0"/>
                </a:schemeClr>
              </a:gs>
              <a:gs pos="100000">
                <a:schemeClr val="accent1"/>
              </a:gs>
            </a:gsLst>
            <a:lin ang="19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9"/>
            </p:custDataLst>
          </p:nvPr>
        </p:nvSpPr>
        <p:spPr>
          <a:xfrm>
            <a:off x="2133601" y="2849163"/>
            <a:ext cx="9126462" cy="1800000"/>
          </a:xfrm>
        </p:spPr>
        <p:txBody>
          <a:bodyPr wrap="square" anchor="t">
            <a:normAutofit/>
          </a:bodyPr>
          <a:lstStyle>
            <a:lvl1pPr algn="r">
              <a:lnSpc>
                <a:spcPct val="100000"/>
              </a:lnSpc>
              <a:defRPr sz="6600">
                <a:solidFill>
                  <a:srgbClr val="3C3C3C"/>
                </a:solidFill>
              </a:defRPr>
            </a:lvl1pPr>
          </a:lstStyle>
          <a:p>
            <a:r>
              <a:rPr lang="zh-CN" altLang="en-US" dirty="0"/>
              <a:t>单击编辑母版标题</a:t>
            </a:r>
            <a:endParaRPr lang="zh-CN" altLang="en-US" dirty="0"/>
          </a:p>
        </p:txBody>
      </p:sp>
      <p:sp>
        <p:nvSpPr>
          <p:cNvPr id="3" name="副标题 2"/>
          <p:cNvSpPr>
            <a:spLocks noGrp="1"/>
          </p:cNvSpPr>
          <p:nvPr>
            <p:ph type="subTitle" idx="1" hasCustomPrompt="1"/>
            <p:custDataLst>
              <p:tags r:id="rId10"/>
            </p:custDataLst>
          </p:nvPr>
        </p:nvSpPr>
        <p:spPr>
          <a:xfrm>
            <a:off x="2133600" y="1400810"/>
            <a:ext cx="9126220" cy="1368425"/>
          </a:xfrm>
        </p:spPr>
        <p:txBody>
          <a:bodyPr wrap="square" anchor="b">
            <a:normAutofit/>
          </a:bodyPr>
          <a:lstStyle>
            <a:lvl1pPr marL="0" indent="0" algn="r">
              <a:lnSpc>
                <a:spcPct val="100000"/>
              </a:lnSpc>
              <a:buNone/>
              <a:defRPr sz="44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 name="公司名占位符 6"/>
          <p:cNvSpPr>
            <a:spLocks noGrp="1"/>
          </p:cNvSpPr>
          <p:nvPr>
            <p:ph type="body" sz="quarter" idx="13" hasCustomPrompt="1"/>
            <p:custDataLst>
              <p:tags r:id="rId11"/>
            </p:custDataLst>
          </p:nvPr>
        </p:nvSpPr>
        <p:spPr>
          <a:xfrm>
            <a:off x="8380490" y="558000"/>
            <a:ext cx="2880000" cy="504000"/>
          </a:xfrm>
        </p:spPr>
        <p:txBody>
          <a:bodyPr wrap="square" anchor="ctr">
            <a:normAutofit/>
          </a:bodyPr>
          <a:lstStyle>
            <a:lvl1pPr marL="0" indent="0" algn="r">
              <a:lnSpc>
                <a:spcPct val="100000"/>
              </a:lnSpc>
              <a:buNone/>
              <a:defRPr sz="1800" b="1">
                <a:solidFill>
                  <a:schemeClr val="accent1"/>
                </a:solidFill>
              </a:defRPr>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2"/>
            </p:custDataLst>
          </p:nvPr>
        </p:nvSpPr>
        <p:spPr>
          <a:xfrm>
            <a:off x="8956063" y="4849527"/>
            <a:ext cx="2304000"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00" b="1">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tags" Target="../tags/tag141.xml"/><Relationship Id="rId2" Type="http://schemas.openxmlformats.org/officeDocument/2006/relationships/slideLayout" Target="../slideLayouts/slideLayout13.xml"/><Relationship Id="rId19" Type="http://schemas.openxmlformats.org/officeDocument/2006/relationships/tags" Target="../tags/tag140.xml"/><Relationship Id="rId18" Type="http://schemas.openxmlformats.org/officeDocument/2006/relationships/tags" Target="../tags/tag139.xml"/><Relationship Id="rId17" Type="http://schemas.openxmlformats.org/officeDocument/2006/relationships/tags" Target="../tags/tag138.xml"/><Relationship Id="rId16" Type="http://schemas.openxmlformats.org/officeDocument/2006/relationships/tags" Target="../tags/tag137.xml"/><Relationship Id="rId15" Type="http://schemas.openxmlformats.org/officeDocument/2006/relationships/tags" Target="../tags/tag136.xml"/><Relationship Id="rId14" Type="http://schemas.openxmlformats.org/officeDocument/2006/relationships/tags" Target="../tags/tag135.xml"/><Relationship Id="rId13" Type="http://schemas.openxmlformats.org/officeDocument/2006/relationships/image" Target="../media/image1.png"/><Relationship Id="rId12" Type="http://schemas.openxmlformats.org/officeDocument/2006/relationships/tags" Target="../tags/tag134.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图片 7" descr="背景图案&#10;&#10;描述已自动生成"/>
          <p:cNvPicPr>
            <a:picLocks noChangeAspect="1"/>
          </p:cNvPicPr>
          <p:nvPr userDrawn="1">
            <p:custDataLst>
              <p:tags r:id="rId12"/>
            </p:custDataLst>
          </p:nvPr>
        </p:nvPicPr>
        <p:blipFill>
          <a:blip r:embed="rId13"/>
          <a:stretch>
            <a:fillRect/>
          </a:stretch>
        </p:blipFill>
        <p:spPr>
          <a:xfrm>
            <a:off x="0" y="0"/>
            <a:ext cx="12192000" cy="6858000"/>
          </a:xfrm>
          <a:prstGeom prst="rect">
            <a:avLst/>
          </a:prstGeom>
        </p:spPr>
      </p:pic>
      <p:sp>
        <p:nvSpPr>
          <p:cNvPr id="9" name="矩形 8"/>
          <p:cNvSpPr/>
          <p:nvPr userDrawn="1">
            <p:custDataLst>
              <p:tags r:id="rId1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占位符 1"/>
          <p:cNvSpPr>
            <a:spLocks noGrp="1"/>
          </p:cNvSpPr>
          <p:nvPr>
            <p:ph type="title"/>
            <p:custDataLst>
              <p:tags r:id="rId15"/>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6"/>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0"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3200" b="1" kern="1200">
          <a:solidFill>
            <a:srgbClr val="3C3C3C"/>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rgbClr val="3C3C3C"/>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rgbClr val="3C3C3C"/>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rgbClr val="3C3C3C"/>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rgbClr val="3C3C3C"/>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rgbClr val="3C3C3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68.xml"/><Relationship Id="rId1" Type="http://schemas.openxmlformats.org/officeDocument/2006/relationships/tags" Target="../tags/tag16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70.xml"/><Relationship Id="rId1" Type="http://schemas.openxmlformats.org/officeDocument/2006/relationships/tags" Target="../tags/tag169.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78.xml"/><Relationship Id="rId1" Type="http://schemas.openxmlformats.org/officeDocument/2006/relationships/tags" Target="../tags/tag177.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180.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ags" Target="../tags/tag179.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82.xml"/><Relationship Id="rId2" Type="http://schemas.openxmlformats.org/officeDocument/2006/relationships/image" Target="../media/image5.png"/><Relationship Id="rId1" Type="http://schemas.openxmlformats.org/officeDocument/2006/relationships/tags" Target="../tags/tag1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1022985" y="2717800"/>
            <a:ext cx="7930515" cy="1097280"/>
          </a:xfrm>
        </p:spPr>
        <p:txBody>
          <a:bodyPr/>
          <a:lstStyle/>
          <a:p>
            <a:r>
              <a:rPr lang="zh-CN" altLang="en-US"/>
              <a:t>深度学习</a:t>
            </a:r>
            <a:r>
              <a:rPr lang="en-US" altLang="zh-CN"/>
              <a:t>-</a:t>
            </a:r>
            <a:r>
              <a:rPr lang="zh-CN" altLang="en-US"/>
              <a:t>低光图像增强</a:t>
            </a:r>
            <a:endParaRPr lang="zh-CN" altLang="en-US"/>
          </a:p>
        </p:txBody>
      </p:sp>
      <p:sp>
        <p:nvSpPr>
          <p:cNvPr id="5" name="副标题"/>
          <p:cNvSpPr>
            <a:spLocks noGrp="1"/>
          </p:cNvSpPr>
          <p:nvPr>
            <p:ph type="subTitle" idx="1"/>
            <p:custDataLst>
              <p:tags r:id="rId2"/>
            </p:custDataLst>
          </p:nvPr>
        </p:nvSpPr>
        <p:spPr>
          <a:xfrm>
            <a:off x="1023620" y="1374775"/>
            <a:ext cx="4166235" cy="708025"/>
          </a:xfrm>
        </p:spPr>
        <p:txBody>
          <a:bodyPr/>
          <a:lstStyle/>
          <a:p>
            <a:r>
              <a:rPr lang="en-US" altLang="zh-CN"/>
              <a:t>20260308</a:t>
            </a:r>
            <a:r>
              <a:rPr lang="zh-CN" altLang="en-US"/>
              <a:t>汇报</a:t>
            </a:r>
            <a:endParaRPr lang="zh-CN" altLang="en-US"/>
          </a:p>
        </p:txBody>
      </p:sp>
      <p:sp>
        <p:nvSpPr>
          <p:cNvPr id="10" name="署名"/>
          <p:cNvSpPr>
            <a:spLocks noGrp="1"/>
          </p:cNvSpPr>
          <p:nvPr>
            <p:ph type="body" sz="quarter" idx="17"/>
            <p:custDataLst>
              <p:tags r:id="rId3"/>
            </p:custDataLst>
          </p:nvPr>
        </p:nvSpPr>
        <p:spPr/>
        <p:txBody>
          <a:bodyPr/>
          <a:lstStyle/>
          <a:p>
            <a:r>
              <a:rPr lang="zh-CN" altLang="en-US"/>
              <a:t>汇报人：陈银素</a:t>
            </a:r>
            <a:endParaRPr lang="zh-CN" alt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95960" y="145370"/>
            <a:ext cx="10800000" cy="720000"/>
          </a:xfrm>
        </p:spPr>
        <p:txBody>
          <a:bodyPr/>
          <a:p>
            <a:r>
              <a:rPr lang="zh-CN" altLang="en-US" sz="4000"/>
              <a:t>完成</a:t>
            </a:r>
            <a:r>
              <a:rPr lang="zh-CN" altLang="en-US" sz="4000"/>
              <a:t>任务</a:t>
            </a:r>
            <a:endParaRPr lang="zh-CN" altLang="en-US" sz="4000"/>
          </a:p>
        </p:txBody>
      </p:sp>
      <p:sp>
        <p:nvSpPr>
          <p:cNvPr id="3" name="内容占位符 2"/>
          <p:cNvSpPr>
            <a:spLocks noGrp="1"/>
          </p:cNvSpPr>
          <p:nvPr>
            <p:ph idx="1"/>
            <p:custDataLst>
              <p:tags r:id="rId2"/>
            </p:custDataLst>
          </p:nvPr>
        </p:nvSpPr>
        <p:spPr>
          <a:xfrm>
            <a:off x="695960" y="865505"/>
            <a:ext cx="9690100" cy="6175375"/>
          </a:xfrm>
        </p:spPr>
        <p:txBody>
          <a:bodyPr>
            <a:noAutofit/>
          </a:bodyPr>
          <a:p>
            <a:r>
              <a:rPr lang="zh-CN" altLang="en-US" sz="2800" b="1"/>
              <a:t>梳理实验</a:t>
            </a:r>
            <a:r>
              <a:rPr lang="zh-CN" altLang="en-US" sz="2800" b="1"/>
              <a:t>过程</a:t>
            </a:r>
            <a:endParaRPr lang="zh-CN" altLang="en-US" sz="2800" b="1"/>
          </a:p>
          <a:p>
            <a:pPr marL="0" indent="0">
              <a:buNone/>
            </a:pPr>
            <a:r>
              <a:rPr lang="en-US" altLang="en-US" sz="1200" b="1"/>
              <a:t>├──</a:t>
            </a:r>
            <a:r>
              <a:rPr lang="en-US" altLang="zh-CN" sz="1200" b="1"/>
              <a:t> benchmarks/       # </a:t>
            </a:r>
            <a:r>
              <a:rPr lang="zh-CN" altLang="en-US" sz="1200" b="1"/>
              <a:t>基准测试</a:t>
            </a:r>
            <a:r>
              <a:rPr lang="en-US" altLang="zh-CN" sz="1200" b="1"/>
              <a:t>/</a:t>
            </a:r>
            <a:r>
              <a:rPr lang="zh-CN" altLang="en-US" sz="1200" b="1"/>
              <a:t>评估代码</a:t>
            </a:r>
            <a:endParaRPr lang="zh-CN" altLang="en-US" sz="1200" b="1"/>
          </a:p>
          <a:p>
            <a:pPr marL="0" indent="0">
              <a:buNone/>
            </a:pPr>
            <a:r>
              <a:rPr lang="en-US" altLang="en-US" sz="1200" b="1"/>
              <a:t>├──</a:t>
            </a:r>
            <a:r>
              <a:rPr lang="en-US" altLang="zh-CN" sz="1200" b="1"/>
              <a:t> configs/          # </a:t>
            </a:r>
            <a:r>
              <a:rPr lang="zh-CN" altLang="en-US" sz="1200" b="1"/>
              <a:t>配置文件（实验设置、超参数）</a:t>
            </a:r>
            <a:endParaRPr lang="zh-CN" altLang="en-US" sz="1200" b="1"/>
          </a:p>
          <a:p>
            <a:pPr marL="0" indent="0">
              <a:buNone/>
            </a:pPr>
            <a:r>
              <a:rPr lang="en-US" altLang="en-US" sz="1200" b="1"/>
              <a:t>├──</a:t>
            </a:r>
            <a:r>
              <a:rPr lang="en-US" altLang="zh-CN" sz="1200" b="1"/>
              <a:t> datasets/         # </a:t>
            </a:r>
            <a:r>
              <a:rPr lang="zh-CN" altLang="en-US" sz="1200" b="1"/>
              <a:t>数据集处理</a:t>
            </a:r>
            <a:endParaRPr lang="zh-CN" altLang="en-US" sz="1200" b="1"/>
          </a:p>
          <a:p>
            <a:pPr marL="0" indent="0">
              <a:buNone/>
            </a:pPr>
            <a:r>
              <a:rPr lang="en-US" altLang="en-US" sz="1200" b="1"/>
              <a:t>├──</a:t>
            </a:r>
            <a:r>
              <a:rPr lang="en-US" altLang="zh-CN" sz="1200" b="1"/>
              <a:t> demos/            # </a:t>
            </a:r>
            <a:r>
              <a:rPr lang="zh-CN" altLang="en-US" sz="1200" b="1"/>
              <a:t>演示示例</a:t>
            </a:r>
            <a:endParaRPr lang="zh-CN" altLang="en-US" sz="1200" b="1"/>
          </a:p>
          <a:p>
            <a:pPr marL="0" indent="0">
              <a:buNone/>
            </a:pPr>
            <a:r>
              <a:rPr lang="en-US" altLang="en-US" sz="1200" b="1"/>
              <a:t>├──</a:t>
            </a:r>
            <a:r>
              <a:rPr lang="en-US" altLang="zh-CN" sz="1200" b="1"/>
              <a:t> docs/             # </a:t>
            </a:r>
            <a:r>
              <a:rPr lang="zh-CN" altLang="en-US" sz="1200" b="1"/>
              <a:t>文档</a:t>
            </a:r>
            <a:endParaRPr lang="zh-CN" altLang="en-US" sz="1200" b="1"/>
          </a:p>
          <a:p>
            <a:pPr marL="0" indent="0">
              <a:buNone/>
            </a:pPr>
            <a:r>
              <a:rPr lang="en-US" altLang="en-US" sz="1200" b="1"/>
              <a:t>├──</a:t>
            </a:r>
            <a:r>
              <a:rPr lang="en-US" altLang="zh-CN" sz="1200" b="1"/>
              <a:t> forwards/         # </a:t>
            </a:r>
            <a:r>
              <a:rPr lang="zh-CN" altLang="en-US" sz="1200" b="1"/>
              <a:t>前向传播相关</a:t>
            </a:r>
            <a:endParaRPr lang="zh-CN" altLang="en-US" sz="1200" b="1"/>
          </a:p>
          <a:p>
            <a:pPr marL="0" indent="0">
              <a:buNone/>
            </a:pPr>
            <a:r>
              <a:rPr lang="en-US" altLang="en-US" sz="1200" b="1"/>
              <a:t>├──</a:t>
            </a:r>
            <a:r>
              <a:rPr lang="en-US" altLang="zh-CN" sz="1200" b="1"/>
              <a:t> models/           # </a:t>
            </a:r>
            <a:r>
              <a:rPr lang="zh-CN" altLang="en-US" sz="1200" b="1"/>
              <a:t>模型定义（核心！）</a:t>
            </a:r>
            <a:endParaRPr lang="zh-CN" altLang="en-US" sz="1200" b="1"/>
          </a:p>
          <a:p>
            <a:pPr marL="0" indent="0">
              <a:buNone/>
            </a:pPr>
            <a:r>
              <a:rPr lang="en-US" altLang="en-US" sz="1200" b="1"/>
              <a:t>├──</a:t>
            </a:r>
            <a:r>
              <a:rPr lang="en-US" altLang="zh-CN" sz="1200" b="1"/>
              <a:t> pretrained/       # </a:t>
            </a:r>
            <a:r>
              <a:rPr lang="zh-CN" altLang="en-US" sz="1200" b="1"/>
              <a:t>预训练模型</a:t>
            </a:r>
            <a:endParaRPr lang="zh-CN" altLang="en-US" sz="1200" b="1"/>
          </a:p>
          <a:p>
            <a:pPr marL="0" indent="0">
              <a:buNone/>
            </a:pPr>
            <a:r>
              <a:rPr lang="en-US" altLang="en-US" sz="1200" b="1"/>
              <a:t>├──</a:t>
            </a:r>
            <a:r>
              <a:rPr lang="en-US" altLang="zh-CN" sz="1200" b="1"/>
              <a:t> .gitignore</a:t>
            </a:r>
            <a:endParaRPr lang="en-US" altLang="zh-CN" sz="1200" b="1"/>
          </a:p>
          <a:p>
            <a:pPr marL="0" indent="0">
              <a:buNone/>
            </a:pPr>
            <a:r>
              <a:rPr lang="en-US" altLang="en-US" sz="1200" b="1"/>
              <a:t>├──</a:t>
            </a:r>
            <a:r>
              <a:rPr lang="en-US" altLang="zh-CN" sz="1200" b="1"/>
              <a:t> LICENSE</a:t>
            </a:r>
            <a:endParaRPr lang="en-US" altLang="zh-CN" sz="1200" b="1"/>
          </a:p>
          <a:p>
            <a:pPr marL="0" indent="0">
              <a:buNone/>
            </a:pPr>
            <a:r>
              <a:rPr lang="en-US" altLang="en-US" sz="1200" b="1"/>
              <a:t>├──</a:t>
            </a:r>
            <a:r>
              <a:rPr lang="en-US" altLang="zh-CN" sz="1200" b="1"/>
              <a:t> README.md</a:t>
            </a:r>
            <a:endParaRPr lang="en-US" altLang="zh-CN" sz="1200" b="1"/>
          </a:p>
          <a:p>
            <a:pPr marL="0" indent="0">
              <a:buNone/>
            </a:pPr>
            <a:r>
              <a:rPr lang="en-US" altLang="en-US" sz="1200" b="1"/>
              <a:t>├──</a:t>
            </a:r>
            <a:r>
              <a:rPr lang="en-US" altLang="zh-CN" sz="1200" b="1"/>
              <a:t> requirements.txt  # </a:t>
            </a:r>
            <a:r>
              <a:rPr lang="zh-CN" altLang="en-US" sz="1200" b="1"/>
              <a:t>依赖包</a:t>
            </a:r>
            <a:endParaRPr lang="zh-CN" altLang="en-US" sz="1200" b="1"/>
          </a:p>
          <a:p>
            <a:pPr marL="0" indent="0">
              <a:buNone/>
            </a:pPr>
            <a:r>
              <a:rPr lang="en-US" altLang="en-US" sz="1200" b="1"/>
              <a:t>├──</a:t>
            </a:r>
            <a:r>
              <a:rPr lang="en-US" altLang="zh-CN" sz="1200" b="1"/>
              <a:t> runner.py         # </a:t>
            </a:r>
            <a:r>
              <a:rPr lang="zh-CN" altLang="en-US" sz="1200" b="1"/>
              <a:t>主运行脚本</a:t>
            </a:r>
            <a:endParaRPr lang="zh-CN" altLang="en-US" sz="1200" b="1"/>
          </a:p>
          <a:p>
            <a:pPr marL="0" indent="0">
              <a:buNone/>
            </a:pPr>
            <a:r>
              <a:rPr lang="en-US" altLang="en-US" sz="1200" b="1"/>
              <a:t>└──</a:t>
            </a:r>
            <a:r>
              <a:rPr lang="en-US" altLang="zh-CN" sz="1200" b="1"/>
              <a:t> tensorboard.py    # </a:t>
            </a:r>
            <a:r>
              <a:rPr lang="zh-CN" altLang="en-US" sz="1200" b="1"/>
              <a:t>可视化相关</a:t>
            </a:r>
            <a:endParaRPr lang="zh-CN" altLang="en-US" sz="1200" b="1"/>
          </a:p>
        </p:txBody>
      </p:sp>
      <p:sp>
        <p:nvSpPr>
          <p:cNvPr id="4" name="文本框 3"/>
          <p:cNvSpPr txBox="1"/>
          <p:nvPr/>
        </p:nvSpPr>
        <p:spPr>
          <a:xfrm>
            <a:off x="5002530" y="505460"/>
            <a:ext cx="6361430" cy="4723130"/>
          </a:xfrm>
          <a:prstGeom prst="rect">
            <a:avLst/>
          </a:prstGeom>
          <a:noFill/>
        </p:spPr>
        <p:txBody>
          <a:bodyPr wrap="square" rtlCol="0">
            <a:noAutofit/>
          </a:bodyPr>
          <a:p>
            <a:r>
              <a:rPr lang="zh-CN" altLang="en-US"/>
              <a:t>去噪（</a:t>
            </a:r>
            <a:r>
              <a:rPr lang="en-US" altLang="zh-CN"/>
              <a:t>CID</a:t>
            </a:r>
            <a:r>
              <a:rPr lang="zh-CN" altLang="en-US"/>
              <a:t>）模型：</a:t>
            </a:r>
            <a:r>
              <a:rPr lang="en-US" altLang="zh-CN"/>
              <a:t>cid.py</a:t>
            </a:r>
            <a:endParaRPr lang="en-US" altLang="zh-CN"/>
          </a:p>
          <a:p>
            <a:r>
              <a:rPr lang="zh-CN" altLang="en-US"/>
              <a:t>纹理增强</a:t>
            </a:r>
            <a:r>
              <a:rPr lang="en-US" altLang="zh-CN"/>
              <a:t>(TEN)</a:t>
            </a:r>
            <a:r>
              <a:rPr lang="zh-CN" altLang="en-US"/>
              <a:t>模型：</a:t>
            </a:r>
            <a:r>
              <a:rPr lang="en-US" altLang="zh-CN"/>
              <a:t>ten.py</a:t>
            </a:r>
            <a:r>
              <a:rPr lang="zh-CN" altLang="en-US"/>
              <a:t>、</a:t>
            </a:r>
            <a:r>
              <a:rPr lang="en-US" altLang="zh-CN"/>
              <a:t>ten_next.py</a:t>
            </a:r>
            <a:endParaRPr lang="en-US" altLang="zh-CN"/>
          </a:p>
          <a:p>
            <a:r>
              <a:rPr lang="zh-CN" altLang="en-US"/>
              <a:t>色彩校正</a:t>
            </a:r>
            <a:r>
              <a:rPr lang="en-US" altLang="zh-CN"/>
              <a:t>(MCC)</a:t>
            </a:r>
            <a:r>
              <a:rPr lang="zh-CN" altLang="en-US"/>
              <a:t>模型：</a:t>
            </a:r>
            <a:r>
              <a:rPr lang="en-US" altLang="zh-CN"/>
              <a:t>mcc.py</a:t>
            </a:r>
            <a:endParaRPr lang="en-US" altLang="zh-CN"/>
          </a:p>
          <a:p>
            <a:endParaRPr lang="en-US" altLang="zh-CN"/>
          </a:p>
          <a:p>
            <a:r>
              <a:rPr lang="zh-CN" altLang="en-US"/>
              <a:t>融合模块（</a:t>
            </a:r>
            <a:r>
              <a:rPr lang="en-US" altLang="zh-CN"/>
              <a:t>FFM</a:t>
            </a:r>
            <a:r>
              <a:rPr lang="zh-CN" altLang="en-US"/>
              <a:t>）</a:t>
            </a:r>
            <a:endParaRPr lang="zh-CN" altLang="en-US"/>
          </a:p>
          <a:p>
            <a:endParaRPr lang="zh-CN" altLang="en-US"/>
          </a:p>
          <a:p>
            <a:endParaRPr lang="zh-CN" altLang="en-US"/>
          </a:p>
          <a:p>
            <a:endParaRPr lang="zh-CN" altLang="en-US"/>
          </a:p>
          <a:p>
            <a:r>
              <a:rPr lang="en-US" altLang="zh-CN"/>
              <a:t>sample.py:</a:t>
            </a:r>
            <a:endParaRPr lang="en-US" altLang="zh-CN"/>
          </a:p>
          <a:p>
            <a:r>
              <a:rPr lang="zh-CN" altLang="en-US"/>
              <a:t>下采样：构建多尺度特征金字塔，捕获不同感受野的信息</a:t>
            </a:r>
            <a:endParaRPr lang="zh-CN" altLang="en-US"/>
          </a:p>
          <a:p>
            <a:r>
              <a:rPr lang="zh-CN" altLang="en-US"/>
              <a:t>上采样：逐步恢复空间分辨率，生成最终输出</a:t>
            </a:r>
            <a:endParaRPr lang="zh-CN" altLang="en-US"/>
          </a:p>
          <a:p>
            <a:r>
              <a:rPr lang="zh-CN" altLang="en-US"/>
              <a:t>配合跳跃连接：实现编解码器的信息传递</a:t>
            </a:r>
            <a:endParaRPr lang="zh-CN" altLang="en-US"/>
          </a:p>
          <a:p>
            <a:endParaRPr lang="zh-CN" altLang="en-US"/>
          </a:p>
          <a:p>
            <a:endParaRPr lang="zh-CN" altLang="en-US"/>
          </a:p>
          <a:p>
            <a:r>
              <a:rPr lang="zh-CN" altLang="en-US"/>
              <a:t>残差</a:t>
            </a:r>
            <a:r>
              <a:rPr lang="zh-CN" altLang="en-US"/>
              <a:t>机制（自由控制每个模块是</a:t>
            </a:r>
            <a:r>
              <a:rPr lang="en-US" altLang="zh-CN"/>
              <a:t>"</a:t>
            </a:r>
            <a:r>
              <a:rPr lang="zh-CN" altLang="en-US"/>
              <a:t>做小幅修改</a:t>
            </a:r>
            <a:r>
              <a:rPr lang="en-US" altLang="zh-CN"/>
              <a:t>"</a:t>
            </a:r>
            <a:r>
              <a:rPr lang="zh-CN" altLang="en-US"/>
              <a:t>还是</a:t>
            </a:r>
            <a:r>
              <a:rPr lang="en-US" altLang="zh-CN"/>
              <a:t>"</a:t>
            </a:r>
            <a:r>
              <a:rPr lang="zh-CN" altLang="en-US"/>
              <a:t>彻底变换</a:t>
            </a:r>
            <a:r>
              <a:rPr lang="en-US" altLang="zh-CN"/>
              <a:t>"</a:t>
            </a:r>
            <a:r>
              <a:rPr lang="zh-CN" altLang="en-US"/>
              <a:t>）</a:t>
            </a:r>
            <a:endParaRPr lang="zh-CN"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数据集与</a:t>
            </a:r>
            <a:r>
              <a:rPr lang="zh-CN" altLang="en-US"/>
              <a:t>预处理</a:t>
            </a:r>
            <a:endParaRPr lang="zh-CN" altLang="en-US"/>
          </a:p>
        </p:txBody>
      </p:sp>
      <p:sp>
        <p:nvSpPr>
          <p:cNvPr id="3" name="内容占位符 2"/>
          <p:cNvSpPr>
            <a:spLocks noGrp="1"/>
          </p:cNvSpPr>
          <p:nvPr>
            <p:ph idx="1"/>
            <p:custDataLst>
              <p:tags r:id="rId2"/>
            </p:custDataLst>
          </p:nvPr>
        </p:nvSpPr>
        <p:spPr/>
        <p:txBody>
          <a:bodyPr/>
          <a:p>
            <a:r>
              <a:rPr lang="zh-CN" altLang="en-US"/>
              <a:t>论文在</a:t>
            </a:r>
            <a:r>
              <a:rPr lang="en-US" altLang="zh-CN"/>
              <a:t>SID</a:t>
            </a:r>
            <a:r>
              <a:rPr lang="zh-CN" altLang="en-US"/>
              <a:t>和</a:t>
            </a:r>
            <a:r>
              <a:rPr lang="en-US" altLang="zh-CN"/>
              <a:t>MCR</a:t>
            </a:r>
            <a:r>
              <a:rPr lang="zh-CN" altLang="en-US"/>
              <a:t>两个数据集上进行了实验。两个数据集中低光</a:t>
            </a:r>
            <a:r>
              <a:rPr lang="en-US" altLang="zh-CN"/>
              <a:t>RAW</a:t>
            </a:r>
            <a:r>
              <a:rPr lang="zh-CN" altLang="en-US"/>
              <a:t>图像与其对应的参考图像（</a:t>
            </a:r>
            <a:r>
              <a:rPr lang="en-US" altLang="zh-CN"/>
              <a:t>ground truth</a:t>
            </a:r>
            <a:r>
              <a:rPr lang="zh-CN" altLang="en-US"/>
              <a:t>）是如何配对的？（例如，曝光时间差异、采集条件等）。</a:t>
            </a:r>
            <a:endParaRPr lang="zh-CN" altLang="en-US"/>
          </a:p>
          <a:p>
            <a:r>
              <a:rPr lang="zh-CN" altLang="en-US"/>
              <a:t>对于</a:t>
            </a:r>
            <a:r>
              <a:rPr lang="en-US" altLang="zh-CN"/>
              <a:t>SID-Sony</a:t>
            </a:r>
            <a:r>
              <a:rPr lang="zh-CN" altLang="en-US"/>
              <a:t>、</a:t>
            </a:r>
            <a:r>
              <a:rPr lang="en-US" altLang="zh-CN"/>
              <a:t>SID-Fuji</a:t>
            </a:r>
            <a:r>
              <a:rPr lang="zh-CN" altLang="en-US"/>
              <a:t>和</a:t>
            </a:r>
            <a:r>
              <a:rPr lang="en-US" altLang="zh-CN"/>
              <a:t>MCR</a:t>
            </a:r>
            <a:r>
              <a:rPr lang="zh-CN" altLang="en-US"/>
              <a:t>数据集，训练集、验证集和测试集的</a:t>
            </a:r>
            <a:r>
              <a:rPr lang="zh-CN" altLang="en-US">
                <a:highlight>
                  <a:srgbClr val="FFFF00"/>
                </a:highlight>
              </a:rPr>
              <a:t>划分问题</a:t>
            </a:r>
            <a:r>
              <a:rPr lang="zh-CN" altLang="en-US"/>
              <a:t>？</a:t>
            </a:r>
            <a:endParaRPr lang="zh-CN" altLang="en-US"/>
          </a:p>
          <a:p>
            <a:r>
              <a:rPr lang="zh-CN" altLang="en-US"/>
              <a:t>文档中提到对</a:t>
            </a:r>
            <a:r>
              <a:rPr lang="en-US" altLang="zh-CN"/>
              <a:t>FDA</a:t>
            </a:r>
            <a:r>
              <a:rPr lang="zh-CN" altLang="en-US"/>
              <a:t>模型进行了</a:t>
            </a:r>
            <a:r>
              <a:rPr lang="en-US" altLang="zh-CN"/>
              <a:t>“</a:t>
            </a:r>
            <a:r>
              <a:rPr lang="zh-CN" altLang="en-US"/>
              <a:t>使用与</a:t>
            </a:r>
            <a:r>
              <a:rPr lang="en-US" altLang="zh-CN"/>
              <a:t>DNF</a:t>
            </a:r>
            <a:r>
              <a:rPr lang="zh-CN" altLang="en-US"/>
              <a:t>相同的训练配置</a:t>
            </a:r>
            <a:r>
              <a:rPr lang="en-US" altLang="zh-CN"/>
              <a:t>”</a:t>
            </a:r>
            <a:r>
              <a:rPr lang="zh-CN" altLang="en-US"/>
              <a:t>的重训练。请解释这样做的原因，并简述为确保公平比较，在实验配置上具体统一了哪些关键参数？（例如，学习率、优化器、迭代次数、批量大小、数据增强策略等）。</a:t>
            </a:r>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en-US" altLang="zh-CN"/>
              <a:t>SID</a:t>
            </a:r>
            <a:r>
              <a:rPr lang="zh-CN" altLang="en-US"/>
              <a:t>数据集：包含</a:t>
            </a:r>
            <a:r>
              <a:rPr lang="en-US" altLang="zh-CN"/>
              <a:t>5,094</a:t>
            </a:r>
            <a:r>
              <a:rPr lang="zh-CN" altLang="en-US"/>
              <a:t>个配对样本。低光</a:t>
            </a:r>
            <a:r>
              <a:rPr lang="en-US" altLang="zh-CN"/>
              <a:t>RAW</a:t>
            </a:r>
            <a:r>
              <a:rPr lang="zh-CN" altLang="en-US"/>
              <a:t>图像的曝光时间为</a:t>
            </a:r>
            <a:r>
              <a:rPr lang="en-US" altLang="zh-CN"/>
              <a:t>0.033</a:t>
            </a:r>
            <a:r>
              <a:rPr lang="zh-CN" altLang="en-US"/>
              <a:t>秒至</a:t>
            </a:r>
            <a:r>
              <a:rPr lang="en-US" altLang="zh-CN"/>
              <a:t>0.1</a:t>
            </a:r>
            <a:r>
              <a:rPr lang="zh-CN" altLang="en-US"/>
              <a:t>秒，而对应的参考（正常曝光）图像的曝光时间要长</a:t>
            </a:r>
            <a:r>
              <a:rPr lang="en-US" altLang="zh-CN"/>
              <a:t>100</a:t>
            </a:r>
            <a:r>
              <a:rPr lang="zh-CN" altLang="en-US"/>
              <a:t>到</a:t>
            </a:r>
            <a:r>
              <a:rPr lang="en-US" altLang="zh-CN"/>
              <a:t>300</a:t>
            </a:r>
            <a:r>
              <a:rPr lang="zh-CN" altLang="en-US"/>
              <a:t>倍。该数据集包含索尼相机（拜耳模式，分辨率</a:t>
            </a:r>
            <a:r>
              <a:rPr lang="en-US" altLang="zh-CN"/>
              <a:t>4240x2832</a:t>
            </a:r>
            <a:r>
              <a:rPr lang="zh-CN" altLang="en-US"/>
              <a:t>）和富士相机（</a:t>
            </a:r>
            <a:r>
              <a:rPr lang="en-US" altLang="zh-CN"/>
              <a:t>X-Trans</a:t>
            </a:r>
            <a:r>
              <a:rPr lang="zh-CN" altLang="en-US"/>
              <a:t>传感器，分辨率</a:t>
            </a:r>
            <a:r>
              <a:rPr lang="en-US" altLang="zh-CN"/>
              <a:t>6000x4000</a:t>
            </a:r>
            <a:r>
              <a:rPr lang="zh-CN" altLang="en-US"/>
              <a:t>）拍摄的数据。</a:t>
            </a:r>
            <a:endParaRPr lang="zh-CN" altLang="en-US"/>
          </a:p>
          <a:p>
            <a:r>
              <a:rPr lang="en-US" altLang="zh-CN"/>
              <a:t>MCR</a:t>
            </a:r>
            <a:r>
              <a:rPr lang="zh-CN" altLang="en-US"/>
              <a:t>数据集：包含</a:t>
            </a:r>
            <a:r>
              <a:rPr lang="en-US" altLang="zh-CN"/>
              <a:t>4,980</a:t>
            </a:r>
            <a:r>
              <a:rPr lang="zh-CN" altLang="en-US"/>
              <a:t>张图像，分辨率为</a:t>
            </a:r>
            <a:r>
              <a:rPr lang="en-US" altLang="zh-CN"/>
              <a:t>1280x1024</a:t>
            </a:r>
            <a:r>
              <a:rPr lang="zh-CN" altLang="en-US"/>
              <a:t>。该数据集包含</a:t>
            </a:r>
            <a:r>
              <a:rPr lang="en-US" altLang="zh-CN"/>
              <a:t>3,984</a:t>
            </a:r>
            <a:r>
              <a:rPr lang="zh-CN" altLang="en-US"/>
              <a:t>张低光</a:t>
            </a:r>
            <a:r>
              <a:rPr lang="en-US" altLang="zh-CN"/>
              <a:t>RAW</a:t>
            </a:r>
            <a:r>
              <a:rPr lang="zh-CN" altLang="en-US"/>
              <a:t>图像、</a:t>
            </a:r>
            <a:r>
              <a:rPr lang="en-US" altLang="zh-CN"/>
              <a:t>498</a:t>
            </a:r>
            <a:r>
              <a:rPr lang="zh-CN" altLang="en-US"/>
              <a:t>张单色图像和</a:t>
            </a:r>
            <a:r>
              <a:rPr lang="en-US" altLang="zh-CN"/>
              <a:t>498</a:t>
            </a:r>
            <a:r>
              <a:rPr lang="zh-CN" altLang="en-US"/>
              <a:t>张</a:t>
            </a:r>
            <a:r>
              <a:rPr lang="en-US" altLang="zh-CN"/>
              <a:t>sRGB</a:t>
            </a:r>
            <a:r>
              <a:rPr lang="zh-CN" altLang="en-US"/>
              <a:t>图像。在室内和室外环境均有采集。室内场景的低光</a:t>
            </a:r>
            <a:r>
              <a:rPr lang="en-US" altLang="zh-CN"/>
              <a:t>RAW</a:t>
            </a:r>
            <a:r>
              <a:rPr lang="zh-CN" altLang="en-US"/>
              <a:t>图像曝光时间为</a:t>
            </a:r>
            <a:r>
              <a:rPr lang="en-US" altLang="zh-CN"/>
              <a:t>1/256</a:t>
            </a:r>
            <a:r>
              <a:rPr lang="zh-CN" altLang="en-US"/>
              <a:t>秒至</a:t>
            </a:r>
            <a:r>
              <a:rPr lang="en-US" altLang="zh-CN"/>
              <a:t>3/8</a:t>
            </a:r>
            <a:r>
              <a:rPr lang="zh-CN" altLang="en-US"/>
              <a:t>秒，室外场景为</a:t>
            </a:r>
            <a:r>
              <a:rPr lang="en-US" altLang="zh-CN"/>
              <a:t>1/4096</a:t>
            </a:r>
            <a:r>
              <a:rPr lang="zh-CN" altLang="en-US"/>
              <a:t>秒至</a:t>
            </a:r>
            <a:r>
              <a:rPr lang="en-US" altLang="zh-CN"/>
              <a:t>1/32</a:t>
            </a:r>
            <a:r>
              <a:rPr lang="zh-CN" altLang="en-US"/>
              <a:t>秒。</a:t>
            </a:r>
            <a:endParaRPr lang="zh-CN"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r>
              <a:rPr lang="zh-CN" altLang="en-US"/>
              <a:t>为了确保所有对比方法在完全公平的条件下进行比较，避免因训练策略（如学习率、数据增强、迭代次数）不同而带来的性能差异，论文作者对</a:t>
            </a:r>
            <a:r>
              <a:rPr lang="en-US" altLang="zh-CN"/>
              <a:t>FDA</a:t>
            </a:r>
            <a:r>
              <a:rPr lang="zh-CN" altLang="en-US"/>
              <a:t>模型按照</a:t>
            </a:r>
            <a:r>
              <a:rPr lang="en-US" altLang="zh-CN"/>
              <a:t>DNF</a:t>
            </a:r>
            <a:r>
              <a:rPr lang="zh-CN" altLang="en-US"/>
              <a:t>论文中的训练配置进行了重新训练。</a:t>
            </a:r>
            <a:endParaRPr lang="zh-CN" altLang="en-US"/>
          </a:p>
          <a:p>
            <a:endParaRPr lang="zh-CN" altLang="en-US"/>
          </a:p>
          <a:p>
            <a:r>
              <a:rPr lang="zh-CN" altLang="en-US"/>
              <a:t>文档未详述具体统一了哪些参数。通常，为公平比较，会统一训练</a:t>
            </a:r>
            <a:r>
              <a:rPr lang="en-US" altLang="zh-CN"/>
              <a:t>/</a:t>
            </a:r>
            <a:r>
              <a:rPr lang="zh-CN" altLang="en-US"/>
              <a:t>验证</a:t>
            </a:r>
            <a:r>
              <a:rPr lang="en-US" altLang="zh-CN"/>
              <a:t>/</a:t>
            </a:r>
            <a:r>
              <a:rPr lang="zh-CN" altLang="en-US"/>
              <a:t>测试集划分、损失函数、优化器（如</a:t>
            </a:r>
            <a:r>
              <a:rPr lang="en-US" altLang="zh-CN"/>
              <a:t>Adam</a:t>
            </a:r>
            <a:r>
              <a:rPr lang="zh-CN" altLang="en-US"/>
              <a:t>）、初始学习率、学习率衰减策略、训练轮数（</a:t>
            </a:r>
            <a:r>
              <a:rPr lang="en-US" altLang="zh-CN"/>
              <a:t>epoch</a:t>
            </a:r>
            <a:r>
              <a:rPr lang="zh-CN" altLang="en-US"/>
              <a:t>）、批量大小（</a:t>
            </a:r>
            <a:r>
              <a:rPr lang="en-US" altLang="zh-CN"/>
              <a:t>batch size</a:t>
            </a:r>
            <a:r>
              <a:rPr lang="zh-CN" altLang="en-US"/>
              <a:t>）、数据预处理流程（如裁剪尺寸、归一化方法）和增强策略（如翻转、旋转）等。</a:t>
            </a:r>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对比方法与评估</a:t>
            </a:r>
            <a:r>
              <a:rPr lang="zh-CN" altLang="en-US"/>
              <a:t>指标</a:t>
            </a:r>
            <a:endParaRPr lang="zh-CN" altLang="en-US"/>
          </a:p>
        </p:txBody>
      </p:sp>
      <p:sp>
        <p:nvSpPr>
          <p:cNvPr id="3" name="内容占位符 2"/>
          <p:cNvSpPr>
            <a:spLocks noGrp="1"/>
          </p:cNvSpPr>
          <p:nvPr>
            <p:ph idx="1"/>
            <p:custDataLst>
              <p:tags r:id="rId2"/>
            </p:custDataLst>
          </p:nvPr>
        </p:nvSpPr>
        <p:spPr/>
        <p:txBody>
          <a:bodyPr>
            <a:normAutofit lnSpcReduction="10000"/>
          </a:bodyPr>
          <a:p>
            <a:r>
              <a:rPr lang="zh-CN" altLang="en-US"/>
              <a:t>论文将现有方法分为</a:t>
            </a:r>
            <a:r>
              <a:rPr lang="en-US" altLang="zh-CN"/>
              <a:t>“</a:t>
            </a:r>
            <a:r>
              <a:rPr lang="zh-CN" altLang="en-US"/>
              <a:t>单阶段模型</a:t>
            </a:r>
            <a:r>
              <a:rPr lang="en-US" altLang="zh-CN"/>
              <a:t>”</a:t>
            </a:r>
            <a:r>
              <a:rPr lang="zh-CN" altLang="en-US"/>
              <a:t>和</a:t>
            </a:r>
            <a:r>
              <a:rPr lang="en-US" altLang="zh-CN"/>
              <a:t>“</a:t>
            </a:r>
            <a:r>
              <a:rPr lang="zh-CN" altLang="en-US"/>
              <a:t>多阶段模型</a:t>
            </a:r>
            <a:r>
              <a:rPr lang="en-US" altLang="zh-CN"/>
              <a:t>”</a:t>
            </a:r>
            <a:r>
              <a:rPr lang="zh-CN" altLang="en-US"/>
              <a:t>（文中表格归类为</a:t>
            </a:r>
            <a:r>
              <a:rPr lang="en-US" altLang="zh-CN"/>
              <a:t>Two-Stage models</a:t>
            </a:r>
            <a:r>
              <a:rPr lang="zh-CN" altLang="en-US"/>
              <a:t>）进行比较。请解释这种分类的依据，并分别列举几个属于这两类的对比方法。</a:t>
            </a:r>
            <a:endParaRPr lang="zh-CN" altLang="en-US"/>
          </a:p>
          <a:p>
            <a:r>
              <a:rPr lang="zh-CN" altLang="en-US"/>
              <a:t>定量评估主要使用了</a:t>
            </a:r>
            <a:r>
              <a:rPr lang="en-US" altLang="zh-CN"/>
              <a:t>PSNR</a:t>
            </a:r>
            <a:r>
              <a:rPr lang="zh-CN" altLang="en-US"/>
              <a:t>和</a:t>
            </a:r>
            <a:r>
              <a:rPr lang="en-US" altLang="zh-CN"/>
              <a:t>SSIM</a:t>
            </a:r>
            <a:r>
              <a:rPr lang="zh-CN" altLang="en-US"/>
              <a:t>指标。除了这两个指标，在低光图像增强领域，是否还有其他常用的、可能更能反映感知质量的评价指标（例如，</a:t>
            </a:r>
            <a:r>
              <a:rPr lang="en-US" altLang="zh-CN"/>
              <a:t>LPIPS, NIQE</a:t>
            </a:r>
            <a:r>
              <a:rPr lang="zh-CN" altLang="en-US"/>
              <a:t>）？论文为何选择</a:t>
            </a:r>
            <a:r>
              <a:rPr lang="en-US" altLang="zh-CN"/>
              <a:t>PSNR</a:t>
            </a:r>
            <a:r>
              <a:rPr lang="zh-CN" altLang="en-US"/>
              <a:t>和</a:t>
            </a:r>
            <a:r>
              <a:rPr lang="en-US" altLang="zh-CN"/>
              <a:t>SSIM</a:t>
            </a:r>
            <a:r>
              <a:rPr lang="zh-CN" altLang="en-US"/>
              <a:t>作为主要评价标准？</a:t>
            </a:r>
            <a:endParaRPr lang="zh-CN" altLang="en-US"/>
          </a:p>
          <a:p>
            <a:r>
              <a:rPr lang="zh-CN" altLang="en-US"/>
              <a:t>查看表</a:t>
            </a:r>
            <a:r>
              <a:rPr lang="en-US" altLang="zh-CN"/>
              <a:t>1</a:t>
            </a:r>
            <a:r>
              <a:rPr lang="zh-CN" altLang="en-US"/>
              <a:t>和表</a:t>
            </a:r>
            <a:r>
              <a:rPr lang="en-US" altLang="zh-CN"/>
              <a:t>2</a:t>
            </a:r>
            <a:r>
              <a:rPr lang="zh-CN" altLang="en-US"/>
              <a:t>，</a:t>
            </a:r>
            <a:r>
              <a:rPr lang="en-US" altLang="zh-CN"/>
              <a:t>CoRAW-Net</a:t>
            </a:r>
            <a:r>
              <a:rPr lang="zh-CN" altLang="en-US"/>
              <a:t>在</a:t>
            </a:r>
            <a:r>
              <a:rPr lang="en-US" altLang="zh-CN"/>
              <a:t>MCR</a:t>
            </a:r>
            <a:r>
              <a:rPr lang="zh-CN" altLang="en-US"/>
              <a:t>数据集上的</a:t>
            </a:r>
            <a:r>
              <a:rPr lang="en-US" altLang="zh-CN"/>
              <a:t>PSNR</a:t>
            </a:r>
            <a:r>
              <a:rPr lang="zh-CN" altLang="en-US"/>
              <a:t>值（</a:t>
            </a:r>
            <a:r>
              <a:rPr lang="en-US" altLang="zh-CN"/>
              <a:t>31.89</a:t>
            </a:r>
            <a:r>
              <a:rPr lang="zh-CN" altLang="en-US"/>
              <a:t>）略低于</a:t>
            </a:r>
            <a:r>
              <a:rPr lang="en-US" altLang="zh-CN"/>
              <a:t>MCR</a:t>
            </a:r>
            <a:r>
              <a:rPr lang="zh-CN" altLang="en-US"/>
              <a:t>方法（</a:t>
            </a:r>
            <a:r>
              <a:rPr lang="en-US" altLang="zh-CN"/>
              <a:t>31.69</a:t>
            </a:r>
            <a:r>
              <a:rPr lang="zh-CN" altLang="en-US"/>
              <a:t>）和</a:t>
            </a:r>
            <a:r>
              <a:rPr lang="en-US" altLang="zh-CN"/>
              <a:t>DNF</a:t>
            </a:r>
            <a:r>
              <a:rPr lang="zh-CN" altLang="en-US"/>
              <a:t>（</a:t>
            </a:r>
            <a:r>
              <a:rPr lang="en-US" altLang="zh-CN"/>
              <a:t>32.00</a:t>
            </a:r>
            <a:r>
              <a:rPr lang="zh-CN" altLang="en-US"/>
              <a:t>），但</a:t>
            </a:r>
            <a:r>
              <a:rPr lang="en-US" altLang="zh-CN"/>
              <a:t>SSIM</a:t>
            </a:r>
            <a:r>
              <a:rPr lang="zh-CN" altLang="en-US"/>
              <a:t>（</a:t>
            </a:r>
            <a:r>
              <a:rPr lang="en-US" altLang="zh-CN"/>
              <a:t>0.9120</a:t>
            </a:r>
            <a:r>
              <a:rPr lang="zh-CN" altLang="en-US"/>
              <a:t>）是最高的。你如何解释这种指标不一致的现象？这反映了</a:t>
            </a:r>
            <a:r>
              <a:rPr lang="en-US" altLang="zh-CN"/>
              <a:t>CoRAW-Net</a:t>
            </a:r>
            <a:r>
              <a:rPr lang="zh-CN" altLang="en-US"/>
              <a:t>在哪些方面可能具有优势或不足？</a:t>
            </a:r>
            <a:endParaRPr lang="zh-CN"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单击此处编辑母版标题样式</a:t>
            </a:r>
            <a:endParaRPr lang="zh-CN" altLang="en-US"/>
          </a:p>
        </p:txBody>
      </p:sp>
      <p:sp>
        <p:nvSpPr>
          <p:cNvPr id="3" name="内容占位符 2"/>
          <p:cNvSpPr>
            <a:spLocks noGrp="1"/>
          </p:cNvSpPr>
          <p:nvPr>
            <p:ph idx="1"/>
            <p:custDataLst>
              <p:tags r:id="rId2"/>
            </p:custDataLst>
          </p:nvPr>
        </p:nvSpPr>
        <p:spPr/>
        <p:txBody>
          <a:bodyPr/>
          <a:p>
            <a:r>
              <a:rPr lang="zh-CN" altLang="en-US"/>
              <a:t>单阶段模型：指采用端到端的</a:t>
            </a:r>
            <a:r>
              <a:rPr lang="zh-CN" altLang="en-US">
                <a:highlight>
                  <a:srgbClr val="FFFF00"/>
                </a:highlight>
              </a:rPr>
              <a:t>编码器</a:t>
            </a:r>
            <a:r>
              <a:rPr lang="en-US" altLang="zh-CN">
                <a:highlight>
                  <a:srgbClr val="FFFF00"/>
                </a:highlight>
              </a:rPr>
              <a:t>-</a:t>
            </a:r>
            <a:r>
              <a:rPr lang="zh-CN" altLang="en-US">
                <a:highlight>
                  <a:srgbClr val="FFFF00"/>
                </a:highlight>
              </a:rPr>
              <a:t>解码器</a:t>
            </a:r>
            <a:r>
              <a:rPr lang="zh-CN" altLang="en-US"/>
              <a:t>或</a:t>
            </a:r>
            <a:r>
              <a:rPr lang="en-US" altLang="zh-CN"/>
              <a:t>U-Net</a:t>
            </a:r>
            <a:r>
              <a:rPr lang="zh-CN" altLang="en-US"/>
              <a:t>等架构，直接学习从有噪</a:t>
            </a:r>
            <a:r>
              <a:rPr lang="en-US" altLang="zh-CN"/>
              <a:t>RAW</a:t>
            </a:r>
            <a:r>
              <a:rPr lang="zh-CN" altLang="en-US"/>
              <a:t>输入到干净</a:t>
            </a:r>
            <a:r>
              <a:rPr lang="en-US" altLang="zh-CN"/>
              <a:t>sRGB</a:t>
            </a:r>
            <a:r>
              <a:rPr lang="zh-CN" altLang="en-US"/>
              <a:t>输出的映射。这类方法计算效率高，但需同时处理</a:t>
            </a:r>
            <a:r>
              <a:rPr lang="en-US" altLang="zh-CN"/>
              <a:t>RAW</a:t>
            </a:r>
            <a:r>
              <a:rPr lang="zh-CN" altLang="en-US"/>
              <a:t>域去噪和跨域色彩变换。代表方法包括：</a:t>
            </a:r>
            <a:r>
              <a:rPr lang="en-US" altLang="zh-CN"/>
              <a:t>SID</a:t>
            </a:r>
            <a:r>
              <a:rPr lang="zh-CN" altLang="en-US"/>
              <a:t>、</a:t>
            </a:r>
            <a:r>
              <a:rPr lang="en-US" altLang="zh-CN"/>
              <a:t>DID</a:t>
            </a:r>
            <a:r>
              <a:rPr lang="zh-CN" altLang="en-US"/>
              <a:t>、</a:t>
            </a:r>
            <a:r>
              <a:rPr lang="en-US" altLang="zh-CN"/>
              <a:t>SGN</a:t>
            </a:r>
            <a:r>
              <a:rPr lang="zh-CN" altLang="en-US"/>
              <a:t>、</a:t>
            </a:r>
            <a:r>
              <a:rPr lang="en-US" altLang="zh-CN"/>
              <a:t>LLPackNet</a:t>
            </a:r>
            <a:r>
              <a:rPr lang="zh-CN" altLang="en-US"/>
              <a:t>、</a:t>
            </a:r>
            <a:r>
              <a:rPr lang="en-US" altLang="zh-CN"/>
              <a:t>RetinexMamba</a:t>
            </a:r>
            <a:r>
              <a:rPr lang="zh-CN" altLang="en-US"/>
              <a:t>、</a:t>
            </a:r>
            <a:r>
              <a:rPr lang="en-US" altLang="zh-CN"/>
              <a:t>FDA</a:t>
            </a:r>
            <a:r>
              <a:rPr lang="zh-CN" altLang="en-US"/>
              <a:t>、</a:t>
            </a:r>
            <a:r>
              <a:rPr lang="en-US" altLang="zh-CN"/>
              <a:t>IRT</a:t>
            </a:r>
            <a:r>
              <a:rPr lang="zh-CN" altLang="en-US"/>
              <a:t>。</a:t>
            </a:r>
            <a:endParaRPr lang="zh-CN" altLang="en-US"/>
          </a:p>
          <a:p>
            <a:endParaRPr lang="zh-CN" altLang="en-US"/>
          </a:p>
          <a:p>
            <a:r>
              <a:rPr lang="zh-CN" altLang="en-US"/>
              <a:t>多阶段模型（文中表格为</a:t>
            </a:r>
            <a:r>
              <a:rPr lang="en-US" altLang="zh-CN"/>
              <a:t>“Two-Stage models”</a:t>
            </a:r>
            <a:r>
              <a:rPr lang="zh-CN" altLang="en-US"/>
              <a:t>）：指将增强过程分解为序列性子任务（如先</a:t>
            </a:r>
            <a:r>
              <a:rPr lang="en-US" altLang="zh-CN"/>
              <a:t>RAW</a:t>
            </a:r>
            <a:r>
              <a:rPr lang="zh-CN" altLang="en-US"/>
              <a:t>域去噪，再进行色彩映射或重建）的框架。这类策略缓解了跨域学习难度，通常性能更好，但增加了计算成本。代表方法包括：</a:t>
            </a:r>
            <a:r>
              <a:rPr lang="en-US" altLang="zh-CN"/>
              <a:t>LDC</a:t>
            </a:r>
            <a:r>
              <a:rPr lang="zh-CN" altLang="en-US"/>
              <a:t>、</a:t>
            </a:r>
            <a:r>
              <a:rPr lang="en-US" altLang="zh-CN"/>
              <a:t>MCR</a:t>
            </a:r>
            <a:r>
              <a:rPr lang="zh-CN" altLang="en-US"/>
              <a:t>、</a:t>
            </a:r>
            <a:r>
              <a:rPr lang="en-US" altLang="zh-CN"/>
              <a:t>RRID</a:t>
            </a:r>
            <a:r>
              <a:rPr lang="zh-CN" altLang="en-US"/>
              <a:t>、</a:t>
            </a:r>
            <a:r>
              <a:rPr lang="en-US" altLang="zh-CN"/>
              <a:t>DNF</a:t>
            </a:r>
            <a:r>
              <a:rPr lang="zh-CN" altLang="en-US"/>
              <a:t>。</a:t>
            </a:r>
            <a:endParaRPr lang="zh-CN"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消融实验设计</a:t>
            </a:r>
            <a:endParaRPr lang="zh-CN" altLang="en-US"/>
          </a:p>
        </p:txBody>
      </p:sp>
      <p:sp>
        <p:nvSpPr>
          <p:cNvPr id="3" name="内容占位符 2"/>
          <p:cNvSpPr>
            <a:spLocks noGrp="1"/>
          </p:cNvSpPr>
          <p:nvPr>
            <p:ph idx="1"/>
            <p:custDataLst>
              <p:tags r:id="rId2"/>
            </p:custDataLst>
          </p:nvPr>
        </p:nvSpPr>
        <p:spPr/>
        <p:txBody>
          <a:bodyPr/>
          <a:p>
            <a:r>
              <a:rPr lang="zh-CN" altLang="en-US"/>
              <a:t>消融实验评估了纹理增强解码器（</a:t>
            </a:r>
            <a:r>
              <a:rPr lang="en-US" altLang="zh-CN"/>
              <a:t>TED</a:t>
            </a:r>
            <a:r>
              <a:rPr lang="zh-CN" altLang="en-US"/>
              <a:t>）和不同融合模块的效果。实验的基线模型（表</a:t>
            </a:r>
            <a:r>
              <a:rPr lang="en-US" altLang="zh-CN"/>
              <a:t>3</a:t>
            </a:r>
            <a:r>
              <a:rPr lang="zh-CN" altLang="en-US"/>
              <a:t>第一行）具体指的是哪个模型架构？</a:t>
            </a:r>
            <a:endParaRPr lang="zh-CN" altLang="en-US"/>
          </a:p>
          <a:p>
            <a:r>
              <a:rPr lang="zh-CN" altLang="en-US"/>
              <a:t>在比较不同融合模块时，论文提到</a:t>
            </a:r>
            <a:r>
              <a:rPr lang="en-US" altLang="zh-CN"/>
              <a:t>“</a:t>
            </a:r>
            <a:r>
              <a:rPr lang="zh-CN" altLang="en-US"/>
              <a:t>这些融合模块经过了适当调整，以保持其原始设计原则</a:t>
            </a:r>
            <a:r>
              <a:rPr lang="en-US" altLang="zh-CN"/>
              <a:t>”</a:t>
            </a:r>
            <a:r>
              <a:rPr lang="zh-CN" altLang="en-US"/>
              <a:t>。请以其中一个模块（如</a:t>
            </a:r>
            <a:r>
              <a:rPr lang="en-US" altLang="zh-CN"/>
              <a:t>GFM</a:t>
            </a:r>
            <a:r>
              <a:rPr lang="zh-CN" altLang="en-US"/>
              <a:t>或</a:t>
            </a:r>
            <a:r>
              <a:rPr lang="en-US" altLang="zh-CN"/>
              <a:t>SKFF</a:t>
            </a:r>
            <a:r>
              <a:rPr lang="zh-CN" altLang="en-US"/>
              <a:t>）为例，说明它是如何被整合到</a:t>
            </a:r>
            <a:r>
              <a:rPr lang="en-US" altLang="zh-CN"/>
              <a:t>CoRAW-Net</a:t>
            </a:r>
            <a:r>
              <a:rPr lang="zh-CN" altLang="en-US"/>
              <a:t>的双分支架构中的。</a:t>
            </a:r>
            <a:endParaRPr lang="zh-CN" altLang="en-US"/>
          </a:p>
          <a:p>
            <a:r>
              <a:rPr lang="zh-CN" altLang="en-US"/>
              <a:t>消融实验结果表明，使用简单的可学习标量参数</a:t>
            </a:r>
            <a:r>
              <a:rPr lang="en-US" altLang="zh-CN"/>
              <a:t> α </a:t>
            </a:r>
            <a:r>
              <a:rPr lang="zh-CN" altLang="en-US"/>
              <a:t>进行加权融合（表中对应</a:t>
            </a:r>
            <a:r>
              <a:rPr lang="en-US" altLang="zh-CN"/>
              <a:t>α</a:t>
            </a:r>
            <a:r>
              <a:rPr lang="zh-CN" altLang="en-US"/>
              <a:t>列）也能带来性能提升。与提出的</a:t>
            </a:r>
            <a:r>
              <a:rPr lang="en-US" altLang="zh-CN"/>
              <a:t>CCAFM</a:t>
            </a:r>
            <a:r>
              <a:rPr lang="zh-CN" altLang="en-US"/>
              <a:t>相比，这种简单方法的主要缺陷是什么？</a:t>
            </a:r>
            <a:r>
              <a:rPr lang="en-US" altLang="zh-CN"/>
              <a:t>CCAFM</a:t>
            </a:r>
            <a:r>
              <a:rPr lang="zh-CN" altLang="en-US"/>
              <a:t>通过哪些机制克服了这些缺陷？</a:t>
            </a:r>
            <a:endParaRPr lang="zh-CN"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95960" y="443230"/>
            <a:ext cx="10800080" cy="6010910"/>
          </a:xfrm>
        </p:spPr>
        <p:txBody>
          <a:bodyPr>
            <a:normAutofit fontScale="35000"/>
          </a:bodyPr>
          <a:p>
            <a:r>
              <a:rPr lang="en-US" altLang="zh-CN"/>
              <a:t>  </a:t>
            </a:r>
            <a:r>
              <a:rPr lang="en-US" altLang="zh-CN" sz="3500"/>
              <a:t>  </a:t>
            </a:r>
            <a:r>
              <a:rPr lang="en-US" altLang="zh-CN" sz="4000"/>
              <a:t># </a:t>
            </a:r>
            <a:r>
              <a:rPr lang="zh-CN" altLang="en-US" sz="4000"/>
              <a:t>步骤</a:t>
            </a:r>
            <a:r>
              <a:rPr lang="en-US" altLang="zh-CN" sz="4000"/>
              <a:t>1</a:t>
            </a:r>
            <a:r>
              <a:rPr lang="zh-CN" altLang="en-US" sz="4000"/>
              <a:t>：拼接两个分支的特征</a:t>
            </a:r>
            <a:endParaRPr lang="zh-CN" altLang="en-US" sz="4000"/>
          </a:p>
          <a:p>
            <a:r>
              <a:rPr lang="en-US" altLang="zh-CN" sz="4000"/>
              <a:t>    feats = torch.cat([local_feat, global_feat], dim=1)  # [B, 2C, H, W]</a:t>
            </a:r>
            <a:endParaRPr lang="en-US" altLang="zh-CN" sz="4000"/>
          </a:p>
          <a:p>
            <a:r>
              <a:rPr lang="en-US" altLang="zh-CN" sz="4000"/>
              <a:t>    # </a:t>
            </a:r>
            <a:r>
              <a:rPr lang="zh-CN" altLang="en-US" sz="4000"/>
              <a:t>步骤</a:t>
            </a:r>
            <a:r>
              <a:rPr lang="en-US" altLang="zh-CN" sz="4000"/>
              <a:t>2</a:t>
            </a:r>
            <a:r>
              <a:rPr lang="zh-CN" altLang="en-US" sz="4000"/>
              <a:t>：重塑为</a:t>
            </a:r>
            <a:r>
              <a:rPr lang="en-US" altLang="zh-CN" sz="4000"/>
              <a:t> [B, 2, C, H, W]</a:t>
            </a:r>
            <a:r>
              <a:rPr lang="zh-CN" altLang="en-US" sz="4000"/>
              <a:t>，便于按分支操作</a:t>
            </a:r>
            <a:endParaRPr lang="zh-CN" altLang="en-US" sz="4000"/>
          </a:p>
          <a:p>
            <a:r>
              <a:rPr lang="en-US" altLang="zh-CN" sz="4000"/>
              <a:t>    feats = feats.view(batch, 2, C, H, W)</a:t>
            </a:r>
            <a:endParaRPr lang="en-US" altLang="zh-CN" sz="4000"/>
          </a:p>
          <a:p>
            <a:r>
              <a:rPr lang="en-US" altLang="zh-CN" sz="4000"/>
              <a:t>    # </a:t>
            </a:r>
            <a:r>
              <a:rPr lang="zh-CN" altLang="en-US" sz="4000"/>
              <a:t>步骤</a:t>
            </a:r>
            <a:r>
              <a:rPr lang="en-US" altLang="zh-CN" sz="4000"/>
              <a:t>3</a:t>
            </a:r>
            <a:r>
              <a:rPr lang="zh-CN" altLang="en-US" sz="4000"/>
              <a:t>：沿分支维度求和，得到融合特征</a:t>
            </a:r>
            <a:endParaRPr lang="zh-CN" altLang="en-US" sz="4000"/>
          </a:p>
          <a:p>
            <a:r>
              <a:rPr lang="en-US" altLang="zh-CN" sz="4000"/>
              <a:t>    feats_sum = torch.sum(feats, dim=1)  # [B, C, H, W]</a:t>
            </a:r>
            <a:endParaRPr lang="en-US" altLang="zh-CN" sz="4000"/>
          </a:p>
          <a:p>
            <a:r>
              <a:rPr lang="en-US" altLang="zh-CN" sz="4000"/>
              <a:t>    # </a:t>
            </a:r>
            <a:r>
              <a:rPr lang="zh-CN" altLang="en-US" sz="4000"/>
              <a:t>步骤</a:t>
            </a:r>
            <a:r>
              <a:rPr lang="en-US" altLang="zh-CN" sz="4000"/>
              <a:t>4</a:t>
            </a:r>
            <a:r>
              <a:rPr lang="zh-CN" altLang="en-US" sz="4000"/>
              <a:t>：全局平均池化，获取通道描述符</a:t>
            </a:r>
            <a:endParaRPr lang="zh-CN" altLang="en-US" sz="4000"/>
          </a:p>
          <a:p>
            <a:r>
              <a:rPr lang="en-US" altLang="zh-CN" sz="4000"/>
              <a:t>    feats_pool = self.avg_pool(feats_sum)  # [B, C, 1, 1]</a:t>
            </a:r>
            <a:endParaRPr lang="en-US" altLang="zh-CN" sz="4000"/>
          </a:p>
          <a:p>
            <a:r>
              <a:rPr lang="en-US" altLang="zh-CN" sz="4000"/>
              <a:t>    # </a:t>
            </a:r>
            <a:r>
              <a:rPr lang="zh-CN" altLang="en-US" sz="4000"/>
              <a:t>步骤</a:t>
            </a:r>
            <a:r>
              <a:rPr lang="en-US" altLang="zh-CN" sz="4000"/>
              <a:t>5</a:t>
            </a:r>
            <a:r>
              <a:rPr lang="zh-CN" altLang="en-US" sz="4000"/>
              <a:t>：通道压缩（降维），提取关键信息</a:t>
            </a:r>
            <a:endParaRPr lang="zh-CN" altLang="en-US" sz="4000"/>
          </a:p>
          <a:p>
            <a:r>
              <a:rPr lang="en-US" altLang="zh-CN" sz="4000"/>
              <a:t>    feats_compress = self.conv_du(feats_pool)  # [B, d, 1, 1]</a:t>
            </a:r>
            <a:endParaRPr lang="en-US" altLang="zh-CN" sz="4000"/>
          </a:p>
          <a:p>
            <a:r>
              <a:rPr lang="en-US" altLang="zh-CN" sz="4000"/>
              <a:t>    # </a:t>
            </a:r>
            <a:r>
              <a:rPr lang="zh-CN" altLang="en-US" sz="4000"/>
              <a:t>步骤</a:t>
            </a:r>
            <a:r>
              <a:rPr lang="en-US" altLang="zh-CN" sz="4000"/>
              <a:t>6</a:t>
            </a:r>
            <a:r>
              <a:rPr lang="zh-CN" altLang="en-US" sz="4000"/>
              <a:t>：为两个分支分别生成注意力权重</a:t>
            </a:r>
            <a:endParaRPr lang="zh-CN" altLang="en-US" sz="4000"/>
          </a:p>
          <a:p>
            <a:r>
              <a:rPr lang="en-US" altLang="zh-CN" sz="4000"/>
              <a:t>    attn_local = self.sigmoid(self.fc_local(feats_compress))    # [B, C, 1, 1]</a:t>
            </a:r>
            <a:endParaRPr lang="en-US" altLang="zh-CN" sz="4000"/>
          </a:p>
          <a:p>
            <a:r>
              <a:rPr lang="en-US" altLang="zh-CN" sz="4000"/>
              <a:t>    attn_global = self.sigmoid(self.fc_global(feats_compress))  # [B, C, 1, 1]</a:t>
            </a:r>
            <a:endParaRPr lang="en-US" altLang="zh-CN" sz="4000"/>
          </a:p>
          <a:p>
            <a:r>
              <a:rPr lang="en-US" altLang="zh-CN" sz="4000"/>
              <a:t>    # </a:t>
            </a:r>
            <a:r>
              <a:rPr lang="zh-CN" altLang="en-US" sz="4000"/>
              <a:t>步骤</a:t>
            </a:r>
            <a:r>
              <a:rPr lang="en-US" altLang="zh-CN" sz="4000"/>
              <a:t>7</a:t>
            </a:r>
            <a:r>
              <a:rPr lang="zh-CN" altLang="en-US" sz="4000"/>
              <a:t>：加权融合</a:t>
            </a:r>
            <a:endParaRPr lang="zh-CN" altLang="en-US" sz="4000"/>
          </a:p>
          <a:p>
            <a:r>
              <a:rPr lang="en-US" altLang="zh-CN" sz="4000"/>
              <a:t>    out = local_feat * attn_local + global_feat * attn_global</a:t>
            </a:r>
            <a:endParaRPr lang="en-US" altLang="zh-CN" sz="4000"/>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95960" y="1142999"/>
            <a:ext cx="10800000" cy="4873625"/>
          </a:xfrm>
        </p:spPr>
        <p:txBody>
          <a:bodyPr>
            <a:noAutofit/>
          </a:bodyPr>
          <a:p>
            <a:r>
              <a:rPr lang="zh-CN" altLang="en-US" sz="2300">
                <a:highlight>
                  <a:srgbClr val="FFFF00"/>
                </a:highlight>
              </a:rPr>
              <a:t>基线模型</a:t>
            </a:r>
            <a:r>
              <a:rPr lang="zh-CN" altLang="en-US" sz="2300"/>
              <a:t>：根据表</a:t>
            </a:r>
            <a:r>
              <a:rPr lang="en-US" altLang="zh-CN" sz="2300"/>
              <a:t>3</a:t>
            </a:r>
            <a:r>
              <a:rPr lang="zh-CN" altLang="en-US" sz="2300"/>
              <a:t>第一行的数据（</a:t>
            </a:r>
            <a:r>
              <a:rPr lang="en-US" altLang="zh-CN" sz="2300"/>
              <a:t>PSNR</a:t>
            </a:r>
            <a:r>
              <a:rPr lang="zh-CN" altLang="en-US" sz="2300"/>
              <a:t>：</a:t>
            </a:r>
            <a:r>
              <a:rPr lang="en-US" altLang="zh-CN" sz="2300"/>
              <a:t>30.47</a:t>
            </a:r>
            <a:r>
              <a:rPr lang="zh-CN" altLang="en-US" sz="2300"/>
              <a:t>，</a:t>
            </a:r>
            <a:r>
              <a:rPr lang="en-US" altLang="zh-CN" sz="2300"/>
              <a:t> SSIM</a:t>
            </a:r>
            <a:r>
              <a:rPr lang="zh-CN" altLang="en-US" sz="2300"/>
              <a:t>：</a:t>
            </a:r>
            <a:r>
              <a:rPr lang="en-US" altLang="zh-CN" sz="2300"/>
              <a:t>0.7971</a:t>
            </a:r>
            <a:r>
              <a:rPr lang="zh-CN" altLang="en-US" sz="2300"/>
              <a:t>）与表</a:t>
            </a:r>
            <a:r>
              <a:rPr lang="en-US" altLang="zh-CN" sz="2300"/>
              <a:t>1</a:t>
            </a:r>
            <a:r>
              <a:rPr lang="zh-CN" altLang="en-US" sz="2300"/>
              <a:t>中</a:t>
            </a:r>
            <a:r>
              <a:rPr lang="en-US" altLang="zh-CN" sz="2300"/>
              <a:t>DNF</a:t>
            </a:r>
            <a:r>
              <a:rPr lang="zh-CN" altLang="en-US" sz="2300"/>
              <a:t>方法的性能数据（</a:t>
            </a:r>
            <a:r>
              <a:rPr lang="en-US" altLang="zh-CN" sz="2300"/>
              <a:t>PSNR</a:t>
            </a:r>
            <a:r>
              <a:rPr lang="zh-CN" altLang="en-US" sz="2300"/>
              <a:t>：</a:t>
            </a:r>
            <a:r>
              <a:rPr lang="en-US" altLang="zh-CN" sz="2300"/>
              <a:t>30.47</a:t>
            </a:r>
            <a:r>
              <a:rPr lang="zh-CN" altLang="en-US" sz="2300"/>
              <a:t>，</a:t>
            </a:r>
            <a:r>
              <a:rPr lang="en-US" altLang="zh-CN" sz="2300"/>
              <a:t> SSIM</a:t>
            </a:r>
            <a:r>
              <a:rPr lang="zh-CN" altLang="en-US" sz="2300"/>
              <a:t>：</a:t>
            </a:r>
            <a:r>
              <a:rPr lang="en-US" altLang="zh-CN" sz="2300"/>
              <a:t>0.7971</a:t>
            </a:r>
            <a:r>
              <a:rPr lang="zh-CN" altLang="en-US" sz="2300"/>
              <a:t>）完全一致，可以确定基线模型就是</a:t>
            </a:r>
            <a:r>
              <a:rPr lang="en-US" altLang="zh-CN" sz="2300"/>
              <a:t>DNF</a:t>
            </a:r>
            <a:r>
              <a:rPr lang="zh-CN" altLang="en-US" sz="2300"/>
              <a:t>。</a:t>
            </a:r>
            <a:endParaRPr lang="zh-CN" altLang="en-US" sz="2300"/>
          </a:p>
          <a:p>
            <a:r>
              <a:rPr lang="zh-CN" altLang="en-US" sz="2300"/>
              <a:t>融合模块整合示例（以</a:t>
            </a:r>
            <a:r>
              <a:rPr lang="en-US" altLang="zh-CN" sz="2300"/>
              <a:t>GFM</a:t>
            </a:r>
            <a:r>
              <a:rPr lang="zh-CN" altLang="en-US" sz="2300"/>
              <a:t>为例）：文档未详述整合细节。通常的整合方式是：用待评估的融合模块（如</a:t>
            </a:r>
            <a:r>
              <a:rPr lang="en-US" altLang="zh-CN" sz="2300"/>
              <a:t>GFM</a:t>
            </a:r>
            <a:r>
              <a:rPr lang="zh-CN" altLang="en-US" sz="2300"/>
              <a:t>、</a:t>
            </a:r>
            <a:r>
              <a:rPr lang="en-US" altLang="zh-CN" sz="2300"/>
              <a:t>SKFF</a:t>
            </a:r>
            <a:r>
              <a:rPr lang="zh-CN" altLang="en-US" sz="2300"/>
              <a:t>、</a:t>
            </a:r>
            <a:r>
              <a:rPr lang="en-US" altLang="zh-CN" sz="2300"/>
              <a:t>KPFF</a:t>
            </a:r>
            <a:r>
              <a:rPr lang="zh-CN" altLang="en-US" sz="2300"/>
              <a:t>）替换</a:t>
            </a:r>
            <a:r>
              <a:rPr lang="en-US" altLang="zh-CN" sz="2300"/>
              <a:t>CoRAW-Net</a:t>
            </a:r>
            <a:r>
              <a:rPr lang="zh-CN" altLang="en-US" sz="2300"/>
              <a:t>中提出的</a:t>
            </a:r>
            <a:r>
              <a:rPr lang="en-US" altLang="zh-CN" sz="2300"/>
              <a:t>“</a:t>
            </a:r>
            <a:r>
              <a:rPr lang="zh-CN" altLang="en-US" sz="2300"/>
              <a:t>协同跨属性融合模块</a:t>
            </a:r>
            <a:r>
              <a:rPr lang="en-US" altLang="zh-CN" sz="2300"/>
              <a:t>”</a:t>
            </a:r>
            <a:r>
              <a:rPr lang="zh-CN" altLang="en-US" sz="2300"/>
              <a:t>。具体而言，在得到纹理解码器输出</a:t>
            </a:r>
            <a:r>
              <a:rPr lang="en-US" altLang="zh-CN" sz="2300"/>
              <a:t> F_t</a:t>
            </a:r>
            <a:r>
              <a:rPr lang="zh-CN" altLang="en-US" sz="2300"/>
              <a:t>和颜色解码器输出</a:t>
            </a:r>
            <a:r>
              <a:rPr lang="en-US" altLang="zh-CN" sz="2300"/>
              <a:t> F_c</a:t>
            </a:r>
            <a:r>
              <a:rPr lang="zh-CN" altLang="en-US" sz="2300"/>
              <a:t>后，不再使用</a:t>
            </a:r>
            <a:r>
              <a:rPr lang="en-US" altLang="zh-CN" sz="2300"/>
              <a:t>CCAFM</a:t>
            </a:r>
            <a:r>
              <a:rPr lang="zh-CN" altLang="en-US" sz="2300"/>
              <a:t>，而是将它们作为输入，送入</a:t>
            </a:r>
            <a:r>
              <a:rPr lang="en-US" altLang="zh-CN" sz="2300"/>
              <a:t>GFM</a:t>
            </a:r>
            <a:r>
              <a:rPr lang="zh-CN" altLang="en-US" sz="2300"/>
              <a:t>进行特征融合，然后将</a:t>
            </a:r>
            <a:r>
              <a:rPr lang="en-US" altLang="zh-CN" sz="2300"/>
              <a:t>GFM</a:t>
            </a:r>
            <a:r>
              <a:rPr lang="zh-CN" altLang="en-US" sz="2300"/>
              <a:t>的输出传递给后续的上采样解码层以重建最终图像。在消融实验中，需要确保网络其他部分（如共享编码器、两个解码器）的结构和参数完全一致。</a:t>
            </a:r>
            <a:endParaRPr lang="zh-CN" altLang="en-US" sz="2300"/>
          </a:p>
          <a:p>
            <a:endParaRPr lang="zh-CN" altLang="en-US" sz="2300"/>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normAutofit fontScale="90000" lnSpcReduction="20000"/>
          </a:bodyPr>
          <a:p>
            <a:r>
              <a:rPr lang="zh-CN" altLang="en-US"/>
              <a:t>简单加权（</a:t>
            </a:r>
            <a:r>
              <a:rPr lang="en-US" altLang="zh-CN"/>
              <a:t>α</a:t>
            </a:r>
            <a:r>
              <a:rPr lang="zh-CN" altLang="en-US"/>
              <a:t>）的缺陷：它仅为两个分支的特征分配一个全局的、固定的（通过学习得到）混合权重。这种方法过于简单，无法建模纹理和颜色特征在不同空间位置和不同通道上的复杂依赖关系，也无法进行自适应、非线性的交互。</a:t>
            </a:r>
            <a:endParaRPr lang="zh-CN" altLang="en-US"/>
          </a:p>
          <a:p>
            <a:r>
              <a:rPr lang="en-US" altLang="zh-CN"/>
              <a:t>CCAFM</a:t>
            </a:r>
            <a:r>
              <a:rPr lang="zh-CN" altLang="en-US"/>
              <a:t>的改进机制：</a:t>
            </a:r>
            <a:endParaRPr lang="zh-CN" altLang="en-US"/>
          </a:p>
          <a:p>
            <a:pPr marL="0" indent="0">
              <a:buNone/>
            </a:pPr>
            <a:r>
              <a:rPr lang="zh-CN" altLang="en-US"/>
              <a:t>属性分布校准：通过通道级调制对齐异构特征分布，为后续交互建立稳定表示空间。</a:t>
            </a:r>
            <a:endParaRPr lang="zh-CN" altLang="en-US"/>
          </a:p>
          <a:p>
            <a:r>
              <a:rPr lang="zh-CN" altLang="en-US"/>
              <a:t>跨属性依赖建模：通过门控交叉交互机制，在共享隐空间内动态捕获纹理和颜色特征的互补依赖关系，允许结构线索指导局部色彩一致性，并让全局色彩上下文抑制噪声引起的结构伪影。</a:t>
            </a:r>
            <a:endParaRPr lang="zh-CN" altLang="en-US"/>
          </a:p>
          <a:p>
            <a:r>
              <a:rPr lang="zh-CN" altLang="en-US"/>
              <a:t>协同结构</a:t>
            </a:r>
            <a:r>
              <a:rPr lang="en-US" altLang="zh-CN"/>
              <a:t>-</a:t>
            </a:r>
            <a:r>
              <a:rPr lang="zh-CN" altLang="en-US"/>
              <a:t>色彩增强：引入空间自适应增强算子，选择性强调跨表示中相互一致的属性响应，并通过残差连接保留分支特异性信息。这种渐进式、自适应的融合策略能更有效地聚合互补信息，缓解解耦增强中常见的</a:t>
            </a:r>
            <a:r>
              <a:rPr lang="en-US" altLang="zh-CN"/>
              <a:t>“</a:t>
            </a:r>
            <a:r>
              <a:rPr lang="zh-CN" altLang="en-US"/>
              <a:t>属性隔离</a:t>
            </a:r>
            <a:r>
              <a:rPr lang="en-US" altLang="zh-CN"/>
              <a:t>”</a:t>
            </a:r>
            <a:r>
              <a:rPr lang="zh-CN" altLang="en-US"/>
              <a:t>现象。</a:t>
            </a:r>
            <a:endParaRPr lang="zh-CN" alt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方法细节与实现</a:t>
            </a:r>
            <a:endParaRPr lang="zh-CN" altLang="en-US"/>
          </a:p>
        </p:txBody>
      </p:sp>
      <p:sp>
        <p:nvSpPr>
          <p:cNvPr id="3" name="内容占位符 2"/>
          <p:cNvSpPr>
            <a:spLocks noGrp="1"/>
          </p:cNvSpPr>
          <p:nvPr>
            <p:ph idx="1"/>
            <p:custDataLst>
              <p:tags r:id="rId2"/>
            </p:custDataLst>
          </p:nvPr>
        </p:nvSpPr>
        <p:spPr/>
        <p:txBody>
          <a:bodyPr/>
          <a:p>
            <a:r>
              <a:rPr lang="zh-CN" altLang="en-US"/>
              <a:t>在</a:t>
            </a:r>
            <a:r>
              <a:rPr lang="en-US" altLang="zh-CN"/>
              <a:t>“</a:t>
            </a:r>
            <a:r>
              <a:rPr lang="zh-CN" altLang="en-US"/>
              <a:t>结构引导的纹理表示建模</a:t>
            </a:r>
            <a:r>
              <a:rPr lang="en-US" altLang="zh-CN"/>
              <a:t>”</a:t>
            </a:r>
            <a:r>
              <a:rPr lang="zh-CN" altLang="en-US"/>
              <a:t>小节中，使用了</a:t>
            </a:r>
            <a:r>
              <a:rPr lang="en-US" altLang="zh-CN"/>
              <a:t>Sobel</a:t>
            </a:r>
            <a:r>
              <a:rPr lang="zh-CN" altLang="en-US"/>
              <a:t>算子计算梯度。请问这里的</a:t>
            </a:r>
            <a:r>
              <a:rPr lang="en-US" altLang="zh-CN"/>
              <a:t>Sobel</a:t>
            </a:r>
            <a:r>
              <a:rPr lang="zh-CN" altLang="en-US"/>
              <a:t>算子是应用于原始输入图像，还是应用于特征图</a:t>
            </a:r>
            <a:r>
              <a:rPr lang="en-US" altLang="zh-CN"/>
              <a:t> G_t</a:t>
            </a:r>
            <a:r>
              <a:rPr lang="zh-CN" altLang="en-US"/>
              <a:t>？这一步对最终的纹理增强有何具体贡献？</a:t>
            </a:r>
            <a:endParaRPr lang="zh-CN" altLang="en-US"/>
          </a:p>
          <a:p>
            <a:r>
              <a:rPr lang="en-US" altLang="zh-CN"/>
              <a:t>“</a:t>
            </a:r>
            <a:r>
              <a:rPr lang="zh-CN" altLang="en-US"/>
              <a:t>任务感知的特征融合机制</a:t>
            </a:r>
            <a:r>
              <a:rPr lang="en-US" altLang="zh-CN"/>
              <a:t>”</a:t>
            </a:r>
            <a:r>
              <a:rPr lang="zh-CN" altLang="en-US"/>
              <a:t>包含分布校准、跨属性依赖建模和协同增强三个阶段。请简要说明</a:t>
            </a:r>
            <a:r>
              <a:rPr lang="en-US" altLang="zh-CN"/>
              <a:t>“</a:t>
            </a:r>
            <a:r>
              <a:rPr lang="zh-CN" altLang="en-US"/>
              <a:t>门控交叉属性交互机制</a:t>
            </a:r>
            <a:r>
              <a:rPr lang="en-US" altLang="zh-CN"/>
              <a:t>”</a:t>
            </a:r>
            <a:r>
              <a:rPr lang="zh-CN" altLang="en-US"/>
              <a:t>（公式</a:t>
            </a:r>
            <a:r>
              <a:rPr lang="en-US" altLang="zh-CN"/>
              <a:t>10</a:t>
            </a:r>
            <a:r>
              <a:rPr lang="zh-CN" altLang="en-US"/>
              <a:t>中的</a:t>
            </a:r>
            <a:r>
              <a:rPr lang="en-US" altLang="zh-CN"/>
              <a:t> G(.)</a:t>
            </a:r>
            <a:r>
              <a:rPr lang="zh-CN" altLang="en-US"/>
              <a:t>）是如何实现纹理和颜色信息之间的自适应信息流控制的。</a:t>
            </a:r>
            <a:endParaRPr lang="zh-CN" altLang="en-US"/>
          </a:p>
          <a:p>
            <a:r>
              <a:rPr lang="zh-CN" altLang="en-US"/>
              <a:t>损失函数仅使用了</a:t>
            </a:r>
            <a:r>
              <a:rPr lang="en-US" altLang="zh-CN"/>
              <a:t>L1</a:t>
            </a:r>
            <a:r>
              <a:rPr lang="zh-CN" altLang="en-US"/>
              <a:t>损失。论文解释了这样做的两点动机。请复述这两点考虑，并讨论如果加入感知损失（如</a:t>
            </a:r>
            <a:r>
              <a:rPr lang="en-US" altLang="zh-CN"/>
              <a:t>VGG Loss</a:t>
            </a:r>
            <a:r>
              <a:rPr lang="zh-CN" altLang="en-US"/>
              <a:t>）或对抗损失，可能会对模型性能（特别是视觉质量）和训练稳定性产生什么潜在影响？</a:t>
            </a:r>
            <a:endParaRPr lang="zh-CN"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p:nvPr>
            <p:ph idx="1"/>
            <p:custDataLst>
              <p:tags r:id="rId1"/>
            </p:custDataLst>
          </p:nvPr>
        </p:nvSpPr>
        <p:spPr>
          <a:xfrm>
            <a:off x="365125" y="370205"/>
            <a:ext cx="10800080" cy="6264275"/>
          </a:xfrm>
        </p:spPr>
        <p:txBody>
          <a:bodyPr>
            <a:normAutofit fontScale="90000"/>
          </a:bodyPr>
          <a:p>
            <a:r>
              <a:rPr lang="zh-CN" altLang="en-US"/>
              <a:t>低光图像增强中，为什么</a:t>
            </a:r>
            <a:r>
              <a:rPr lang="en-US" altLang="zh-CN"/>
              <a:t>RAW</a:t>
            </a:r>
            <a:r>
              <a:rPr lang="zh-CN" altLang="en-US"/>
              <a:t>图像相较于</a:t>
            </a:r>
            <a:r>
              <a:rPr lang="en-US" altLang="zh-CN"/>
              <a:t>sRGB</a:t>
            </a:r>
            <a:r>
              <a:rPr lang="zh-CN" altLang="en-US"/>
              <a:t>图像具有更大的优势</a:t>
            </a:r>
            <a:endParaRPr lang="zh-CN" altLang="en-US"/>
          </a:p>
          <a:p>
            <a:r>
              <a:rPr lang="en-US" altLang="zh-CN" sz="2000"/>
              <a:t>RAW</a:t>
            </a:r>
            <a:r>
              <a:rPr lang="zh-CN" altLang="en-US" sz="2000"/>
              <a:t>图像相比</a:t>
            </a:r>
            <a:r>
              <a:rPr lang="en-US" altLang="zh-CN" sz="2000"/>
              <a:t>sRGB</a:t>
            </a:r>
            <a:r>
              <a:rPr lang="zh-CN" altLang="en-US" sz="2000"/>
              <a:t>图像最大的优势在于它保留了传感器的</a:t>
            </a:r>
            <a:r>
              <a:rPr lang="zh-CN" altLang="en-US" sz="2000">
                <a:highlight>
                  <a:srgbClr val="FFFF00"/>
                </a:highlight>
              </a:rPr>
              <a:t>线性辐射响应</a:t>
            </a:r>
            <a:r>
              <a:rPr lang="zh-CN" altLang="en-US" sz="2000"/>
              <a:t>和</a:t>
            </a:r>
            <a:r>
              <a:rPr lang="zh-CN" altLang="en-US" sz="2000">
                <a:highlight>
                  <a:srgbClr val="FFFF00"/>
                </a:highlight>
              </a:rPr>
              <a:t>更高的位深</a:t>
            </a:r>
            <a:r>
              <a:rPr lang="zh-CN" altLang="en-US" sz="2000"/>
              <a:t>，使得低光环境下的细节和颜色更具可操作性。这是低光图像增强中的一个关键优势，可以更好地恢复图像的细节和纹理。</a:t>
            </a:r>
            <a:endParaRPr lang="zh-CN" altLang="en-US" sz="2000"/>
          </a:p>
          <a:p>
            <a:endParaRPr lang="zh-CN" altLang="en-US"/>
          </a:p>
          <a:p>
            <a:r>
              <a:rPr lang="zh-CN" altLang="en-US"/>
              <a:t>在深度学习方法应用于低光图像增强时，如何选择适当的网络架构来解决纹理恢复和噪声抑制问题</a:t>
            </a:r>
            <a:endParaRPr lang="zh-CN" altLang="en-US"/>
          </a:p>
          <a:p>
            <a:endParaRPr lang="zh-CN" altLang="en-US"/>
          </a:p>
          <a:p>
            <a:endParaRPr lang="zh-CN" altLang="en-US"/>
          </a:p>
          <a:p>
            <a:endParaRPr lang="zh-CN" altLang="en-US"/>
          </a:p>
          <a:p>
            <a:r>
              <a:rPr lang="en-US" altLang="zh-CN"/>
              <a:t>PSNR</a:t>
            </a:r>
            <a:r>
              <a:rPr lang="zh-CN" altLang="en-US"/>
              <a:t>用于衡量图像的像素差异，而</a:t>
            </a:r>
            <a:r>
              <a:rPr lang="en-US" altLang="zh-CN"/>
              <a:t>SSIM</a:t>
            </a:r>
            <a:r>
              <a:rPr lang="zh-CN" altLang="en-US"/>
              <a:t>更侧重于结构相似性，能更好的反应人眼</a:t>
            </a:r>
            <a:r>
              <a:rPr lang="zh-CN" altLang="en-US"/>
              <a:t>对</a:t>
            </a:r>
            <a:endParaRPr lang="zh-CN" altLang="en-US"/>
          </a:p>
          <a:p>
            <a:r>
              <a:rPr lang="zh-CN" altLang="en-US"/>
              <a:t>图像的像素</a:t>
            </a:r>
            <a:r>
              <a:rPr lang="zh-CN" altLang="en-US"/>
              <a:t>差异。</a:t>
            </a:r>
            <a:endParaRPr lang="zh-CN" altLang="en-US"/>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内容占位符 2"/>
          <p:cNvPicPr>
            <a:picLocks noChangeAspect="1"/>
          </p:cNvPicPr>
          <p:nvPr>
            <p:ph idx="1"/>
            <p:custDataLst>
              <p:tags r:id="rId1"/>
            </p:custDataLst>
          </p:nvPr>
        </p:nvPicPr>
        <p:blipFill>
          <a:blip r:embed="rId2"/>
          <a:srcRect r="24604"/>
          <a:stretch>
            <a:fillRect/>
          </a:stretch>
        </p:blipFill>
        <p:spPr>
          <a:xfrm>
            <a:off x="746125" y="2960370"/>
            <a:ext cx="8044815" cy="3837940"/>
          </a:xfrm>
          <a:prstGeom prst="rect">
            <a:avLst/>
          </a:prstGeom>
        </p:spPr>
      </p:pic>
      <p:pic>
        <p:nvPicPr>
          <p:cNvPr id="5" name="图片 4"/>
          <p:cNvPicPr>
            <a:picLocks noChangeAspect="1"/>
          </p:cNvPicPr>
          <p:nvPr/>
        </p:nvPicPr>
        <p:blipFill>
          <a:blip r:embed="rId3"/>
          <a:stretch>
            <a:fillRect/>
          </a:stretch>
        </p:blipFill>
        <p:spPr>
          <a:xfrm>
            <a:off x="7599045" y="273685"/>
            <a:ext cx="4279900" cy="4406900"/>
          </a:xfrm>
          <a:prstGeom prst="rect">
            <a:avLst/>
          </a:prstGeom>
        </p:spPr>
      </p:pic>
      <p:pic>
        <p:nvPicPr>
          <p:cNvPr id="6" name="图片 5"/>
          <p:cNvPicPr>
            <a:picLocks noChangeAspect="1"/>
          </p:cNvPicPr>
          <p:nvPr/>
        </p:nvPicPr>
        <p:blipFill>
          <a:blip r:embed="rId4"/>
          <a:stretch>
            <a:fillRect/>
          </a:stretch>
        </p:blipFill>
        <p:spPr>
          <a:xfrm>
            <a:off x="328295" y="93980"/>
            <a:ext cx="5525770" cy="3743960"/>
          </a:xfrm>
          <a:prstGeom prst="rect">
            <a:avLst/>
          </a:prstGeom>
        </p:spPr>
      </p:pic>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custDataLst>
              <p:tags r:id="rId1"/>
            </p:custDataLst>
          </p:nvPr>
        </p:nvPicPr>
        <p:blipFill>
          <a:blip r:embed="rId2"/>
          <a:stretch>
            <a:fillRect/>
          </a:stretch>
        </p:blipFill>
        <p:spPr>
          <a:xfrm>
            <a:off x="240030" y="271780"/>
            <a:ext cx="9015095" cy="4314825"/>
          </a:xfrm>
          <a:prstGeom prst="rect">
            <a:avLst/>
          </a:prstGeom>
        </p:spPr>
      </p:pic>
      <p:sp>
        <p:nvSpPr>
          <p:cNvPr id="5" name="文本框 4"/>
          <p:cNvSpPr txBox="1"/>
          <p:nvPr/>
        </p:nvSpPr>
        <p:spPr>
          <a:xfrm>
            <a:off x="4954270" y="4645660"/>
            <a:ext cx="6954520" cy="2030095"/>
          </a:xfrm>
          <a:prstGeom prst="rect">
            <a:avLst/>
          </a:prstGeom>
          <a:noFill/>
        </p:spPr>
        <p:txBody>
          <a:bodyPr wrap="square" rtlCol="0">
            <a:spAutoFit/>
          </a:bodyPr>
          <a:p>
            <a:r>
              <a:rPr lang="en-US" altLang="zh-CN"/>
              <a:t># </a:t>
            </a:r>
            <a:r>
              <a:rPr lang="zh-CN" altLang="en-US"/>
              <a:t>基于</a:t>
            </a:r>
            <a:r>
              <a:rPr lang="en-US" altLang="zh-CN"/>
              <a:t>GFM</a:t>
            </a:r>
            <a:r>
              <a:rPr lang="zh-CN" altLang="en-US"/>
              <a:t>的融合机制</a:t>
            </a:r>
            <a:endParaRPr lang="zh-CN" altLang="en-US"/>
          </a:p>
          <a:p>
            <a:r>
              <a:rPr lang="en-US" altLang="zh-CN"/>
              <a:t>x = torch.cat([x_texture, x_color], dim=1)  # </a:t>
            </a:r>
            <a:r>
              <a:rPr lang="zh-CN" altLang="en-US"/>
              <a:t>拼接</a:t>
            </a:r>
            <a:endParaRPr lang="zh-CN" altLang="en-US"/>
          </a:p>
          <a:p>
            <a:r>
              <a:rPr lang="en-US" altLang="zh-CN"/>
              <a:t>x = self.pwconv(x)  # </a:t>
            </a:r>
            <a:r>
              <a:rPr lang="zh-CN" altLang="en-US"/>
              <a:t>扩展维度</a:t>
            </a:r>
            <a:endParaRPr lang="zh-CN" altLang="en-US"/>
          </a:p>
          <a:p>
            <a:r>
              <a:rPr lang="en-US" altLang="zh-CN"/>
              <a:t>x1, x2 = self.dwconv(x).chunk(2, dim=1)  # </a:t>
            </a:r>
            <a:r>
              <a:rPr lang="zh-CN" altLang="en-US"/>
              <a:t>深度卷积后拆分</a:t>
            </a:r>
            <a:endParaRPr lang="zh-CN" altLang="en-US"/>
          </a:p>
          <a:p>
            <a:r>
              <a:rPr lang="en-US" altLang="zh-CN"/>
              <a:t>x = F.gelu(x1) * x2  # </a:t>
            </a:r>
            <a:r>
              <a:rPr lang="zh-CN" altLang="en-US"/>
              <a:t>门控交互</a:t>
            </a:r>
            <a:endParaRPr lang="zh-CN" altLang="en-US"/>
          </a:p>
          <a:p>
            <a:r>
              <a:rPr lang="en-US" altLang="zh-CN"/>
              <a:t>x = self.project_out(x)  # </a:t>
            </a:r>
            <a:r>
              <a:rPr lang="zh-CN" altLang="en-US"/>
              <a:t>降维</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2"/>
</p:tagLst>
</file>

<file path=ppt/tags/tag70.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4"/>
</p:tagLst>
</file>

<file path=ppt/tags/tag71.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1"/>
</p:tagLst>
</file>

<file path=ppt/tags/tag72.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9"/>
</p:tagLst>
</file>

<file path=ppt/tags/tag7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74.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75.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85.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6"/>
</p:tagLst>
</file>

<file path=ppt/tags/tag92.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69"/>
</p:tagLst>
</file>

<file path=ppt/tags/tag93.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9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Lst>
</file>

<file path=ppt/tags/tag9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96.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97.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101.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 name="KSO_WM_UNIT_VALUE" val="162"/>
</p:tagLst>
</file>

<file path=ppt/tags/tag102.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03.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104.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0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09.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0.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408"/>
</p:tagLst>
</file>

<file path=ppt/tags/tag116.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7.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8.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120.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24.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5.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9.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0.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1"/>
</p:tagLst>
</file>

<file path=ppt/tags/tag13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4"/>
</p:tagLst>
</file>

<file path=ppt/tags/tag132.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3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9"/>
</p:tagLst>
</file>

<file path=ppt/tags/tag134.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5.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6.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646"/>
</p:tagLst>
</file>

<file path=ppt/tags/tag137.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50"/>
  <p:tag name="KSO_WM_TEMPLATE_CATEGORY" val="custom"/>
  <p:tag name="KSO_WM_TEMPLATE_INDEX" val="20238646"/>
</p:tagLst>
</file>

<file path=ppt/tags/tag138.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1.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646"/>
  <p:tag name="KSO_WM_TEMPLATE_CATEGORY" val="custom"/>
  <p:tag name="KSO_WM_TEMPLATE_MASTER_TYPE" val="0"/>
</p:tagLst>
</file>

<file path=ppt/tags/tag142.xml><?xml version="1.0" encoding="utf-8"?>
<p:tagLst xmlns:p="http://schemas.openxmlformats.org/presentationml/2006/main">
  <p:tag name="KSO_WM_UNIT_TYPE" val="a"/>
  <p:tag name="KSO_WM_UNIT_INDEX" val="1"/>
  <p:tag name="KSO_WM_BEAUTIFY_FLAG" val="#wm#"/>
  <p:tag name="KSO_WM_TAG_VERSION" val="3.0"/>
  <p:tag name="KSO_WM_UNIT_ID" val="custom20238646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46"/>
  <p:tag name="KSO_WM_TEMPLATE_CATEGORY" val="custom"/>
  <p:tag name="KSO_WM_UNIT_ISCONTENTSTITLE" val="0"/>
  <p:tag name="KSO_WM_UNIT_VALUE" val="32"/>
  <p:tag name="KSO_WM_UNIT_PRESET_TEXT" val="单击添加文档标题"/>
  <p:tag name="KSO_WM_UNIT_TEXT_TYPE" val="1"/>
</p:tagLst>
</file>

<file path=ppt/tags/tag143.xml><?xml version="1.0" encoding="utf-8"?>
<p:tagLst xmlns:p="http://schemas.openxmlformats.org/presentationml/2006/main">
  <p:tag name="KSO_WM_UNIT_TYPE" val="b"/>
  <p:tag name="KSO_WM_UNIT_INDEX" val="1"/>
  <p:tag name="KSO_WM_BEAUTIFY_FLAG" val="#wm#"/>
  <p:tag name="KSO_WM_TAG_VERSION" val="3.0"/>
  <p:tag name="KSO_WM_UNIT_ID" val="custom20238646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46"/>
  <p:tag name="KSO_WM_TEMPLATE_CATEGORY" val="custom"/>
  <p:tag name="KSO_WM_UNIT_ISCONTENTSTITLE" val="0"/>
  <p:tag name="KSO_WM_UNIT_PRESET_TEXT" val="添加文档副标题"/>
  <p:tag name="KSO_WM_UNIT_TEXT_TYPE" val="1"/>
</p:tagLst>
</file>

<file path=ppt/tags/tag14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646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46"/>
  <p:tag name="KSO_WM_TEMPLATE_CATEGORY" val="custom"/>
  <p:tag name="KSO_WM_UNIT_TEXT_LAYER_COUNT" val="1"/>
</p:tagLst>
</file>

<file path=ppt/tags/tag145.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646"/>
  <p:tag name="KSO_WM_TEMPLATE_CATEGORY" val="custom"/>
  <p:tag name="KSO_WM_SLIDE_INDEX" val="1"/>
  <p:tag name="KSO_WM_SLIDE_ID" val="custom20238646_1"/>
  <p:tag name="KSO_WM_TEMPLATE_MASTER_TYPE" val="0"/>
  <p:tag name="KSO_WM_SLIDE_LAYOUT" val="a_b_f"/>
  <p:tag name="KSO_WM_SLIDE_LAYOUT_CNT" val="1_1_2"/>
</p:tagLst>
</file>

<file path=ppt/tags/tag14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4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48.xml><?xml version="1.0" encoding="utf-8"?>
<p:tagLst xmlns:p="http://schemas.openxmlformats.org/presentationml/2006/main">
  <p:tag name="KSO_WM_BEAUTIFY_FLAG" val="#wm#"/>
  <p:tag name="KSO_WM_TEMPLATE_CATEGORY" val="custom"/>
  <p:tag name="KSO_WM_TEMPLATE_INDEX" val="20238646"/>
</p:tagLst>
</file>

<file path=ppt/tags/tag14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51.xml><?xml version="1.0" encoding="utf-8"?>
<p:tagLst xmlns:p="http://schemas.openxmlformats.org/presentationml/2006/main">
  <p:tag name="KSO_WM_BEAUTIFY_FLAG" val="#wm#"/>
  <p:tag name="KSO_WM_TEMPLATE_CATEGORY" val="custom"/>
  <p:tag name="KSO_WM_TEMPLATE_INDEX" val="20238646"/>
</p:tagLst>
</file>

<file path=ppt/tags/tag15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3.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54.xml><?xml version="1.0" encoding="utf-8"?>
<p:tagLst xmlns:p="http://schemas.openxmlformats.org/presentationml/2006/main">
  <p:tag name="KSO_WM_BEAUTIFY_FLAG" val="#wm#"/>
  <p:tag name="KSO_WM_TEMPLATE_CATEGORY" val="custom"/>
  <p:tag name="KSO_WM_TEMPLATE_INDEX" val="20238646"/>
</p:tagLst>
</file>

<file path=ppt/tags/tag15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57.xml><?xml version="1.0" encoding="utf-8"?>
<p:tagLst xmlns:p="http://schemas.openxmlformats.org/presentationml/2006/main">
  <p:tag name="KSO_WM_BEAUTIFY_FLAG" val="#wm#"/>
  <p:tag name="KSO_WM_TEMPLATE_CATEGORY" val="custom"/>
  <p:tag name="KSO_WM_TEMPLATE_INDEX" val="20238646"/>
</p:tagLst>
</file>

<file path=ppt/tags/tag15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60.xml><?xml version="1.0" encoding="utf-8"?>
<p:tagLst xmlns:p="http://schemas.openxmlformats.org/presentationml/2006/main">
  <p:tag name="KSO_WM_BEAUTIFY_FLAG" val="#wm#"/>
  <p:tag name="KSO_WM_TEMPLATE_CATEGORY" val="custom"/>
  <p:tag name="KSO_WM_TEMPLATE_INDEX" val="20238646"/>
</p:tagLst>
</file>

<file path=ppt/tags/tag16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6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63.xml><?xml version="1.0" encoding="utf-8"?>
<p:tagLst xmlns:p="http://schemas.openxmlformats.org/presentationml/2006/main">
  <p:tag name="KSO_WM_BEAUTIFY_FLAG" val="#wm#"/>
  <p:tag name="KSO_WM_TEMPLATE_CATEGORY" val="custom"/>
  <p:tag name="KSO_WM_TEMPLATE_INDEX" val="20238646"/>
</p:tagLst>
</file>

<file path=ppt/tags/tag16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6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66.xml><?xml version="1.0" encoding="utf-8"?>
<p:tagLst xmlns:p="http://schemas.openxmlformats.org/presentationml/2006/main">
  <p:tag name="KSO_WM_BEAUTIFY_FLAG" val="#wm#"/>
  <p:tag name="KSO_WM_TEMPLATE_CATEGORY" val="custom"/>
  <p:tag name="KSO_WM_TEMPLATE_INDEX" val="20238646"/>
</p:tagLst>
</file>

<file path=ppt/tags/tag16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68.xml><?xml version="1.0" encoding="utf-8"?>
<p:tagLst xmlns:p="http://schemas.openxmlformats.org/presentationml/2006/main">
  <p:tag name="KSO_WM_BEAUTIFY_FLAG" val="#wm#"/>
  <p:tag name="KSO_WM_TEMPLATE_CATEGORY" val="custom"/>
  <p:tag name="KSO_WM_TEMPLATE_INDEX" val="20238646"/>
</p:tagLst>
</file>

<file path=ppt/tags/tag16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70.xml><?xml version="1.0" encoding="utf-8"?>
<p:tagLst xmlns:p="http://schemas.openxmlformats.org/presentationml/2006/main">
  <p:tag name="KSO_WM_BEAUTIFY_FLAG" val="#wm#"/>
  <p:tag name="KSO_WM_TEMPLATE_CATEGORY" val="custom"/>
  <p:tag name="KSO_WM_TEMPLATE_INDEX" val="20238646"/>
</p:tagLst>
</file>

<file path=ppt/tags/tag17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7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73.xml><?xml version="1.0" encoding="utf-8"?>
<p:tagLst xmlns:p="http://schemas.openxmlformats.org/presentationml/2006/main">
  <p:tag name="KSO_WM_BEAUTIFY_FLAG" val="#wm#"/>
  <p:tag name="KSO_WM_TEMPLATE_CATEGORY" val="custom"/>
  <p:tag name="KSO_WM_TEMPLATE_INDEX" val="20238646"/>
</p:tagLst>
</file>

<file path=ppt/tags/tag17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7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76.xml><?xml version="1.0" encoding="utf-8"?>
<p:tagLst xmlns:p="http://schemas.openxmlformats.org/presentationml/2006/main">
  <p:tag name="KSO_WM_BEAUTIFY_FLAG" val="#wm#"/>
  <p:tag name="KSO_WM_TEMPLATE_CATEGORY" val="custom"/>
  <p:tag name="KSO_WM_TEMPLATE_INDEX" val="20238646"/>
</p:tagLst>
</file>

<file path=ppt/tags/tag17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78.xml><?xml version="1.0" encoding="utf-8"?>
<p:tagLst xmlns:p="http://schemas.openxmlformats.org/presentationml/2006/main">
  <p:tag name="KSO_WM_BEAUTIFY_FLAG" val="#wm#"/>
  <p:tag name="KSO_WM_TEMPLATE_CATEGORY" val="custom"/>
  <p:tag name="KSO_WM_TEMPLATE_INDEX" val="20238646"/>
</p:tagLst>
</file>

<file path=ppt/tags/tag17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80.xml><?xml version="1.0" encoding="utf-8"?>
<p:tagLst xmlns:p="http://schemas.openxmlformats.org/presentationml/2006/main">
  <p:tag name="KSO_WM_BEAUTIFY_FLAG" val="#wm#"/>
  <p:tag name="KSO_WM_TEMPLATE_CATEGORY" val="custom"/>
  <p:tag name="KSO_WM_TEMPLATE_INDEX" val="20238646"/>
</p:tagLst>
</file>

<file path=ppt/tags/tag18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82.xml><?xml version="1.0" encoding="utf-8"?>
<p:tagLst xmlns:p="http://schemas.openxmlformats.org/presentationml/2006/main">
  <p:tag name="KSO_WM_BEAUTIFY_FLAG" val="#wm#"/>
  <p:tag name="KSO_WM_TEMPLATE_CATEGORY" val="custom"/>
  <p:tag name="KSO_WM_TEMPLATE_INDEX" val="20238646"/>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风渐变几何通用模板">
  <a:themeElements>
    <a:clrScheme name="自定义 4">
      <a:dk1>
        <a:srgbClr val="000000"/>
      </a:dk1>
      <a:lt1>
        <a:srgbClr val="FFFFFF"/>
      </a:lt1>
      <a:dk2>
        <a:srgbClr val="262626"/>
      </a:dk2>
      <a:lt2>
        <a:srgbClr val="F6F6F6"/>
      </a:lt2>
      <a:accent1>
        <a:srgbClr val="BC9E80"/>
      </a:accent1>
      <a:accent2>
        <a:srgbClr val="F3AE35"/>
      </a:accent2>
      <a:accent3>
        <a:srgbClr val="BDBF2F"/>
      </a:accent3>
      <a:accent4>
        <a:srgbClr val="4EBAC2"/>
      </a:accent4>
      <a:accent5>
        <a:srgbClr val="E39865"/>
      </a:accent5>
      <a:accent6>
        <a:srgbClr val="B687DA"/>
      </a:accent6>
      <a:hlink>
        <a:srgbClr val="304FFE"/>
      </a:hlink>
      <a:folHlink>
        <a:srgbClr val="492067"/>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4177</Words>
  <Application>WPS 演示</Application>
  <PresentationFormat>宽屏</PresentationFormat>
  <Paragraphs>120</Paragraphs>
  <Slides>15</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15</vt:i4>
      </vt:variant>
    </vt:vector>
  </HeadingPairs>
  <TitlesOfParts>
    <vt:vector size="25" baseType="lpstr">
      <vt:lpstr>Arial</vt:lpstr>
      <vt:lpstr>宋体</vt:lpstr>
      <vt:lpstr>Wingdings</vt:lpstr>
      <vt:lpstr>Wingdings</vt:lpstr>
      <vt:lpstr>Verdana</vt:lpstr>
      <vt:lpstr>微软雅黑</vt:lpstr>
      <vt:lpstr>Arial Unicode MS</vt:lpstr>
      <vt:lpstr>Calibri</vt:lpstr>
      <vt:lpstr>WPS</vt:lpstr>
      <vt:lpstr>简约风渐变几何通用模板</vt:lpstr>
      <vt:lpstr>深度学习-低光图像增强</vt:lpstr>
      <vt:lpstr>完成任务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丨丨c</cp:lastModifiedBy>
  <cp:revision>224</cp:revision>
  <dcterms:created xsi:type="dcterms:W3CDTF">2019-06-19T02:08:00Z</dcterms:created>
  <dcterms:modified xsi:type="dcterms:W3CDTF">2026-03-09T09:05:12Z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2A40547D2B4F45B58CEDD44D0F25320A_11</vt:lpwstr>
  </property>
</Properties>
</file>